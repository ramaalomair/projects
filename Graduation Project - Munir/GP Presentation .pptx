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</p:sldIdLst>
  <p:sldSz cx="18288000" cy="10287000"/>
  <p:notesSz cx="6858000" cy="9144000"/>
  <p:embeddedFontLst>
    <p:embeddedFont>
      <p:font typeface="Georgia Pro Italics" charset="1" panose="02040502050405090303"/>
      <p:regular r:id="rId109"/>
    </p:embeddedFont>
    <p:embeddedFont>
      <p:font typeface="Georgia Pro" charset="1" panose="02040502050405020303"/>
      <p:regular r:id="rId110"/>
    </p:embeddedFont>
    <p:embeddedFont>
      <p:font typeface="Georgia Pro Bold" charset="1" panose="02040802050405020203"/>
      <p:regular r:id="rId111"/>
    </p:embeddedFont>
    <p:embeddedFont>
      <p:font typeface="Georgia Pro Bold Italics" charset="1" panose="02040802050405090203"/>
      <p:regular r:id="rId112"/>
    </p:embeddedFont>
    <p:embeddedFont>
      <p:font typeface="Glacial Indifference" charset="1" panose="00000000000000000000"/>
      <p:regular r:id="rId113"/>
    </p:embeddedFont>
    <p:embeddedFont>
      <p:font typeface="Lora Bold" charset="1" panose="00000800000000000000"/>
      <p:regular r:id="rId114"/>
    </p:embeddedFont>
    <p:embeddedFont>
      <p:font typeface="Horizon" charset="1" panose="02000500000000000000"/>
      <p:regular r:id="rId115"/>
    </p:embeddedFont>
    <p:embeddedFont>
      <p:font typeface="Times New Roman MT Bold" charset="1" panose="02030802070405020303"/>
      <p:regular r:id="rId1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fonts/font109.fntdata" Type="http://schemas.openxmlformats.org/officeDocument/2006/relationships/font"/><Relationship Id="rId11" Target="slides/slide6.xml" Type="http://schemas.openxmlformats.org/officeDocument/2006/relationships/slide"/><Relationship Id="rId110" Target="fonts/font110.fntdata" Type="http://schemas.openxmlformats.org/officeDocument/2006/relationships/font"/><Relationship Id="rId111" Target="fonts/font111.fntdata" Type="http://schemas.openxmlformats.org/officeDocument/2006/relationships/font"/><Relationship Id="rId112" Target="fonts/font112.fntdata" Type="http://schemas.openxmlformats.org/officeDocument/2006/relationships/font"/><Relationship Id="rId113" Target="fonts/font113.fntdata" Type="http://schemas.openxmlformats.org/officeDocument/2006/relationships/font"/><Relationship Id="rId114" Target="fonts/font114.fntdata" Type="http://schemas.openxmlformats.org/officeDocument/2006/relationships/font"/><Relationship Id="rId115" Target="fonts/font115.fntdata" Type="http://schemas.openxmlformats.org/officeDocument/2006/relationships/font"/><Relationship Id="rId116" Target="fonts/font116.fntdata" Type="http://schemas.openxmlformats.org/officeDocument/2006/relationships/font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15" Target="../media/image27.png" Type="http://schemas.openxmlformats.org/officeDocument/2006/relationships/image"/><Relationship Id="rId16" Target="../media/image28.svg" Type="http://schemas.openxmlformats.org/officeDocument/2006/relationships/image"/><Relationship Id="rId17" Target="../media/image29.png" Type="http://schemas.openxmlformats.org/officeDocument/2006/relationships/image"/><Relationship Id="rId18" Target="../media/image30.png" Type="http://schemas.openxmlformats.org/officeDocument/2006/relationships/image"/><Relationship Id="rId19" Target="../media/image31.svg" Type="http://schemas.openxmlformats.org/officeDocument/2006/relationships/image"/><Relationship Id="rId2" Target="../media/image6.png" Type="http://schemas.openxmlformats.org/officeDocument/2006/relationships/image"/><Relationship Id="rId20" Target="../media/image32.png" Type="http://schemas.openxmlformats.org/officeDocument/2006/relationships/image"/><Relationship Id="rId21" Target="../media/image33.svg" Type="http://schemas.openxmlformats.org/officeDocument/2006/relationships/image"/><Relationship Id="rId22" Target="../media/image34.png" Type="http://schemas.openxmlformats.org/officeDocument/2006/relationships/image"/><Relationship Id="rId23" Target="../media/image35.png" Type="http://schemas.openxmlformats.org/officeDocument/2006/relationships/image"/><Relationship Id="rId24" Target="../media/image36.png" Type="http://schemas.openxmlformats.org/officeDocument/2006/relationships/image"/><Relationship Id="rId25" Target="../media/image37.png" Type="http://schemas.openxmlformats.org/officeDocument/2006/relationships/image"/><Relationship Id="rId26" Target="../media/image38.sv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4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jpeg" Type="http://schemas.openxmlformats.org/officeDocument/2006/relationships/image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9.pn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5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6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1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4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5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8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79.png" Type="http://schemas.openxmlformats.org/officeDocument/2006/relationships/image"/><Relationship Id="rId6" Target="../media/image80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81.png" Type="http://schemas.openxmlformats.org/officeDocument/2006/relationships/image"/><Relationship Id="rId6" Target="../media/image80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81.png" Type="http://schemas.openxmlformats.org/officeDocument/2006/relationships/image"/><Relationship Id="rId6" Target="../media/image80.png" Type="http://schemas.openxmlformats.org/officeDocument/2006/relationships/image"/><Relationship Id="rId7" Target="../media/image8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81.png" Type="http://schemas.openxmlformats.org/officeDocument/2006/relationships/image"/><Relationship Id="rId6" Target="../media/image80.png" Type="http://schemas.openxmlformats.org/officeDocument/2006/relationships/image"/><Relationship Id="rId7" Target="../media/image83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84.png" Type="http://schemas.openxmlformats.org/officeDocument/2006/relationships/image"/><Relationship Id="rId6" Target="../media/image80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85.png" Type="http://schemas.openxmlformats.org/officeDocument/2006/relationships/image"/><Relationship Id="rId6" Target="../media/image80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86.png" Type="http://schemas.openxmlformats.org/officeDocument/2006/relationships/image"/><Relationship Id="rId6" Target="../media/image87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85.png" Type="http://schemas.openxmlformats.org/officeDocument/2006/relationships/image"/><Relationship Id="rId6" Target="../media/image88.png" Type="http://schemas.openxmlformats.org/officeDocument/2006/relationships/image"/><Relationship Id="rId7" Target="../media/image89.jpeg" Type="http://schemas.openxmlformats.org/officeDocument/2006/relationships/image"/><Relationship Id="rId8" Target="../media/image9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1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2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3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4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3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81.png" Type="http://schemas.openxmlformats.org/officeDocument/2006/relationships/image"/><Relationship Id="rId6" Target="../media/image80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5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6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7.jpe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00.png" Type="http://schemas.openxmlformats.org/officeDocument/2006/relationships/image"/><Relationship Id="rId6" Target="../media/image101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svg" Type="http://schemas.openxmlformats.org/officeDocument/2006/relationships/image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02.png" Type="http://schemas.openxmlformats.org/officeDocument/2006/relationships/image"/><Relationship Id="rId6" Target="../media/image103.svg" Type="http://schemas.openxmlformats.org/officeDocument/2006/relationships/image"/><Relationship Id="rId7" Target="../media/image104.png" Type="http://schemas.openxmlformats.org/officeDocument/2006/relationships/image"/><Relationship Id="rId8" Target="../media/image105.svg" Type="http://schemas.openxmlformats.org/officeDocument/2006/relationships/image"/><Relationship Id="rId9" Target="../media/image106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08.png" Type="http://schemas.openxmlformats.org/officeDocument/2006/relationships/image"/><Relationship Id="rId6" Target="../media/image109.png" Type="http://schemas.openxmlformats.org/officeDocument/2006/relationships/image"/><Relationship Id="rId7" Target="../media/image110.sv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11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12.png" Type="http://schemas.openxmlformats.org/officeDocument/2006/relationships/image"/><Relationship Id="rId6" Target="../media/image113.svg" Type="http://schemas.openxmlformats.org/officeDocument/2006/relationships/image"/><Relationship Id="rId7" Target="../media/image114.png" Type="http://schemas.openxmlformats.org/officeDocument/2006/relationships/image"/><Relationship Id="rId8" Target="../media/image115.png" Type="http://schemas.openxmlformats.org/officeDocument/2006/relationships/image"/><Relationship Id="rId9" Target="../media/image116.sv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17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18.pn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19.pn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5.svg" Type="http://schemas.openxmlformats.org/officeDocument/2006/relationships/image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20.png" Type="http://schemas.openxmlformats.org/officeDocument/2006/relationships/image"/><Relationship Id="rId6" Target="../media/image121.svg" Type="http://schemas.openxmlformats.org/officeDocument/2006/relationships/image"/><Relationship Id="rId7" Target="../media/image122.png" Type="http://schemas.openxmlformats.org/officeDocument/2006/relationships/image"/><Relationship Id="rId8" Target="../media/image123.svg" Type="http://schemas.openxmlformats.org/officeDocument/2006/relationships/image"/><Relationship Id="rId9" Target="../media/image124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26.png" Type="http://schemas.openxmlformats.org/officeDocument/2006/relationships/image"/><Relationship Id="rId6" Target="../media/image127.pn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28.png" Type="http://schemas.openxmlformats.org/officeDocument/2006/relationships/image"/><Relationship Id="rId6" Target="../media/image129.pn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30.png" Type="http://schemas.openxmlformats.org/officeDocument/2006/relationships/image"/><Relationship Id="rId6" Target="../media/image131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32.png" Type="http://schemas.openxmlformats.org/officeDocument/2006/relationships/image"/><Relationship Id="rId6" Target="../media/image133.pn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34.png" Type="http://schemas.openxmlformats.org/officeDocument/2006/relationships/image"/><Relationship Id="rId6" Target="../media/image135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36.png" Type="http://schemas.openxmlformats.org/officeDocument/2006/relationships/image"/><Relationship Id="rId6" Target="../media/image137.pn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38.png" Type="http://schemas.openxmlformats.org/officeDocument/2006/relationships/image"/><Relationship Id="rId6" Target="../media/image139.pn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40.png" Type="http://schemas.openxmlformats.org/officeDocument/2006/relationships/image"/><Relationship Id="rId6" Target="../media/image141.pn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42.png" Type="http://schemas.openxmlformats.org/officeDocument/2006/relationships/image"/><Relationship Id="rId6" Target="../media/image143.pn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44.png" Type="http://schemas.openxmlformats.org/officeDocument/2006/relationships/image"/><Relationship Id="rId6" Target="../media/image145.pn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46.png" Type="http://schemas.openxmlformats.org/officeDocument/2006/relationships/image"/><Relationship Id="rId6" Target="../media/image147.pn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48.png" Type="http://schemas.openxmlformats.org/officeDocument/2006/relationships/image"/><Relationship Id="rId6" Target="../media/image149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0.png" Type="http://schemas.openxmlformats.org/officeDocument/2006/relationships/image"/><Relationship Id="rId6" Target="../media/image151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7.svg" Type="http://schemas.openxmlformats.org/officeDocument/2006/relationships/image"/><Relationship Id="rId11" Target="../media/image158.png" Type="http://schemas.openxmlformats.org/officeDocument/2006/relationships/image"/><Relationship Id="rId12" Target="../media/image159.svg" Type="http://schemas.openxmlformats.org/officeDocument/2006/relationships/image"/><Relationship Id="rId13" Target="../media/image160.png" Type="http://schemas.openxmlformats.org/officeDocument/2006/relationships/image"/><Relationship Id="rId14" Target="../media/image161.png" Type="http://schemas.openxmlformats.org/officeDocument/2006/relationships/image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2.png" Type="http://schemas.openxmlformats.org/officeDocument/2006/relationships/image"/><Relationship Id="rId6" Target="../media/image153.svg" Type="http://schemas.openxmlformats.org/officeDocument/2006/relationships/image"/><Relationship Id="rId7" Target="../media/image154.png" Type="http://schemas.openxmlformats.org/officeDocument/2006/relationships/image"/><Relationship Id="rId8" Target="../media/image155.svg" Type="http://schemas.openxmlformats.org/officeDocument/2006/relationships/image"/><Relationship Id="rId9" Target="../media/image156.pn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2.jpe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3.png" Type="http://schemas.openxmlformats.org/officeDocument/2006/relationships/image"/><Relationship Id="rId6" Target="../media/image164.pn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5.jpeg" Type="http://schemas.openxmlformats.org/officeDocument/2006/relationships/image"/><Relationship Id="rId6" Target="../media/image166.pn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7.png" Type="http://schemas.openxmlformats.org/officeDocument/2006/relationships/image"/><Relationship Id="rId3" Target="../media/image168.sv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4.svg" Type="http://schemas.openxmlformats.org/officeDocument/2006/relationships/image"/><Relationship Id="rId11" Target="../media/image175.png" Type="http://schemas.openxmlformats.org/officeDocument/2006/relationships/image"/><Relationship Id="rId12" Target="../media/image176.svg" Type="http://schemas.openxmlformats.org/officeDocument/2006/relationships/image"/><Relationship Id="rId13" Target="../media/image177.png" Type="http://schemas.openxmlformats.org/officeDocument/2006/relationships/image"/><Relationship Id="rId14" Target="../media/image178.svg" Type="http://schemas.openxmlformats.org/officeDocument/2006/relationships/image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9.png" Type="http://schemas.openxmlformats.org/officeDocument/2006/relationships/image"/><Relationship Id="rId6" Target="../media/image170.svg" Type="http://schemas.openxmlformats.org/officeDocument/2006/relationships/image"/><Relationship Id="rId7" Target="../media/image171.png" Type="http://schemas.openxmlformats.org/officeDocument/2006/relationships/image"/><Relationship Id="rId8" Target="../media/image172.svg" Type="http://schemas.openxmlformats.org/officeDocument/2006/relationships/image"/><Relationship Id="rId9" Target="../media/image173.pn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4.svg" Type="http://schemas.openxmlformats.org/officeDocument/2006/relationships/image"/><Relationship Id="rId11" Target="../media/image185.png" Type="http://schemas.openxmlformats.org/officeDocument/2006/relationships/image"/><Relationship Id="rId12" Target="../media/image186.svg" Type="http://schemas.openxmlformats.org/officeDocument/2006/relationships/image"/><Relationship Id="rId13" Target="../media/image187.png" Type="http://schemas.openxmlformats.org/officeDocument/2006/relationships/image"/><Relationship Id="rId14" Target="../media/image188.svg" Type="http://schemas.openxmlformats.org/officeDocument/2006/relationships/image"/><Relationship Id="rId15" Target="../media/image189.png" Type="http://schemas.openxmlformats.org/officeDocument/2006/relationships/image"/><Relationship Id="rId16" Target="../media/image190.svg" Type="http://schemas.openxmlformats.org/officeDocument/2006/relationships/image"/><Relationship Id="rId17" Target="../media/image191.png" Type="http://schemas.openxmlformats.org/officeDocument/2006/relationships/image"/><Relationship Id="rId18" Target="../media/image192.svg" Type="http://schemas.openxmlformats.org/officeDocument/2006/relationships/image"/><Relationship Id="rId19" Target="../media/image193.png" Type="http://schemas.openxmlformats.org/officeDocument/2006/relationships/image"/><Relationship Id="rId2" Target="../media/image6.png" Type="http://schemas.openxmlformats.org/officeDocument/2006/relationships/image"/><Relationship Id="rId20" Target="../media/image194.sv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79.png" Type="http://schemas.openxmlformats.org/officeDocument/2006/relationships/image"/><Relationship Id="rId6" Target="../media/image180.svg" Type="http://schemas.openxmlformats.org/officeDocument/2006/relationships/image"/><Relationship Id="rId7" Target="../media/image181.png" Type="http://schemas.openxmlformats.org/officeDocument/2006/relationships/image"/><Relationship Id="rId8" Target="../media/image182.svg" Type="http://schemas.openxmlformats.org/officeDocument/2006/relationships/image"/><Relationship Id="rId9" Target="../media/image183.pn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95.png" Type="http://schemas.openxmlformats.org/officeDocument/2006/relationships/image"/><Relationship Id="rId6" Target="../media/image196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2.svg" Type="http://schemas.openxmlformats.org/officeDocument/2006/relationships/image"/><Relationship Id="rId11" Target="../media/image203.png" Type="http://schemas.openxmlformats.org/officeDocument/2006/relationships/image"/><Relationship Id="rId12" Target="../media/image204.svg" Type="http://schemas.openxmlformats.org/officeDocument/2006/relationships/image"/><Relationship Id="rId13" Target="../media/image205.png" Type="http://schemas.openxmlformats.org/officeDocument/2006/relationships/image"/><Relationship Id="rId14" Target="../media/image206.svg" Type="http://schemas.openxmlformats.org/officeDocument/2006/relationships/image"/><Relationship Id="rId15" Target="../media/image207.png" Type="http://schemas.openxmlformats.org/officeDocument/2006/relationships/image"/><Relationship Id="rId16" Target="../media/image208.svg" Type="http://schemas.openxmlformats.org/officeDocument/2006/relationships/image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97.png" Type="http://schemas.openxmlformats.org/officeDocument/2006/relationships/image"/><Relationship Id="rId6" Target="../media/image198.svg" Type="http://schemas.openxmlformats.org/officeDocument/2006/relationships/image"/><Relationship Id="rId7" Target="../media/image199.png" Type="http://schemas.openxmlformats.org/officeDocument/2006/relationships/image"/><Relationship Id="rId8" Target="../media/image200.svg" Type="http://schemas.openxmlformats.org/officeDocument/2006/relationships/image"/><Relationship Id="rId9" Target="../media/image201.pn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09.png" Type="http://schemas.openxmlformats.org/officeDocument/2006/relationships/image"/><Relationship Id="rId6" Target="../media/image199.png" Type="http://schemas.openxmlformats.org/officeDocument/2006/relationships/image"/><Relationship Id="rId7" Target="../media/image200.svg" Type="http://schemas.openxmlformats.org/officeDocument/2006/relationships/image"/><Relationship Id="rId8" Target="../media/image210.png" Type="http://schemas.openxmlformats.org/officeDocument/2006/relationships/image"/><Relationship Id="rId9" Target="../media/image211.pn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12.pn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13.png" Type="http://schemas.openxmlformats.org/officeDocument/2006/relationships/image"/><Relationship Id="rId6" Target="../embeddings/oleObject3.bin" Type="http://schemas.openxmlformats.org/officeDocument/2006/relationships/oleObject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14.png" Type="http://schemas.openxmlformats.org/officeDocument/2006/relationships/image"/><Relationship Id="rId6" Target="../media/image215.png" Type="http://schemas.openxmlformats.org/officeDocument/2006/relationships/image"/><Relationship Id="rId7" Target="../media/image216.png" Type="http://schemas.openxmlformats.org/officeDocument/2006/relationships/image"/><Relationship Id="rId8" Target="../media/image217.pn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8.svg" Type="http://schemas.openxmlformats.org/officeDocument/2006/relationships/image"/><Relationship Id="rId11" Target="../media/image218.png" Type="http://schemas.openxmlformats.org/officeDocument/2006/relationships/image"/><Relationship Id="rId12" Target="../media/image219.svg" Type="http://schemas.openxmlformats.org/officeDocument/2006/relationships/image"/><Relationship Id="rId13" Target="../media/image199.png" Type="http://schemas.openxmlformats.org/officeDocument/2006/relationships/image"/><Relationship Id="rId14" Target="../media/image200.svg" Type="http://schemas.openxmlformats.org/officeDocument/2006/relationships/image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97.png" Type="http://schemas.openxmlformats.org/officeDocument/2006/relationships/image"/><Relationship Id="rId6" Target="../media/image198.svg" Type="http://schemas.openxmlformats.org/officeDocument/2006/relationships/image"/><Relationship Id="rId7" Target="../media/image205.png" Type="http://schemas.openxmlformats.org/officeDocument/2006/relationships/image"/><Relationship Id="rId8" Target="../media/image206.svg" Type="http://schemas.openxmlformats.org/officeDocument/2006/relationships/image"/><Relationship Id="rId9" Target="../media/image207.pn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5.svg" Type="http://schemas.openxmlformats.org/officeDocument/2006/relationships/image"/><Relationship Id="rId11" Target="../media/image226.png" Type="http://schemas.openxmlformats.org/officeDocument/2006/relationships/image"/><Relationship Id="rId12" Target="../media/image227.svg" Type="http://schemas.openxmlformats.org/officeDocument/2006/relationships/image"/><Relationship Id="rId13" Target="../media/image199.png" Type="http://schemas.openxmlformats.org/officeDocument/2006/relationships/image"/><Relationship Id="rId14" Target="../media/image200.svg" Type="http://schemas.openxmlformats.org/officeDocument/2006/relationships/image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20.png" Type="http://schemas.openxmlformats.org/officeDocument/2006/relationships/image"/><Relationship Id="rId6" Target="../media/image221.svg" Type="http://schemas.openxmlformats.org/officeDocument/2006/relationships/image"/><Relationship Id="rId7" Target="../media/image222.png" Type="http://schemas.openxmlformats.org/officeDocument/2006/relationships/image"/><Relationship Id="rId8" Target="../media/image223.svg" Type="http://schemas.openxmlformats.org/officeDocument/2006/relationships/image"/><Relationship Id="rId9" Target="../media/image224.pn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28.png" Type="http://schemas.openxmlformats.org/officeDocument/2006/relationships/image"/><Relationship Id="rId6" Target="../embeddings/oleObject4.bin" Type="http://schemas.openxmlformats.org/officeDocument/2006/relationships/oleObject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29.png" Type="http://schemas.openxmlformats.org/officeDocument/2006/relationships/image"/><Relationship Id="rId6" Target="../media/image230.png" Type="http://schemas.openxmlformats.org/officeDocument/2006/relationships/image"/><Relationship Id="rId7" Target="../embeddings/oleObject5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75762" y="-127757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140458" y="5944814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09"/>
                </a:lnTo>
                <a:lnTo>
                  <a:pt x="4478210" y="4478209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5922" y="280473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35267" y="1780639"/>
            <a:ext cx="4987164" cy="154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507"/>
              </a:lnSpc>
            </a:pPr>
            <a:r>
              <a:rPr lang="en-US" sz="11507" i="true">
                <a:solidFill>
                  <a:srgbClr val="681D6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Munir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59952" y="3263563"/>
            <a:ext cx="10368096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681D60"/>
                </a:solidFill>
                <a:latin typeface="Georgia Pro"/>
                <a:ea typeface="Georgia Pro"/>
                <a:cs typeface="Georgia Pro"/>
                <a:sym typeface="Georgia Pro"/>
              </a:rPr>
              <a:t>Navigate the world with confidence</a:t>
            </a:r>
          </a:p>
          <a:p>
            <a:pPr algn="ctr" marL="0" indent="0" lvl="0">
              <a:lnSpc>
                <a:spcPts val="44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959952" y="5038725"/>
            <a:ext cx="9737793" cy="256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2"/>
              </a:lnSpc>
            </a:pPr>
            <a:r>
              <a:rPr lang="en-US" sz="2619" b="true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Presented by</a:t>
            </a:r>
          </a:p>
          <a:p>
            <a:pPr algn="ctr">
              <a:lnSpc>
                <a:spcPts val="4112"/>
              </a:lnSpc>
            </a:pPr>
            <a:r>
              <a:rPr lang="en-US" sz="2619">
                <a:solidFill>
                  <a:srgbClr val="8A408A"/>
                </a:solidFill>
                <a:latin typeface="Georgia Pro"/>
                <a:ea typeface="Georgia Pro"/>
                <a:cs typeface="Georgia Pro"/>
                <a:sym typeface="Georgia Pro"/>
              </a:rPr>
              <a:t>Rama Khalid Alomair</a:t>
            </a:r>
          </a:p>
          <a:p>
            <a:pPr algn="ctr">
              <a:lnSpc>
                <a:spcPts val="4112"/>
              </a:lnSpc>
            </a:pPr>
            <a:r>
              <a:rPr lang="en-US" sz="2619">
                <a:solidFill>
                  <a:srgbClr val="8A408A"/>
                </a:solidFill>
                <a:latin typeface="Georgia Pro"/>
                <a:ea typeface="Georgia Pro"/>
                <a:cs typeface="Georgia Pro"/>
                <a:sym typeface="Georgia Pro"/>
              </a:rPr>
              <a:t>Fajer Mohammed Alamro</a:t>
            </a:r>
          </a:p>
          <a:p>
            <a:pPr algn="ctr">
              <a:lnSpc>
                <a:spcPts val="4112"/>
              </a:lnSpc>
            </a:pPr>
            <a:r>
              <a:rPr lang="en-US" sz="2619">
                <a:solidFill>
                  <a:srgbClr val="8A408A"/>
                </a:solidFill>
                <a:latin typeface="Georgia Pro"/>
                <a:ea typeface="Georgia Pro"/>
                <a:cs typeface="Georgia Pro"/>
                <a:sym typeface="Georgia Pro"/>
              </a:rPr>
              <a:t>Mashael Khaled Alammar </a:t>
            </a:r>
          </a:p>
          <a:p>
            <a:pPr algn="ctr">
              <a:lnSpc>
                <a:spcPts val="4112"/>
              </a:lnSpc>
            </a:pPr>
            <a:r>
              <a:rPr lang="en-US" sz="2619">
                <a:solidFill>
                  <a:srgbClr val="8A408A"/>
                </a:solidFill>
                <a:latin typeface="Georgia Pro"/>
                <a:ea typeface="Georgia Pro"/>
                <a:cs typeface="Georgia Pro"/>
                <a:sym typeface="Georgia Pro"/>
              </a:rPr>
              <a:t>Aljawharah Ahmed Alsubaie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77567" y="8355004"/>
            <a:ext cx="4537926" cy="83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411" b="true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Supervised by </a:t>
            </a:r>
          </a:p>
          <a:p>
            <a:pPr algn="ctr">
              <a:lnSpc>
                <a:spcPts val="3375"/>
              </a:lnSpc>
            </a:pPr>
            <a:r>
              <a:rPr lang="en-US" sz="2411">
                <a:solidFill>
                  <a:srgbClr val="8A408A"/>
                </a:solidFill>
                <a:latin typeface="Georgia Pro"/>
                <a:ea typeface="Georgia Pro"/>
                <a:cs typeface="Georgia Pro"/>
                <a:sym typeface="Georgia Pro"/>
              </a:rPr>
              <a:t>Dr.Nora Abdulaziz Alhammad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35044" y="992856"/>
            <a:ext cx="12715243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Out</a:t>
            </a:r>
            <a:r>
              <a:rPr lang="en-US" b="true" sz="72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line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786379" y="3029301"/>
            <a:ext cx="842787" cy="84278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A3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786379" y="4157838"/>
            <a:ext cx="842787" cy="8427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9578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786379" y="5286375"/>
            <a:ext cx="842787" cy="84278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A3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86379" y="6414912"/>
            <a:ext cx="842787" cy="84278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9578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19015" y="3041120"/>
            <a:ext cx="842787" cy="84278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A3D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19015" y="4157838"/>
            <a:ext cx="842787" cy="84278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9578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06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19015" y="5352273"/>
            <a:ext cx="842787" cy="84278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A3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07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837582" y="3155420"/>
            <a:ext cx="495508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Introduction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52374" y="4318493"/>
            <a:ext cx="5960720" cy="42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5"/>
              </a:lnSpc>
              <a:spcBef>
                <a:spcPct val="0"/>
              </a:spcBef>
            </a:pPr>
            <a:r>
              <a:rPr lang="en-US" b="true" sz="2439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Background &amp; Literature Review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37582" y="5407906"/>
            <a:ext cx="495508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System Requirements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70218" y="3171171"/>
            <a:ext cx="495508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Design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71352" y="4281663"/>
            <a:ext cx="495621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Testing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5375922" y="325950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432874" y="-63059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13182632" y="5181632"/>
            <a:ext cx="5105368" cy="5105368"/>
          </a:xfrm>
          <a:custGeom>
            <a:avLst/>
            <a:gdLst/>
            <a:ahLst/>
            <a:cxnLst/>
            <a:rect r="r" b="b" t="t" l="l"/>
            <a:pathLst>
              <a:path h="5105368" w="5105368">
                <a:moveTo>
                  <a:pt x="5105368" y="0"/>
                </a:moveTo>
                <a:lnTo>
                  <a:pt x="0" y="0"/>
                </a:lnTo>
                <a:lnTo>
                  <a:pt x="0" y="5105368"/>
                </a:lnTo>
                <a:lnTo>
                  <a:pt x="5105368" y="5105368"/>
                </a:lnTo>
                <a:lnTo>
                  <a:pt x="51053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837582" y="6527412"/>
            <a:ext cx="495508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Product Backlog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71352" y="5509189"/>
            <a:ext cx="551812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Conclusion &amp; Future Work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819015" y="6594087"/>
            <a:ext cx="842787" cy="842787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9578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08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870218" y="6736715"/>
            <a:ext cx="551812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Achievements &amp; Recognition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1299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031234" y="5808790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5922" y="280473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88547" y="4311075"/>
            <a:ext cx="13253796" cy="134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99"/>
              </a:lnSpc>
            </a:pPr>
            <a:r>
              <a:rPr lang="en-US" b="true" sz="10099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45250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Problem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56425" y="4350250"/>
            <a:ext cx="4021201" cy="4184371"/>
            <a:chOff x="0" y="0"/>
            <a:chExt cx="974835" cy="10143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4835" cy="1014391"/>
            </a:xfrm>
            <a:custGeom>
              <a:avLst/>
              <a:gdLst/>
              <a:ahLst/>
              <a:cxnLst/>
              <a:rect r="r" b="b" t="t" l="l"/>
              <a:pathLst>
                <a:path h="1014391" w="974835">
                  <a:moveTo>
                    <a:pt x="38506" y="0"/>
                  </a:moveTo>
                  <a:lnTo>
                    <a:pt x="936329" y="0"/>
                  </a:lnTo>
                  <a:cubicBezTo>
                    <a:pt x="957595" y="0"/>
                    <a:pt x="974835" y="17240"/>
                    <a:pt x="974835" y="38506"/>
                  </a:cubicBezTo>
                  <a:lnTo>
                    <a:pt x="974835" y="975885"/>
                  </a:lnTo>
                  <a:cubicBezTo>
                    <a:pt x="974835" y="986098"/>
                    <a:pt x="970778" y="995892"/>
                    <a:pt x="963557" y="1003113"/>
                  </a:cubicBezTo>
                  <a:cubicBezTo>
                    <a:pt x="956336" y="1010334"/>
                    <a:pt x="946542" y="1014391"/>
                    <a:pt x="936329" y="1014391"/>
                  </a:cubicBezTo>
                  <a:lnTo>
                    <a:pt x="38506" y="1014391"/>
                  </a:lnTo>
                  <a:cubicBezTo>
                    <a:pt x="28293" y="1014391"/>
                    <a:pt x="18499" y="1010334"/>
                    <a:pt x="11278" y="1003113"/>
                  </a:cubicBezTo>
                  <a:cubicBezTo>
                    <a:pt x="4057" y="995892"/>
                    <a:pt x="0" y="986098"/>
                    <a:pt x="0" y="975885"/>
                  </a:cubicBezTo>
                  <a:lnTo>
                    <a:pt x="0" y="38506"/>
                  </a:lnTo>
                  <a:cubicBezTo>
                    <a:pt x="0" y="28293"/>
                    <a:pt x="4057" y="18499"/>
                    <a:pt x="11278" y="11278"/>
                  </a:cubicBezTo>
                  <a:cubicBezTo>
                    <a:pt x="18499" y="4057"/>
                    <a:pt x="28293" y="0"/>
                    <a:pt x="38506" y="0"/>
                  </a:cubicBezTo>
                  <a:close/>
                </a:path>
              </a:pathLst>
            </a:custGeom>
            <a:solidFill>
              <a:srgbClr val="621F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74835" cy="1052491"/>
            </a:xfrm>
            <a:prstGeom prst="rect">
              <a:avLst/>
            </a:prstGeom>
          </p:spPr>
          <p:txBody>
            <a:bodyPr anchor="ctr" rtlCol="false" tIns="61383" lIns="61383" bIns="61383" rIns="6138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06251" y="4350250"/>
            <a:ext cx="4021201" cy="4184371"/>
            <a:chOff x="0" y="0"/>
            <a:chExt cx="974835" cy="10143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4835" cy="1014391"/>
            </a:xfrm>
            <a:custGeom>
              <a:avLst/>
              <a:gdLst/>
              <a:ahLst/>
              <a:cxnLst/>
              <a:rect r="r" b="b" t="t" l="l"/>
              <a:pathLst>
                <a:path h="1014391" w="974835">
                  <a:moveTo>
                    <a:pt x="38506" y="0"/>
                  </a:moveTo>
                  <a:lnTo>
                    <a:pt x="936329" y="0"/>
                  </a:lnTo>
                  <a:cubicBezTo>
                    <a:pt x="957595" y="0"/>
                    <a:pt x="974835" y="17240"/>
                    <a:pt x="974835" y="38506"/>
                  </a:cubicBezTo>
                  <a:lnTo>
                    <a:pt x="974835" y="975885"/>
                  </a:lnTo>
                  <a:cubicBezTo>
                    <a:pt x="974835" y="986098"/>
                    <a:pt x="970778" y="995892"/>
                    <a:pt x="963557" y="1003113"/>
                  </a:cubicBezTo>
                  <a:cubicBezTo>
                    <a:pt x="956336" y="1010334"/>
                    <a:pt x="946542" y="1014391"/>
                    <a:pt x="936329" y="1014391"/>
                  </a:cubicBezTo>
                  <a:lnTo>
                    <a:pt x="38506" y="1014391"/>
                  </a:lnTo>
                  <a:cubicBezTo>
                    <a:pt x="28293" y="1014391"/>
                    <a:pt x="18499" y="1010334"/>
                    <a:pt x="11278" y="1003113"/>
                  </a:cubicBezTo>
                  <a:cubicBezTo>
                    <a:pt x="4057" y="995892"/>
                    <a:pt x="0" y="986098"/>
                    <a:pt x="0" y="975885"/>
                  </a:cubicBezTo>
                  <a:lnTo>
                    <a:pt x="0" y="38506"/>
                  </a:lnTo>
                  <a:cubicBezTo>
                    <a:pt x="0" y="28293"/>
                    <a:pt x="4057" y="18499"/>
                    <a:pt x="11278" y="11278"/>
                  </a:cubicBezTo>
                  <a:cubicBezTo>
                    <a:pt x="18499" y="4057"/>
                    <a:pt x="28293" y="0"/>
                    <a:pt x="38506" y="0"/>
                  </a:cubicBezTo>
                  <a:close/>
                </a:path>
              </a:pathLst>
            </a:custGeom>
            <a:solidFill>
              <a:srgbClr val="99578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74835" cy="1052491"/>
            </a:xfrm>
            <a:prstGeom prst="rect">
              <a:avLst/>
            </a:prstGeom>
          </p:spPr>
          <p:txBody>
            <a:bodyPr anchor="ctr" rtlCol="false" tIns="61383" lIns="61383" bIns="61383" rIns="6138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46552" y="4350250"/>
            <a:ext cx="4021201" cy="4184371"/>
            <a:chOff x="0" y="0"/>
            <a:chExt cx="974835" cy="10143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4835" cy="1014391"/>
            </a:xfrm>
            <a:custGeom>
              <a:avLst/>
              <a:gdLst/>
              <a:ahLst/>
              <a:cxnLst/>
              <a:rect r="r" b="b" t="t" l="l"/>
              <a:pathLst>
                <a:path h="1014391" w="974835">
                  <a:moveTo>
                    <a:pt x="38506" y="0"/>
                  </a:moveTo>
                  <a:lnTo>
                    <a:pt x="936329" y="0"/>
                  </a:lnTo>
                  <a:cubicBezTo>
                    <a:pt x="957595" y="0"/>
                    <a:pt x="974835" y="17240"/>
                    <a:pt x="974835" y="38506"/>
                  </a:cubicBezTo>
                  <a:lnTo>
                    <a:pt x="974835" y="975885"/>
                  </a:lnTo>
                  <a:cubicBezTo>
                    <a:pt x="974835" y="986098"/>
                    <a:pt x="970778" y="995892"/>
                    <a:pt x="963557" y="1003113"/>
                  </a:cubicBezTo>
                  <a:cubicBezTo>
                    <a:pt x="956336" y="1010334"/>
                    <a:pt x="946542" y="1014391"/>
                    <a:pt x="936329" y="1014391"/>
                  </a:cubicBezTo>
                  <a:lnTo>
                    <a:pt x="38506" y="1014391"/>
                  </a:lnTo>
                  <a:cubicBezTo>
                    <a:pt x="28293" y="1014391"/>
                    <a:pt x="18499" y="1010334"/>
                    <a:pt x="11278" y="1003113"/>
                  </a:cubicBezTo>
                  <a:cubicBezTo>
                    <a:pt x="4057" y="995892"/>
                    <a:pt x="0" y="986098"/>
                    <a:pt x="0" y="975885"/>
                  </a:cubicBezTo>
                  <a:lnTo>
                    <a:pt x="0" y="38506"/>
                  </a:lnTo>
                  <a:cubicBezTo>
                    <a:pt x="0" y="28293"/>
                    <a:pt x="4057" y="18499"/>
                    <a:pt x="11278" y="11278"/>
                  </a:cubicBezTo>
                  <a:cubicBezTo>
                    <a:pt x="18499" y="4057"/>
                    <a:pt x="28293" y="0"/>
                    <a:pt x="38506" y="0"/>
                  </a:cubicBezTo>
                  <a:close/>
                </a:path>
              </a:pathLst>
            </a:custGeom>
            <a:solidFill>
              <a:srgbClr val="621F5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74835" cy="1052491"/>
            </a:xfrm>
            <a:prstGeom prst="rect">
              <a:avLst/>
            </a:prstGeom>
          </p:spPr>
          <p:txBody>
            <a:bodyPr anchor="ctr" rtlCol="false" tIns="61383" lIns="61383" bIns="61383" rIns="6138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19990" y="4395206"/>
            <a:ext cx="4021201" cy="4184371"/>
            <a:chOff x="0" y="0"/>
            <a:chExt cx="974835" cy="10143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4835" cy="1014391"/>
            </a:xfrm>
            <a:custGeom>
              <a:avLst/>
              <a:gdLst/>
              <a:ahLst/>
              <a:cxnLst/>
              <a:rect r="r" b="b" t="t" l="l"/>
              <a:pathLst>
                <a:path h="1014391" w="974835">
                  <a:moveTo>
                    <a:pt x="38506" y="0"/>
                  </a:moveTo>
                  <a:lnTo>
                    <a:pt x="936329" y="0"/>
                  </a:lnTo>
                  <a:cubicBezTo>
                    <a:pt x="957595" y="0"/>
                    <a:pt x="974835" y="17240"/>
                    <a:pt x="974835" y="38506"/>
                  </a:cubicBezTo>
                  <a:lnTo>
                    <a:pt x="974835" y="975885"/>
                  </a:lnTo>
                  <a:cubicBezTo>
                    <a:pt x="974835" y="986098"/>
                    <a:pt x="970778" y="995892"/>
                    <a:pt x="963557" y="1003113"/>
                  </a:cubicBezTo>
                  <a:cubicBezTo>
                    <a:pt x="956336" y="1010334"/>
                    <a:pt x="946542" y="1014391"/>
                    <a:pt x="936329" y="1014391"/>
                  </a:cubicBezTo>
                  <a:lnTo>
                    <a:pt x="38506" y="1014391"/>
                  </a:lnTo>
                  <a:cubicBezTo>
                    <a:pt x="28293" y="1014391"/>
                    <a:pt x="18499" y="1010334"/>
                    <a:pt x="11278" y="1003113"/>
                  </a:cubicBezTo>
                  <a:cubicBezTo>
                    <a:pt x="4057" y="995892"/>
                    <a:pt x="0" y="986098"/>
                    <a:pt x="0" y="975885"/>
                  </a:cubicBezTo>
                  <a:lnTo>
                    <a:pt x="0" y="38506"/>
                  </a:lnTo>
                  <a:cubicBezTo>
                    <a:pt x="0" y="28293"/>
                    <a:pt x="4057" y="18499"/>
                    <a:pt x="11278" y="11278"/>
                  </a:cubicBezTo>
                  <a:cubicBezTo>
                    <a:pt x="18499" y="4057"/>
                    <a:pt x="28293" y="0"/>
                    <a:pt x="38506" y="0"/>
                  </a:cubicBezTo>
                  <a:close/>
                </a:path>
              </a:pathLst>
            </a:custGeom>
            <a:solidFill>
              <a:srgbClr val="99578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74835" cy="1052491"/>
            </a:xfrm>
            <a:prstGeom prst="rect">
              <a:avLst/>
            </a:prstGeom>
          </p:spPr>
          <p:txBody>
            <a:bodyPr anchor="ctr" rtlCol="false" tIns="61383" lIns="61383" bIns="61383" rIns="6138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237202" y="4487221"/>
            <a:ext cx="1222474" cy="1230162"/>
          </a:xfrm>
          <a:custGeom>
            <a:avLst/>
            <a:gdLst/>
            <a:ahLst/>
            <a:cxnLst/>
            <a:rect r="r" b="b" t="t" l="l"/>
            <a:pathLst>
              <a:path h="1230162" w="1222474">
                <a:moveTo>
                  <a:pt x="0" y="0"/>
                </a:moveTo>
                <a:lnTo>
                  <a:pt x="1222474" y="0"/>
                </a:lnTo>
                <a:lnTo>
                  <a:pt x="1222474" y="1230163"/>
                </a:lnTo>
                <a:lnTo>
                  <a:pt x="0" y="1230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11765" y="4487221"/>
            <a:ext cx="1010174" cy="1000072"/>
          </a:xfrm>
          <a:custGeom>
            <a:avLst/>
            <a:gdLst/>
            <a:ahLst/>
            <a:cxnLst/>
            <a:rect r="r" b="b" t="t" l="l"/>
            <a:pathLst>
              <a:path h="1000072" w="1010174">
                <a:moveTo>
                  <a:pt x="0" y="0"/>
                </a:moveTo>
                <a:lnTo>
                  <a:pt x="1010173" y="0"/>
                </a:lnTo>
                <a:lnTo>
                  <a:pt x="1010173" y="1000072"/>
                </a:lnTo>
                <a:lnTo>
                  <a:pt x="0" y="10000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466079" y="4460597"/>
            <a:ext cx="1256787" cy="1256787"/>
          </a:xfrm>
          <a:custGeom>
            <a:avLst/>
            <a:gdLst/>
            <a:ahLst/>
            <a:cxnLst/>
            <a:rect r="r" b="b" t="t" l="l"/>
            <a:pathLst>
              <a:path h="1256787" w="1256787">
                <a:moveTo>
                  <a:pt x="0" y="0"/>
                </a:moveTo>
                <a:lnTo>
                  <a:pt x="1256787" y="0"/>
                </a:lnTo>
                <a:lnTo>
                  <a:pt x="1256787" y="1256787"/>
                </a:lnTo>
                <a:lnTo>
                  <a:pt x="0" y="12567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-1353118" y="-169001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36097" y="4484409"/>
            <a:ext cx="1105054" cy="1232975"/>
          </a:xfrm>
          <a:custGeom>
            <a:avLst/>
            <a:gdLst/>
            <a:ahLst/>
            <a:cxnLst/>
            <a:rect r="r" b="b" t="t" l="l"/>
            <a:pathLst>
              <a:path h="1232975" w="1105054">
                <a:moveTo>
                  <a:pt x="0" y="0"/>
                </a:moveTo>
                <a:lnTo>
                  <a:pt x="1105054" y="0"/>
                </a:lnTo>
                <a:lnTo>
                  <a:pt x="1105054" y="1232975"/>
                </a:lnTo>
                <a:lnTo>
                  <a:pt x="0" y="12329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937375" y="6863657"/>
            <a:ext cx="4040251" cy="71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1999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Users need multiple separate apps for different daily tasks.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39167" y="5900272"/>
            <a:ext cx="3055717" cy="54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sz="205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Fragmented Solutions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26599" y="5744468"/>
            <a:ext cx="3380505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2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Missing Emergency support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13252" y="6719605"/>
            <a:ext cx="3546638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1999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Existing tools are not designed  to adapt to user’s changing needs or abilities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81452" y="5900272"/>
            <a:ext cx="3210239" cy="54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sz="205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Poor Accessibility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67928" y="6772945"/>
            <a:ext cx="3654749" cy="108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1999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No integrated way to alert contacts or share location in emergencies.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0409" y="5900272"/>
            <a:ext cx="3880364" cy="54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1"/>
              </a:lnSpc>
            </a:pPr>
            <a:r>
              <a:rPr lang="en-US" sz="205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Need for Visual Recognition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02753" y="6763420"/>
            <a:ext cx="3868020" cy="162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7"/>
              </a:lnSpc>
            </a:pPr>
            <a:r>
              <a:rPr lang="en-US" sz="1765" b="tru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Users lack a unified tool to recognize colors, faces, currencies, and text, making daily tasks more difficult</a:t>
            </a:r>
          </a:p>
          <a:p>
            <a:pPr algn="ctr">
              <a:lnSpc>
                <a:spcPts val="264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45250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Solution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53118" y="-169001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391211" y="3842807"/>
            <a:ext cx="2771399" cy="2246175"/>
            <a:chOff x="0" y="0"/>
            <a:chExt cx="729916" cy="5915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9916" cy="591585"/>
            </a:xfrm>
            <a:custGeom>
              <a:avLst/>
              <a:gdLst/>
              <a:ahLst/>
              <a:cxnLst/>
              <a:rect r="r" b="b" t="t" l="l"/>
              <a:pathLst>
                <a:path h="591585" w="729916">
                  <a:moveTo>
                    <a:pt x="142469" y="0"/>
                  </a:moveTo>
                  <a:lnTo>
                    <a:pt x="587447" y="0"/>
                  </a:lnTo>
                  <a:cubicBezTo>
                    <a:pt x="625232" y="0"/>
                    <a:pt x="661470" y="15010"/>
                    <a:pt x="688188" y="41728"/>
                  </a:cubicBezTo>
                  <a:cubicBezTo>
                    <a:pt x="714906" y="68446"/>
                    <a:pt x="729916" y="104684"/>
                    <a:pt x="729916" y="142469"/>
                  </a:cubicBezTo>
                  <a:lnTo>
                    <a:pt x="729916" y="449116"/>
                  </a:lnTo>
                  <a:cubicBezTo>
                    <a:pt x="729916" y="486901"/>
                    <a:pt x="714906" y="523139"/>
                    <a:pt x="688188" y="549857"/>
                  </a:cubicBezTo>
                  <a:cubicBezTo>
                    <a:pt x="661470" y="576575"/>
                    <a:pt x="625232" y="591585"/>
                    <a:pt x="587447" y="591585"/>
                  </a:cubicBezTo>
                  <a:lnTo>
                    <a:pt x="142469" y="591585"/>
                  </a:lnTo>
                  <a:cubicBezTo>
                    <a:pt x="104684" y="591585"/>
                    <a:pt x="68446" y="576575"/>
                    <a:pt x="41728" y="549857"/>
                  </a:cubicBezTo>
                  <a:cubicBezTo>
                    <a:pt x="15010" y="523139"/>
                    <a:pt x="0" y="486901"/>
                    <a:pt x="0" y="449116"/>
                  </a:cubicBezTo>
                  <a:lnTo>
                    <a:pt x="0" y="142469"/>
                  </a:lnTo>
                  <a:cubicBezTo>
                    <a:pt x="0" y="104684"/>
                    <a:pt x="15010" y="68446"/>
                    <a:pt x="41728" y="41728"/>
                  </a:cubicBezTo>
                  <a:cubicBezTo>
                    <a:pt x="68446" y="15010"/>
                    <a:pt x="104684" y="0"/>
                    <a:pt x="142469" y="0"/>
                  </a:cubicBezTo>
                  <a:close/>
                </a:path>
              </a:pathLst>
            </a:custGeom>
            <a:ln w="47625" cap="rnd">
              <a:solidFill>
                <a:srgbClr val="8A408A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29916" cy="63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8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738748" y="3966685"/>
            <a:ext cx="1038162" cy="1038162"/>
          </a:xfrm>
          <a:custGeom>
            <a:avLst/>
            <a:gdLst/>
            <a:ahLst/>
            <a:cxnLst/>
            <a:rect r="r" b="b" t="t" l="l"/>
            <a:pathLst>
              <a:path h="1038162" w="1038162">
                <a:moveTo>
                  <a:pt x="0" y="0"/>
                </a:moveTo>
                <a:lnTo>
                  <a:pt x="1038162" y="0"/>
                </a:lnTo>
                <a:lnTo>
                  <a:pt x="1038162" y="1038162"/>
                </a:lnTo>
                <a:lnTo>
                  <a:pt x="0" y="1038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032882" y="6412623"/>
            <a:ext cx="2771399" cy="2246175"/>
            <a:chOff x="0" y="0"/>
            <a:chExt cx="729916" cy="5915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9916" cy="591585"/>
            </a:xfrm>
            <a:custGeom>
              <a:avLst/>
              <a:gdLst/>
              <a:ahLst/>
              <a:cxnLst/>
              <a:rect r="r" b="b" t="t" l="l"/>
              <a:pathLst>
                <a:path h="591585" w="729916">
                  <a:moveTo>
                    <a:pt x="142469" y="0"/>
                  </a:moveTo>
                  <a:lnTo>
                    <a:pt x="587447" y="0"/>
                  </a:lnTo>
                  <a:cubicBezTo>
                    <a:pt x="625232" y="0"/>
                    <a:pt x="661470" y="15010"/>
                    <a:pt x="688188" y="41728"/>
                  </a:cubicBezTo>
                  <a:cubicBezTo>
                    <a:pt x="714906" y="68446"/>
                    <a:pt x="729916" y="104684"/>
                    <a:pt x="729916" y="142469"/>
                  </a:cubicBezTo>
                  <a:lnTo>
                    <a:pt x="729916" y="449116"/>
                  </a:lnTo>
                  <a:cubicBezTo>
                    <a:pt x="729916" y="486901"/>
                    <a:pt x="714906" y="523139"/>
                    <a:pt x="688188" y="549857"/>
                  </a:cubicBezTo>
                  <a:cubicBezTo>
                    <a:pt x="661470" y="576575"/>
                    <a:pt x="625232" y="591585"/>
                    <a:pt x="587447" y="591585"/>
                  </a:cubicBezTo>
                  <a:lnTo>
                    <a:pt x="142469" y="591585"/>
                  </a:lnTo>
                  <a:cubicBezTo>
                    <a:pt x="104684" y="591585"/>
                    <a:pt x="68446" y="576575"/>
                    <a:pt x="41728" y="549857"/>
                  </a:cubicBezTo>
                  <a:cubicBezTo>
                    <a:pt x="15010" y="523139"/>
                    <a:pt x="0" y="486901"/>
                    <a:pt x="0" y="449116"/>
                  </a:cubicBezTo>
                  <a:lnTo>
                    <a:pt x="0" y="142469"/>
                  </a:lnTo>
                  <a:cubicBezTo>
                    <a:pt x="0" y="104684"/>
                    <a:pt x="15010" y="68446"/>
                    <a:pt x="41728" y="41728"/>
                  </a:cubicBezTo>
                  <a:cubicBezTo>
                    <a:pt x="68446" y="15010"/>
                    <a:pt x="104684" y="0"/>
                    <a:pt x="142469" y="0"/>
                  </a:cubicBezTo>
                  <a:close/>
                </a:path>
              </a:pathLst>
            </a:custGeom>
            <a:ln w="47625" cap="rnd">
              <a:solidFill>
                <a:srgbClr val="8A408A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729916" cy="63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8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398418" y="6521552"/>
            <a:ext cx="1020164" cy="1020164"/>
          </a:xfrm>
          <a:custGeom>
            <a:avLst/>
            <a:gdLst/>
            <a:ahLst/>
            <a:cxnLst/>
            <a:rect r="r" b="b" t="t" l="l"/>
            <a:pathLst>
              <a:path h="1020164" w="1020164">
                <a:moveTo>
                  <a:pt x="0" y="0"/>
                </a:moveTo>
                <a:lnTo>
                  <a:pt x="1020163" y="0"/>
                </a:lnTo>
                <a:lnTo>
                  <a:pt x="1020163" y="1020164"/>
                </a:lnTo>
                <a:lnTo>
                  <a:pt x="0" y="1020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356910" y="7124665"/>
            <a:ext cx="1020164" cy="873631"/>
          </a:xfrm>
          <a:custGeom>
            <a:avLst/>
            <a:gdLst/>
            <a:ahLst/>
            <a:cxnLst/>
            <a:rect r="r" b="b" t="t" l="l"/>
            <a:pathLst>
              <a:path h="873631" w="1020164">
                <a:moveTo>
                  <a:pt x="0" y="0"/>
                </a:moveTo>
                <a:lnTo>
                  <a:pt x="1020163" y="0"/>
                </a:lnTo>
                <a:lnTo>
                  <a:pt x="1020163" y="873631"/>
                </a:lnTo>
                <a:lnTo>
                  <a:pt x="0" y="8736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789964" y="4575358"/>
            <a:ext cx="1174218" cy="1052393"/>
          </a:xfrm>
          <a:custGeom>
            <a:avLst/>
            <a:gdLst/>
            <a:ahLst/>
            <a:cxnLst/>
            <a:rect r="r" b="b" t="t" l="l"/>
            <a:pathLst>
              <a:path h="1052393" w="1174218">
                <a:moveTo>
                  <a:pt x="0" y="0"/>
                </a:moveTo>
                <a:lnTo>
                  <a:pt x="1174219" y="0"/>
                </a:lnTo>
                <a:lnTo>
                  <a:pt x="1174219" y="1052393"/>
                </a:lnTo>
                <a:lnTo>
                  <a:pt x="0" y="10523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442708" y="3881759"/>
            <a:ext cx="2771399" cy="2246175"/>
            <a:chOff x="0" y="0"/>
            <a:chExt cx="729916" cy="5915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29916" cy="591585"/>
            </a:xfrm>
            <a:custGeom>
              <a:avLst/>
              <a:gdLst/>
              <a:ahLst/>
              <a:cxnLst/>
              <a:rect r="r" b="b" t="t" l="l"/>
              <a:pathLst>
                <a:path h="591585" w="729916">
                  <a:moveTo>
                    <a:pt x="142469" y="0"/>
                  </a:moveTo>
                  <a:lnTo>
                    <a:pt x="587447" y="0"/>
                  </a:lnTo>
                  <a:cubicBezTo>
                    <a:pt x="625232" y="0"/>
                    <a:pt x="661470" y="15010"/>
                    <a:pt x="688188" y="41728"/>
                  </a:cubicBezTo>
                  <a:cubicBezTo>
                    <a:pt x="714906" y="68446"/>
                    <a:pt x="729916" y="104684"/>
                    <a:pt x="729916" y="142469"/>
                  </a:cubicBezTo>
                  <a:lnTo>
                    <a:pt x="729916" y="449116"/>
                  </a:lnTo>
                  <a:cubicBezTo>
                    <a:pt x="729916" y="486901"/>
                    <a:pt x="714906" y="523139"/>
                    <a:pt x="688188" y="549857"/>
                  </a:cubicBezTo>
                  <a:cubicBezTo>
                    <a:pt x="661470" y="576575"/>
                    <a:pt x="625232" y="591585"/>
                    <a:pt x="587447" y="591585"/>
                  </a:cubicBezTo>
                  <a:lnTo>
                    <a:pt x="142469" y="591585"/>
                  </a:lnTo>
                  <a:cubicBezTo>
                    <a:pt x="104684" y="591585"/>
                    <a:pt x="68446" y="576575"/>
                    <a:pt x="41728" y="549857"/>
                  </a:cubicBezTo>
                  <a:cubicBezTo>
                    <a:pt x="15010" y="523139"/>
                    <a:pt x="0" y="486901"/>
                    <a:pt x="0" y="449116"/>
                  </a:cubicBezTo>
                  <a:lnTo>
                    <a:pt x="0" y="142469"/>
                  </a:lnTo>
                  <a:cubicBezTo>
                    <a:pt x="0" y="104684"/>
                    <a:pt x="15010" y="68446"/>
                    <a:pt x="41728" y="41728"/>
                  </a:cubicBezTo>
                  <a:cubicBezTo>
                    <a:pt x="68446" y="15010"/>
                    <a:pt x="104684" y="0"/>
                    <a:pt x="142469" y="0"/>
                  </a:cubicBezTo>
                  <a:close/>
                </a:path>
              </a:pathLst>
            </a:custGeom>
            <a:ln w="47625" cap="rnd">
              <a:solidFill>
                <a:srgbClr val="8A408A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729916" cy="63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8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564079" y="5449848"/>
            <a:ext cx="2460813" cy="6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8"/>
              </a:lnSpc>
              <a:spcBef>
                <a:spcPct val="0"/>
              </a:spcBef>
            </a:pPr>
            <a:r>
              <a:rPr lang="en-US" b="true" sz="1727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OCR &amp; Object detection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39039" y="8160630"/>
            <a:ext cx="4003766" cy="30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8"/>
              </a:lnSpc>
              <a:spcBef>
                <a:spcPct val="0"/>
              </a:spcBef>
            </a:pPr>
            <a:r>
              <a:rPr lang="en-US" b="true" sz="1727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Reminders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81687" y="5732346"/>
            <a:ext cx="4003766" cy="30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8"/>
              </a:lnSpc>
              <a:spcBef>
                <a:spcPct val="0"/>
              </a:spcBef>
            </a:pPr>
            <a:r>
              <a:rPr lang="en-US" b="true" sz="1727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Emergency SOS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626040" y="4138192"/>
            <a:ext cx="1005308" cy="1005308"/>
          </a:xfrm>
          <a:custGeom>
            <a:avLst/>
            <a:gdLst/>
            <a:ahLst/>
            <a:cxnLst/>
            <a:rect r="r" b="b" t="t" l="l"/>
            <a:pathLst>
              <a:path h="1005308" w="1005308">
                <a:moveTo>
                  <a:pt x="0" y="0"/>
                </a:moveTo>
                <a:lnTo>
                  <a:pt x="1005308" y="0"/>
                </a:lnTo>
                <a:lnTo>
                  <a:pt x="1005308" y="1005308"/>
                </a:lnTo>
                <a:lnTo>
                  <a:pt x="0" y="10053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061490" y="4444888"/>
            <a:ext cx="622081" cy="888686"/>
          </a:xfrm>
          <a:custGeom>
            <a:avLst/>
            <a:gdLst/>
            <a:ahLst/>
            <a:cxnLst/>
            <a:rect r="r" b="b" t="t" l="l"/>
            <a:pathLst>
              <a:path h="888686" w="622081">
                <a:moveTo>
                  <a:pt x="0" y="0"/>
                </a:moveTo>
                <a:lnTo>
                  <a:pt x="622080" y="0"/>
                </a:lnTo>
                <a:lnTo>
                  <a:pt x="622080" y="888686"/>
                </a:lnTo>
                <a:lnTo>
                  <a:pt x="0" y="88868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3343585" y="3842807"/>
            <a:ext cx="2771399" cy="2246175"/>
            <a:chOff x="0" y="0"/>
            <a:chExt cx="729916" cy="59158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9916" cy="591585"/>
            </a:xfrm>
            <a:custGeom>
              <a:avLst/>
              <a:gdLst/>
              <a:ahLst/>
              <a:cxnLst/>
              <a:rect r="r" b="b" t="t" l="l"/>
              <a:pathLst>
                <a:path h="591585" w="729916">
                  <a:moveTo>
                    <a:pt x="142469" y="0"/>
                  </a:moveTo>
                  <a:lnTo>
                    <a:pt x="587447" y="0"/>
                  </a:lnTo>
                  <a:cubicBezTo>
                    <a:pt x="625232" y="0"/>
                    <a:pt x="661470" y="15010"/>
                    <a:pt x="688188" y="41728"/>
                  </a:cubicBezTo>
                  <a:cubicBezTo>
                    <a:pt x="714906" y="68446"/>
                    <a:pt x="729916" y="104684"/>
                    <a:pt x="729916" y="142469"/>
                  </a:cubicBezTo>
                  <a:lnTo>
                    <a:pt x="729916" y="449116"/>
                  </a:lnTo>
                  <a:cubicBezTo>
                    <a:pt x="729916" y="486901"/>
                    <a:pt x="714906" y="523139"/>
                    <a:pt x="688188" y="549857"/>
                  </a:cubicBezTo>
                  <a:cubicBezTo>
                    <a:pt x="661470" y="576575"/>
                    <a:pt x="625232" y="591585"/>
                    <a:pt x="587447" y="591585"/>
                  </a:cubicBezTo>
                  <a:lnTo>
                    <a:pt x="142469" y="591585"/>
                  </a:lnTo>
                  <a:cubicBezTo>
                    <a:pt x="104684" y="591585"/>
                    <a:pt x="68446" y="576575"/>
                    <a:pt x="41728" y="549857"/>
                  </a:cubicBezTo>
                  <a:cubicBezTo>
                    <a:pt x="15010" y="523139"/>
                    <a:pt x="0" y="486901"/>
                    <a:pt x="0" y="449116"/>
                  </a:cubicBezTo>
                  <a:lnTo>
                    <a:pt x="0" y="142469"/>
                  </a:lnTo>
                  <a:cubicBezTo>
                    <a:pt x="0" y="104684"/>
                    <a:pt x="15010" y="68446"/>
                    <a:pt x="41728" y="41728"/>
                  </a:cubicBezTo>
                  <a:cubicBezTo>
                    <a:pt x="68446" y="15010"/>
                    <a:pt x="104684" y="0"/>
                    <a:pt x="142469" y="0"/>
                  </a:cubicBezTo>
                  <a:close/>
                </a:path>
              </a:pathLst>
            </a:custGeom>
            <a:ln w="47625" cap="rnd">
              <a:solidFill>
                <a:srgbClr val="8A408A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29916" cy="63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8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4804281" y="3994230"/>
            <a:ext cx="916203" cy="901315"/>
          </a:xfrm>
          <a:custGeom>
            <a:avLst/>
            <a:gdLst/>
            <a:ahLst/>
            <a:cxnLst/>
            <a:rect r="r" b="b" t="t" l="l"/>
            <a:pathLst>
              <a:path h="901315" w="916203">
                <a:moveTo>
                  <a:pt x="0" y="0"/>
                </a:moveTo>
                <a:lnTo>
                  <a:pt x="916203" y="0"/>
                </a:lnTo>
                <a:lnTo>
                  <a:pt x="916203" y="901315"/>
                </a:lnTo>
                <a:lnTo>
                  <a:pt x="0" y="90131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512062" y="6757981"/>
            <a:ext cx="879149" cy="1025246"/>
          </a:xfrm>
          <a:custGeom>
            <a:avLst/>
            <a:gdLst/>
            <a:ahLst/>
            <a:cxnLst/>
            <a:rect r="r" b="b" t="t" l="l"/>
            <a:pathLst>
              <a:path h="1025246" w="879149">
                <a:moveTo>
                  <a:pt x="0" y="0"/>
                </a:moveTo>
                <a:lnTo>
                  <a:pt x="879149" y="0"/>
                </a:lnTo>
                <a:lnTo>
                  <a:pt x="879149" y="1025246"/>
                </a:lnTo>
                <a:lnTo>
                  <a:pt x="0" y="102524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564079" y="7031634"/>
            <a:ext cx="657728" cy="1067307"/>
          </a:xfrm>
          <a:custGeom>
            <a:avLst/>
            <a:gdLst/>
            <a:ahLst/>
            <a:cxnLst/>
            <a:rect r="r" b="b" t="t" l="l"/>
            <a:pathLst>
              <a:path h="1067307" w="657728">
                <a:moveTo>
                  <a:pt x="0" y="0"/>
                </a:moveTo>
                <a:lnTo>
                  <a:pt x="657728" y="0"/>
                </a:lnTo>
                <a:lnTo>
                  <a:pt x="657728" y="1067307"/>
                </a:lnTo>
                <a:lnTo>
                  <a:pt x="0" y="106730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005511" y="6438393"/>
            <a:ext cx="2771399" cy="2246175"/>
            <a:chOff x="0" y="0"/>
            <a:chExt cx="729916" cy="59158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9916" cy="591585"/>
            </a:xfrm>
            <a:custGeom>
              <a:avLst/>
              <a:gdLst/>
              <a:ahLst/>
              <a:cxnLst/>
              <a:rect r="r" b="b" t="t" l="l"/>
              <a:pathLst>
                <a:path h="591585" w="729916">
                  <a:moveTo>
                    <a:pt x="142469" y="0"/>
                  </a:moveTo>
                  <a:lnTo>
                    <a:pt x="587447" y="0"/>
                  </a:lnTo>
                  <a:cubicBezTo>
                    <a:pt x="625232" y="0"/>
                    <a:pt x="661470" y="15010"/>
                    <a:pt x="688188" y="41728"/>
                  </a:cubicBezTo>
                  <a:cubicBezTo>
                    <a:pt x="714906" y="68446"/>
                    <a:pt x="729916" y="104684"/>
                    <a:pt x="729916" y="142469"/>
                  </a:cubicBezTo>
                  <a:lnTo>
                    <a:pt x="729916" y="449116"/>
                  </a:lnTo>
                  <a:cubicBezTo>
                    <a:pt x="729916" y="486901"/>
                    <a:pt x="714906" y="523139"/>
                    <a:pt x="688188" y="549857"/>
                  </a:cubicBezTo>
                  <a:cubicBezTo>
                    <a:pt x="661470" y="576575"/>
                    <a:pt x="625232" y="591585"/>
                    <a:pt x="587447" y="591585"/>
                  </a:cubicBezTo>
                  <a:lnTo>
                    <a:pt x="142469" y="591585"/>
                  </a:lnTo>
                  <a:cubicBezTo>
                    <a:pt x="104684" y="591585"/>
                    <a:pt x="68446" y="576575"/>
                    <a:pt x="41728" y="549857"/>
                  </a:cubicBezTo>
                  <a:cubicBezTo>
                    <a:pt x="15010" y="523139"/>
                    <a:pt x="0" y="486901"/>
                    <a:pt x="0" y="449116"/>
                  </a:cubicBezTo>
                  <a:lnTo>
                    <a:pt x="0" y="142469"/>
                  </a:lnTo>
                  <a:cubicBezTo>
                    <a:pt x="0" y="104684"/>
                    <a:pt x="15010" y="68446"/>
                    <a:pt x="41728" y="41728"/>
                  </a:cubicBezTo>
                  <a:cubicBezTo>
                    <a:pt x="68446" y="15010"/>
                    <a:pt x="104684" y="0"/>
                    <a:pt x="142469" y="0"/>
                  </a:cubicBezTo>
                  <a:close/>
                </a:path>
              </a:pathLst>
            </a:custGeom>
            <a:ln w="47625" cap="rnd">
              <a:solidFill>
                <a:srgbClr val="8A408A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29916" cy="63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18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339039" y="4111279"/>
            <a:ext cx="2051768" cy="1568533"/>
          </a:xfrm>
          <a:custGeom>
            <a:avLst/>
            <a:gdLst/>
            <a:ahLst/>
            <a:cxnLst/>
            <a:rect r="r" b="b" t="t" l="l"/>
            <a:pathLst>
              <a:path h="1568533" w="2051768">
                <a:moveTo>
                  <a:pt x="0" y="0"/>
                </a:moveTo>
                <a:lnTo>
                  <a:pt x="2051767" y="0"/>
                </a:lnTo>
                <a:lnTo>
                  <a:pt x="2051767" y="1568533"/>
                </a:lnTo>
                <a:lnTo>
                  <a:pt x="0" y="156853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-4087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2772233" y="3194251"/>
            <a:ext cx="3425641" cy="6436745"/>
            <a:chOff x="0" y="0"/>
            <a:chExt cx="4567522" cy="858232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67522" cy="8582327"/>
            </a:xfrm>
            <a:custGeom>
              <a:avLst/>
              <a:gdLst/>
              <a:ahLst/>
              <a:cxnLst/>
              <a:rect r="r" b="b" t="t" l="l"/>
              <a:pathLst>
                <a:path h="8582327" w="4567522">
                  <a:moveTo>
                    <a:pt x="0" y="0"/>
                  </a:moveTo>
                  <a:lnTo>
                    <a:pt x="4567522" y="0"/>
                  </a:lnTo>
                  <a:lnTo>
                    <a:pt x="4567522" y="8582327"/>
                  </a:lnTo>
                  <a:lnTo>
                    <a:pt x="0" y="8582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2048" r="0" b="-2048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365820" y="1116412"/>
              <a:ext cx="966409" cy="317161"/>
            </a:xfrm>
            <a:custGeom>
              <a:avLst/>
              <a:gdLst/>
              <a:ahLst/>
              <a:cxnLst/>
              <a:rect r="r" b="b" t="t" l="l"/>
              <a:pathLst>
                <a:path h="317161" w="966409">
                  <a:moveTo>
                    <a:pt x="0" y="0"/>
                  </a:moveTo>
                  <a:lnTo>
                    <a:pt x="966408" y="0"/>
                  </a:lnTo>
                  <a:lnTo>
                    <a:pt x="966408" y="317161"/>
                  </a:lnTo>
                  <a:lnTo>
                    <a:pt x="0" y="317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1843269" y="4298420"/>
            <a:ext cx="1035154" cy="1035154"/>
          </a:xfrm>
          <a:custGeom>
            <a:avLst/>
            <a:gdLst/>
            <a:ahLst/>
            <a:cxnLst/>
            <a:rect r="r" b="b" t="t" l="l"/>
            <a:pathLst>
              <a:path h="1035154" w="1035154">
                <a:moveTo>
                  <a:pt x="0" y="0"/>
                </a:moveTo>
                <a:lnTo>
                  <a:pt x="1035155" y="0"/>
                </a:lnTo>
                <a:lnTo>
                  <a:pt x="1035155" y="1035154"/>
                </a:lnTo>
                <a:lnTo>
                  <a:pt x="0" y="103515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347593" y="8002405"/>
            <a:ext cx="2141977" cy="6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8"/>
              </a:lnSpc>
              <a:spcBef>
                <a:spcPct val="0"/>
              </a:spcBef>
            </a:pPr>
            <a:r>
              <a:rPr lang="en-US" b="true" sz="1727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Voice Commands &amp; TTS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26525" y="5732346"/>
            <a:ext cx="4003766" cy="30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8"/>
              </a:lnSpc>
              <a:spcBef>
                <a:spcPct val="0"/>
              </a:spcBef>
            </a:pPr>
            <a:r>
              <a:rPr lang="en-US" b="true" sz="1727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AI models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23082" y="2367118"/>
            <a:ext cx="11295341" cy="43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An integrated AI-powered system: smart glasses + mobile application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57153" y="9677007"/>
            <a:ext cx="4634829" cy="33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Mobile application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73216" y="3267564"/>
            <a:ext cx="3204418" cy="30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8"/>
              </a:lnSpc>
              <a:spcBef>
                <a:spcPct val="0"/>
              </a:spcBef>
            </a:pPr>
            <a:r>
              <a:rPr lang="en-US" b="true" sz="1727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object and scene description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45250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Solution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53118" y="-169001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97718" y="5143500"/>
            <a:ext cx="5683041" cy="1910923"/>
          </a:xfrm>
          <a:custGeom>
            <a:avLst/>
            <a:gdLst/>
            <a:ahLst/>
            <a:cxnLst/>
            <a:rect r="r" b="b" t="t" l="l"/>
            <a:pathLst>
              <a:path h="1910923" w="5683041">
                <a:moveTo>
                  <a:pt x="0" y="0"/>
                </a:moveTo>
                <a:lnTo>
                  <a:pt x="5683042" y="0"/>
                </a:lnTo>
                <a:lnTo>
                  <a:pt x="5683042" y="1910923"/>
                </a:lnTo>
                <a:lnTo>
                  <a:pt x="0" y="1910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0484170" y="4121358"/>
            <a:ext cx="5158768" cy="2708353"/>
          </a:xfrm>
          <a:custGeom>
            <a:avLst/>
            <a:gdLst/>
            <a:ahLst/>
            <a:cxnLst/>
            <a:rect r="r" b="b" t="t" l="l"/>
            <a:pathLst>
              <a:path h="2708353" w="5158768">
                <a:moveTo>
                  <a:pt x="0" y="0"/>
                </a:moveTo>
                <a:lnTo>
                  <a:pt x="5158768" y="0"/>
                </a:lnTo>
                <a:lnTo>
                  <a:pt x="5158768" y="2708353"/>
                </a:lnTo>
                <a:lnTo>
                  <a:pt x="0" y="2708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36659" y="4572850"/>
            <a:ext cx="1562865" cy="1564821"/>
          </a:xfrm>
          <a:custGeom>
            <a:avLst/>
            <a:gdLst/>
            <a:ahLst/>
            <a:cxnLst/>
            <a:rect r="r" b="b" t="t" l="l"/>
            <a:pathLst>
              <a:path h="1564821" w="1562865">
                <a:moveTo>
                  <a:pt x="0" y="0"/>
                </a:moveTo>
                <a:lnTo>
                  <a:pt x="1562865" y="0"/>
                </a:lnTo>
                <a:lnTo>
                  <a:pt x="1562865" y="1564821"/>
                </a:lnTo>
                <a:lnTo>
                  <a:pt x="0" y="15648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23082" y="2367118"/>
            <a:ext cx="11295341" cy="43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An integrated AI-powered system: smart glasses + mobile application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06945" y="8191500"/>
            <a:ext cx="426458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Smart Glass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134937" y="5095875"/>
            <a:ext cx="426458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Camera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94712" y="5008666"/>
            <a:ext cx="4264588" cy="109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8A408A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Mic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506859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Roadmap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53118" y="-169001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56851" y="3292791"/>
            <a:ext cx="16774297" cy="6667783"/>
          </a:xfrm>
          <a:custGeom>
            <a:avLst/>
            <a:gdLst/>
            <a:ahLst/>
            <a:cxnLst/>
            <a:rect r="r" b="b" t="t" l="l"/>
            <a:pathLst>
              <a:path h="6667783" w="16774297">
                <a:moveTo>
                  <a:pt x="0" y="0"/>
                </a:moveTo>
                <a:lnTo>
                  <a:pt x="16774298" y="0"/>
                </a:lnTo>
                <a:lnTo>
                  <a:pt x="16774298" y="6667783"/>
                </a:lnTo>
                <a:lnTo>
                  <a:pt x="0" y="66677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1299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031234" y="5808790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5922" y="280473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53081" y="3268397"/>
            <a:ext cx="11326042" cy="320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46"/>
              </a:lnSpc>
            </a:pPr>
            <a:r>
              <a:rPr lang="en-US" b="true" sz="863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Background &amp; Literature Review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698107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Background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16288" y="2137616"/>
            <a:ext cx="4748539" cy="47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Visual</a:t>
            </a: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 Impairment &amp; Need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597138" y="3628778"/>
            <a:ext cx="13093724" cy="1804497"/>
            <a:chOff x="0" y="0"/>
            <a:chExt cx="3174231" cy="437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4230" cy="437453"/>
            </a:xfrm>
            <a:custGeom>
              <a:avLst/>
              <a:gdLst/>
              <a:ahLst/>
              <a:cxnLst/>
              <a:rect r="r" b="b" t="t" l="l"/>
              <a:pathLst>
                <a:path h="437453" w="3174230">
                  <a:moveTo>
                    <a:pt x="49667" y="0"/>
                  </a:moveTo>
                  <a:lnTo>
                    <a:pt x="3124564" y="0"/>
                  </a:lnTo>
                  <a:cubicBezTo>
                    <a:pt x="3137736" y="0"/>
                    <a:pt x="3150369" y="5233"/>
                    <a:pt x="3159683" y="14547"/>
                  </a:cubicBezTo>
                  <a:cubicBezTo>
                    <a:pt x="3168998" y="23861"/>
                    <a:pt x="3174230" y="36494"/>
                    <a:pt x="3174230" y="49667"/>
                  </a:cubicBezTo>
                  <a:lnTo>
                    <a:pt x="3174230" y="387786"/>
                  </a:lnTo>
                  <a:cubicBezTo>
                    <a:pt x="3174230" y="400959"/>
                    <a:pt x="3168998" y="413592"/>
                    <a:pt x="3159683" y="422906"/>
                  </a:cubicBezTo>
                  <a:cubicBezTo>
                    <a:pt x="3150369" y="432220"/>
                    <a:pt x="3137736" y="437453"/>
                    <a:pt x="3124564" y="437453"/>
                  </a:cubicBezTo>
                  <a:lnTo>
                    <a:pt x="49667" y="437453"/>
                  </a:lnTo>
                  <a:cubicBezTo>
                    <a:pt x="36494" y="437453"/>
                    <a:pt x="23861" y="432220"/>
                    <a:pt x="14547" y="422906"/>
                  </a:cubicBezTo>
                  <a:cubicBezTo>
                    <a:pt x="5233" y="413592"/>
                    <a:pt x="0" y="400959"/>
                    <a:pt x="0" y="387786"/>
                  </a:cubicBezTo>
                  <a:lnTo>
                    <a:pt x="0" y="49667"/>
                  </a:lnTo>
                  <a:cubicBezTo>
                    <a:pt x="0" y="36494"/>
                    <a:pt x="5233" y="23861"/>
                    <a:pt x="14547" y="14547"/>
                  </a:cubicBezTo>
                  <a:cubicBezTo>
                    <a:pt x="23861" y="5233"/>
                    <a:pt x="36494" y="0"/>
                    <a:pt x="49667" y="0"/>
                  </a:cubicBezTo>
                  <a:close/>
                </a:path>
              </a:pathLst>
            </a:custGeom>
            <a:solidFill>
              <a:srgbClr val="F6E3F9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174231" cy="475553"/>
            </a:xfrm>
            <a:prstGeom prst="rect">
              <a:avLst/>
            </a:prstGeom>
          </p:spPr>
          <p:txBody>
            <a:bodyPr anchor="ctr" rtlCol="false" tIns="61383" lIns="61383" bIns="61383" rIns="6138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316288" y="4109232"/>
            <a:ext cx="13679697" cy="731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b="true" sz="2699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2.2 billion people globally affected | 181,728 prevalence in Saudi Arabia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16288" y="6383416"/>
            <a:ext cx="5535119" cy="47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Assist</a:t>
            </a: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ive technology enables: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99899" y="7197115"/>
            <a:ext cx="4414012" cy="1727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0" indent="-269870" lvl="1">
              <a:lnSpc>
                <a:spcPts val="4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Navigation &amp; mobility </a:t>
            </a:r>
          </a:p>
          <a:p>
            <a:pPr algn="just" marL="539740" indent="-269870" lvl="1">
              <a:lnSpc>
                <a:spcPts val="4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Information access</a:t>
            </a:r>
          </a:p>
          <a:p>
            <a:pPr algn="just" marL="539740" indent="-269870" lvl="1">
              <a:lnSpc>
                <a:spcPts val="4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Preventing social isolation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67416" y="7197115"/>
            <a:ext cx="4091421" cy="1136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0" indent="-269870" lvl="1">
              <a:lnSpc>
                <a:spcPts val="4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Commun</a:t>
            </a: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ication </a:t>
            </a:r>
          </a:p>
          <a:p>
            <a:pPr algn="just" marL="539740" indent="-269870" lvl="1">
              <a:lnSpc>
                <a:spcPts val="46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Independence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698107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Background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32446" y="2205951"/>
            <a:ext cx="7711554" cy="47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Key Technologies</a:t>
            </a: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 Powering Munir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68400" y="4507606"/>
            <a:ext cx="3407700" cy="4708061"/>
            <a:chOff x="0" y="0"/>
            <a:chExt cx="856724" cy="1183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6724" cy="1183646"/>
            </a:xfrm>
            <a:custGeom>
              <a:avLst/>
              <a:gdLst/>
              <a:ahLst/>
              <a:cxnLst/>
              <a:rect r="r" b="b" t="t" l="l"/>
              <a:pathLst>
                <a:path h="1183646" w="856724">
                  <a:moveTo>
                    <a:pt x="45438" y="0"/>
                  </a:moveTo>
                  <a:lnTo>
                    <a:pt x="811286" y="0"/>
                  </a:lnTo>
                  <a:cubicBezTo>
                    <a:pt x="823337" y="0"/>
                    <a:pt x="834894" y="4787"/>
                    <a:pt x="843416" y="13308"/>
                  </a:cubicBezTo>
                  <a:cubicBezTo>
                    <a:pt x="851937" y="21830"/>
                    <a:pt x="856724" y="33387"/>
                    <a:pt x="856724" y="45438"/>
                  </a:cubicBezTo>
                  <a:lnTo>
                    <a:pt x="856724" y="1138208"/>
                  </a:lnTo>
                  <a:cubicBezTo>
                    <a:pt x="856724" y="1163302"/>
                    <a:pt x="836381" y="1183646"/>
                    <a:pt x="811286" y="1183646"/>
                  </a:cubicBezTo>
                  <a:lnTo>
                    <a:pt x="45438" y="1183646"/>
                  </a:lnTo>
                  <a:cubicBezTo>
                    <a:pt x="33387" y="1183646"/>
                    <a:pt x="21830" y="1178858"/>
                    <a:pt x="13308" y="1170337"/>
                  </a:cubicBezTo>
                  <a:cubicBezTo>
                    <a:pt x="4787" y="1161816"/>
                    <a:pt x="0" y="1150259"/>
                    <a:pt x="0" y="1138208"/>
                  </a:cubicBezTo>
                  <a:lnTo>
                    <a:pt x="0" y="45438"/>
                  </a:lnTo>
                  <a:cubicBezTo>
                    <a:pt x="0" y="20343"/>
                    <a:pt x="20343" y="0"/>
                    <a:pt x="45438" y="0"/>
                  </a:cubicBezTo>
                  <a:close/>
                </a:path>
              </a:pathLst>
            </a:custGeom>
            <a:solidFill>
              <a:srgbClr val="F6E3F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56724" cy="1221746"/>
            </a:xfrm>
            <a:prstGeom prst="rect">
              <a:avLst/>
            </a:prstGeom>
          </p:spPr>
          <p:txBody>
            <a:bodyPr anchor="ctr" rtlCol="false" tIns="61383" lIns="61383" bIns="61383" rIns="6138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40696" y="4059871"/>
            <a:ext cx="2663108" cy="895470"/>
          </a:xfrm>
          <a:custGeom>
            <a:avLst/>
            <a:gdLst/>
            <a:ahLst/>
            <a:cxnLst/>
            <a:rect r="r" b="b" t="t" l="l"/>
            <a:pathLst>
              <a:path h="895470" w="2663108">
                <a:moveTo>
                  <a:pt x="0" y="0"/>
                </a:moveTo>
                <a:lnTo>
                  <a:pt x="2663108" y="0"/>
                </a:lnTo>
                <a:lnTo>
                  <a:pt x="2663108" y="895470"/>
                </a:lnTo>
                <a:lnTo>
                  <a:pt x="0" y="895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831558" y="4507606"/>
            <a:ext cx="3407700" cy="4708061"/>
            <a:chOff x="0" y="0"/>
            <a:chExt cx="856724" cy="11836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6724" cy="1183646"/>
            </a:xfrm>
            <a:custGeom>
              <a:avLst/>
              <a:gdLst/>
              <a:ahLst/>
              <a:cxnLst/>
              <a:rect r="r" b="b" t="t" l="l"/>
              <a:pathLst>
                <a:path h="1183646" w="856724">
                  <a:moveTo>
                    <a:pt x="45438" y="0"/>
                  </a:moveTo>
                  <a:lnTo>
                    <a:pt x="811286" y="0"/>
                  </a:lnTo>
                  <a:cubicBezTo>
                    <a:pt x="823337" y="0"/>
                    <a:pt x="834894" y="4787"/>
                    <a:pt x="843416" y="13308"/>
                  </a:cubicBezTo>
                  <a:cubicBezTo>
                    <a:pt x="851937" y="21830"/>
                    <a:pt x="856724" y="33387"/>
                    <a:pt x="856724" y="45438"/>
                  </a:cubicBezTo>
                  <a:lnTo>
                    <a:pt x="856724" y="1138208"/>
                  </a:lnTo>
                  <a:cubicBezTo>
                    <a:pt x="856724" y="1163302"/>
                    <a:pt x="836381" y="1183646"/>
                    <a:pt x="811286" y="1183646"/>
                  </a:cubicBezTo>
                  <a:lnTo>
                    <a:pt x="45438" y="1183646"/>
                  </a:lnTo>
                  <a:cubicBezTo>
                    <a:pt x="33387" y="1183646"/>
                    <a:pt x="21830" y="1178858"/>
                    <a:pt x="13308" y="1170337"/>
                  </a:cubicBezTo>
                  <a:cubicBezTo>
                    <a:pt x="4787" y="1161816"/>
                    <a:pt x="0" y="1150259"/>
                    <a:pt x="0" y="1138208"/>
                  </a:cubicBezTo>
                  <a:lnTo>
                    <a:pt x="0" y="45438"/>
                  </a:lnTo>
                  <a:cubicBezTo>
                    <a:pt x="0" y="20343"/>
                    <a:pt x="20343" y="0"/>
                    <a:pt x="45438" y="0"/>
                  </a:cubicBezTo>
                  <a:close/>
                </a:path>
              </a:pathLst>
            </a:custGeom>
            <a:solidFill>
              <a:srgbClr val="F6E3F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56724" cy="1221746"/>
            </a:xfrm>
            <a:prstGeom prst="rect">
              <a:avLst/>
            </a:prstGeom>
          </p:spPr>
          <p:txBody>
            <a:bodyPr anchor="ctr" rtlCol="false" tIns="61383" lIns="61383" bIns="61383" rIns="6138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018786" y="4507606"/>
            <a:ext cx="3407700" cy="4708061"/>
            <a:chOff x="0" y="0"/>
            <a:chExt cx="856724" cy="11836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6724" cy="1183646"/>
            </a:xfrm>
            <a:custGeom>
              <a:avLst/>
              <a:gdLst/>
              <a:ahLst/>
              <a:cxnLst/>
              <a:rect r="r" b="b" t="t" l="l"/>
              <a:pathLst>
                <a:path h="1183646" w="856724">
                  <a:moveTo>
                    <a:pt x="45438" y="0"/>
                  </a:moveTo>
                  <a:lnTo>
                    <a:pt x="811286" y="0"/>
                  </a:lnTo>
                  <a:cubicBezTo>
                    <a:pt x="823337" y="0"/>
                    <a:pt x="834894" y="4787"/>
                    <a:pt x="843416" y="13308"/>
                  </a:cubicBezTo>
                  <a:cubicBezTo>
                    <a:pt x="851937" y="21830"/>
                    <a:pt x="856724" y="33387"/>
                    <a:pt x="856724" y="45438"/>
                  </a:cubicBezTo>
                  <a:lnTo>
                    <a:pt x="856724" y="1138208"/>
                  </a:lnTo>
                  <a:cubicBezTo>
                    <a:pt x="856724" y="1163302"/>
                    <a:pt x="836381" y="1183646"/>
                    <a:pt x="811286" y="1183646"/>
                  </a:cubicBezTo>
                  <a:lnTo>
                    <a:pt x="45438" y="1183646"/>
                  </a:lnTo>
                  <a:cubicBezTo>
                    <a:pt x="33387" y="1183646"/>
                    <a:pt x="21830" y="1178858"/>
                    <a:pt x="13308" y="1170337"/>
                  </a:cubicBezTo>
                  <a:cubicBezTo>
                    <a:pt x="4787" y="1161816"/>
                    <a:pt x="0" y="1150259"/>
                    <a:pt x="0" y="1138208"/>
                  </a:cubicBezTo>
                  <a:lnTo>
                    <a:pt x="0" y="45438"/>
                  </a:lnTo>
                  <a:cubicBezTo>
                    <a:pt x="0" y="20343"/>
                    <a:pt x="20343" y="0"/>
                    <a:pt x="45438" y="0"/>
                  </a:cubicBezTo>
                  <a:close/>
                </a:path>
              </a:pathLst>
            </a:custGeom>
            <a:solidFill>
              <a:srgbClr val="F6E3F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56724" cy="1221746"/>
            </a:xfrm>
            <a:prstGeom prst="rect">
              <a:avLst/>
            </a:prstGeom>
          </p:spPr>
          <p:txBody>
            <a:bodyPr anchor="ctr" rtlCol="false" tIns="61383" lIns="61383" bIns="61383" rIns="6138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5258558" y="3814447"/>
            <a:ext cx="1036306" cy="1263788"/>
          </a:xfrm>
          <a:custGeom>
            <a:avLst/>
            <a:gdLst/>
            <a:ahLst/>
            <a:cxnLst/>
            <a:rect r="r" b="b" t="t" l="l"/>
            <a:pathLst>
              <a:path h="1263788" w="1036306">
                <a:moveTo>
                  <a:pt x="0" y="0"/>
                </a:moveTo>
                <a:lnTo>
                  <a:pt x="1036306" y="0"/>
                </a:lnTo>
                <a:lnTo>
                  <a:pt x="1036306" y="1263788"/>
                </a:lnTo>
                <a:lnTo>
                  <a:pt x="0" y="1263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57945" y="5066804"/>
            <a:ext cx="3604946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Smart Glasses</a:t>
            </a:r>
            <a:r>
              <a:rPr lang="en-US" b="true" sz="27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 Platform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46813" y="5254862"/>
            <a:ext cx="3604946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Mobile App</a:t>
            </a:r>
            <a:r>
              <a:rPr lang="en-US" b="true" sz="28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67346" y="5154435"/>
            <a:ext cx="3310580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Security &amp;</a:t>
            </a:r>
            <a:r>
              <a:rPr lang="en-US" b="true" sz="27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 Privacy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0602" y="6220347"/>
            <a:ext cx="3323296" cy="2627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422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Hands-free operation</a:t>
            </a:r>
          </a:p>
          <a:p>
            <a:pPr algn="just" marL="474979" indent="-237490" lvl="1">
              <a:lnSpc>
                <a:spcPts val="422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Built-in camera+microphone </a:t>
            </a:r>
          </a:p>
          <a:p>
            <a:pPr algn="l" marL="474979" indent="-237490" lvl="1">
              <a:lnSpc>
                <a:spcPts val="4223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AI processing capability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451413" y="4550239"/>
            <a:ext cx="3407700" cy="4708061"/>
            <a:chOff x="0" y="0"/>
            <a:chExt cx="856724" cy="11836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56724" cy="1183646"/>
            </a:xfrm>
            <a:custGeom>
              <a:avLst/>
              <a:gdLst/>
              <a:ahLst/>
              <a:cxnLst/>
              <a:rect r="r" b="b" t="t" l="l"/>
              <a:pathLst>
                <a:path h="1183646" w="856724">
                  <a:moveTo>
                    <a:pt x="45438" y="0"/>
                  </a:moveTo>
                  <a:lnTo>
                    <a:pt x="811286" y="0"/>
                  </a:lnTo>
                  <a:cubicBezTo>
                    <a:pt x="823337" y="0"/>
                    <a:pt x="834894" y="4787"/>
                    <a:pt x="843416" y="13308"/>
                  </a:cubicBezTo>
                  <a:cubicBezTo>
                    <a:pt x="851937" y="21830"/>
                    <a:pt x="856724" y="33387"/>
                    <a:pt x="856724" y="45438"/>
                  </a:cubicBezTo>
                  <a:lnTo>
                    <a:pt x="856724" y="1138208"/>
                  </a:lnTo>
                  <a:cubicBezTo>
                    <a:pt x="856724" y="1163302"/>
                    <a:pt x="836381" y="1183646"/>
                    <a:pt x="811286" y="1183646"/>
                  </a:cubicBezTo>
                  <a:lnTo>
                    <a:pt x="45438" y="1183646"/>
                  </a:lnTo>
                  <a:cubicBezTo>
                    <a:pt x="33387" y="1183646"/>
                    <a:pt x="21830" y="1178858"/>
                    <a:pt x="13308" y="1170337"/>
                  </a:cubicBezTo>
                  <a:cubicBezTo>
                    <a:pt x="4787" y="1161816"/>
                    <a:pt x="0" y="1150259"/>
                    <a:pt x="0" y="1138208"/>
                  </a:cubicBezTo>
                  <a:lnTo>
                    <a:pt x="0" y="45438"/>
                  </a:lnTo>
                  <a:cubicBezTo>
                    <a:pt x="0" y="20343"/>
                    <a:pt x="20343" y="0"/>
                    <a:pt x="45438" y="0"/>
                  </a:cubicBezTo>
                  <a:close/>
                </a:path>
              </a:pathLst>
            </a:custGeom>
            <a:solidFill>
              <a:srgbClr val="F6E3F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56724" cy="1221746"/>
            </a:xfrm>
            <a:prstGeom prst="rect">
              <a:avLst/>
            </a:prstGeom>
          </p:spPr>
          <p:txBody>
            <a:bodyPr anchor="ctr" rtlCol="false" tIns="61383" lIns="61383" bIns="61383" rIns="6138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474839" y="5273912"/>
            <a:ext cx="3604946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AI Capabilities</a:t>
            </a:r>
            <a:r>
              <a:rPr lang="en-US" b="true" sz="27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 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442679" y="3837612"/>
            <a:ext cx="1365211" cy="1483925"/>
          </a:xfrm>
          <a:custGeom>
            <a:avLst/>
            <a:gdLst/>
            <a:ahLst/>
            <a:cxnLst/>
            <a:rect r="r" b="b" t="t" l="l"/>
            <a:pathLst>
              <a:path h="1483925" w="1365211">
                <a:moveTo>
                  <a:pt x="0" y="0"/>
                </a:moveTo>
                <a:lnTo>
                  <a:pt x="1365211" y="0"/>
                </a:lnTo>
                <a:lnTo>
                  <a:pt x="1365211" y="1483925"/>
                </a:lnTo>
                <a:lnTo>
                  <a:pt x="0" y="1483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568226" y="5729329"/>
            <a:ext cx="3174074" cy="3320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446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OCR </a:t>
            </a:r>
          </a:p>
          <a:p>
            <a:pPr algn="just" marL="474979" indent="-237490" lvl="1">
              <a:lnSpc>
                <a:spcPts val="446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TTS Audio Feedback </a:t>
            </a:r>
          </a:p>
          <a:p>
            <a:pPr algn="just" marL="474979" indent="-237490" lvl="1">
              <a:lnSpc>
                <a:spcPts val="446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Face Recognition</a:t>
            </a:r>
          </a:p>
          <a:p>
            <a:pPr algn="just" marL="474979" indent="-237490" lvl="1">
              <a:lnSpc>
                <a:spcPts val="446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Color Detection </a:t>
            </a:r>
          </a:p>
          <a:p>
            <a:pPr algn="just" marL="474979" indent="-237490" lvl="1">
              <a:lnSpc>
                <a:spcPts val="4465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Currency Identification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13353" y="5824360"/>
            <a:ext cx="3244110" cy="2574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52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Audio-first</a:t>
            </a: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design</a:t>
            </a:r>
          </a:p>
          <a:p>
            <a:pPr algn="just" marL="539748" indent="-269874" lvl="1">
              <a:lnSpc>
                <a:spcPts val="52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Voice commands</a:t>
            </a:r>
          </a:p>
          <a:p>
            <a:pPr algn="just" marL="539748" indent="-269874" lvl="1">
              <a:lnSpc>
                <a:spcPts val="52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TalkBack compatible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98449" y="6169166"/>
            <a:ext cx="2916052" cy="277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717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Da</a:t>
            </a: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ta</a:t>
            </a: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encryption </a:t>
            </a:r>
          </a:p>
          <a:p>
            <a:pPr algn="just" marL="474979" indent="-237490" lvl="1">
              <a:lnSpc>
                <a:spcPts val="3717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GDPR compliance </a:t>
            </a:r>
          </a:p>
          <a:p>
            <a:pPr algn="just" marL="474979" indent="-237490" lvl="1">
              <a:lnSpc>
                <a:spcPts val="3717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Secure authentication </a:t>
            </a:r>
          </a:p>
          <a:p>
            <a:pPr algn="just" marL="474979" indent="-237490" lvl="1">
              <a:lnSpc>
                <a:spcPts val="3717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GPS  emergency alerts 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1165242" y="3601373"/>
            <a:ext cx="828167" cy="1638671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2588" r="0" b="-2588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094308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LITERATURE REVIEW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20823" y="6946161"/>
            <a:ext cx="5977253" cy="1223324"/>
          </a:xfrm>
          <a:custGeom>
            <a:avLst/>
            <a:gdLst/>
            <a:ahLst/>
            <a:cxnLst/>
            <a:rect r="r" b="b" t="t" l="l"/>
            <a:pathLst>
              <a:path h="1223324" w="5977253">
                <a:moveTo>
                  <a:pt x="0" y="0"/>
                </a:moveTo>
                <a:lnTo>
                  <a:pt x="5977254" y="0"/>
                </a:lnTo>
                <a:lnTo>
                  <a:pt x="5977254" y="1223324"/>
                </a:lnTo>
                <a:lnTo>
                  <a:pt x="0" y="1223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20794" y="3452300"/>
            <a:ext cx="5508574" cy="1357414"/>
          </a:xfrm>
          <a:custGeom>
            <a:avLst/>
            <a:gdLst/>
            <a:ahLst/>
            <a:cxnLst/>
            <a:rect r="r" b="b" t="t" l="l"/>
            <a:pathLst>
              <a:path h="1357414" w="5508574">
                <a:moveTo>
                  <a:pt x="0" y="0"/>
                </a:moveTo>
                <a:lnTo>
                  <a:pt x="5508573" y="0"/>
                </a:lnTo>
                <a:lnTo>
                  <a:pt x="5508573" y="1357414"/>
                </a:lnTo>
                <a:lnTo>
                  <a:pt x="0" y="13574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57600" y="3253575"/>
            <a:ext cx="2482250" cy="1869164"/>
          </a:xfrm>
          <a:custGeom>
            <a:avLst/>
            <a:gdLst/>
            <a:ahLst/>
            <a:cxnLst/>
            <a:rect r="r" b="b" t="t" l="l"/>
            <a:pathLst>
              <a:path h="1869164" w="2482250">
                <a:moveTo>
                  <a:pt x="0" y="0"/>
                </a:moveTo>
                <a:lnTo>
                  <a:pt x="2482250" y="0"/>
                </a:lnTo>
                <a:lnTo>
                  <a:pt x="2482250" y="1869164"/>
                </a:lnTo>
                <a:lnTo>
                  <a:pt x="0" y="18691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58477" y="3054850"/>
            <a:ext cx="2584406" cy="1869164"/>
          </a:xfrm>
          <a:custGeom>
            <a:avLst/>
            <a:gdLst/>
            <a:ahLst/>
            <a:cxnLst/>
            <a:rect r="r" b="b" t="t" l="l"/>
            <a:pathLst>
              <a:path h="1869164" w="2584406">
                <a:moveTo>
                  <a:pt x="0" y="0"/>
                </a:moveTo>
                <a:lnTo>
                  <a:pt x="2584405" y="0"/>
                </a:lnTo>
                <a:lnTo>
                  <a:pt x="2584405" y="1869164"/>
                </a:lnTo>
                <a:lnTo>
                  <a:pt x="0" y="18691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365450" y="6946161"/>
            <a:ext cx="4431969" cy="1223324"/>
          </a:xfrm>
          <a:custGeom>
            <a:avLst/>
            <a:gdLst/>
            <a:ahLst/>
            <a:cxnLst/>
            <a:rect r="r" b="b" t="t" l="l"/>
            <a:pathLst>
              <a:path h="1223324" w="4431969">
                <a:moveTo>
                  <a:pt x="0" y="0"/>
                </a:moveTo>
                <a:lnTo>
                  <a:pt x="4431969" y="0"/>
                </a:lnTo>
                <a:lnTo>
                  <a:pt x="4431969" y="1223324"/>
                </a:lnTo>
                <a:lnTo>
                  <a:pt x="0" y="12233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9391" r="0" b="-1939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54725" y="5077685"/>
            <a:ext cx="5778550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</a:t>
            </a:r>
            <a:r>
              <a:rPr lang="en-US" b="true" sz="28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rCam MyEye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2286" y="8158478"/>
            <a:ext cx="5778550" cy="47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Envision Glasses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09450" y="5139792"/>
            <a:ext cx="5778550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</a:t>
            </a:r>
            <a:r>
              <a:rPr lang="en-US" b="true" sz="27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icrosoft Seeing 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6175" y="5074192"/>
            <a:ext cx="5778550" cy="514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NuEye</a:t>
            </a:r>
            <a:r>
              <a:rPr lang="en-US" b="true" sz="29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 Smart Glasses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50241" y="8196578"/>
            <a:ext cx="5778550" cy="9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sm</a:t>
            </a: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art Vision Glasses (SHG)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075524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LITERATURE REVIEW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12011" y="1905277"/>
            <a:ext cx="7868800" cy="8495331"/>
          </a:xfrm>
          <a:custGeom>
            <a:avLst/>
            <a:gdLst/>
            <a:ahLst/>
            <a:cxnLst/>
            <a:rect r="r" b="b" t="t" l="l"/>
            <a:pathLst>
              <a:path h="8495331" w="7868800">
                <a:moveTo>
                  <a:pt x="0" y="0"/>
                </a:moveTo>
                <a:lnTo>
                  <a:pt x="7868801" y="0"/>
                </a:lnTo>
                <a:lnTo>
                  <a:pt x="7868801" y="8495331"/>
                </a:lnTo>
                <a:lnTo>
                  <a:pt x="0" y="84953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1299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031234" y="5808790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5922" y="280473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23129" y="4249932"/>
            <a:ext cx="13041742" cy="1539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785"/>
              </a:lnSpc>
            </a:pPr>
            <a:r>
              <a:rPr lang="en-US" b="true" sz="8523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System Requirements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287473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Users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21988" y="3372215"/>
            <a:ext cx="2519736" cy="2217368"/>
          </a:xfrm>
          <a:custGeom>
            <a:avLst/>
            <a:gdLst/>
            <a:ahLst/>
            <a:cxnLst/>
            <a:rect r="r" b="b" t="t" l="l"/>
            <a:pathLst>
              <a:path h="2217368" w="2519736">
                <a:moveTo>
                  <a:pt x="0" y="0"/>
                </a:moveTo>
                <a:lnTo>
                  <a:pt x="2519736" y="0"/>
                </a:lnTo>
                <a:lnTo>
                  <a:pt x="2519736" y="2217367"/>
                </a:lnTo>
                <a:lnTo>
                  <a:pt x="0" y="22173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35417" y="3252644"/>
            <a:ext cx="2513052" cy="2456508"/>
          </a:xfrm>
          <a:custGeom>
            <a:avLst/>
            <a:gdLst/>
            <a:ahLst/>
            <a:cxnLst/>
            <a:rect r="r" b="b" t="t" l="l"/>
            <a:pathLst>
              <a:path h="2456508" w="2513052">
                <a:moveTo>
                  <a:pt x="0" y="0"/>
                </a:moveTo>
                <a:lnTo>
                  <a:pt x="2513052" y="0"/>
                </a:lnTo>
                <a:lnTo>
                  <a:pt x="2513052" y="2456509"/>
                </a:lnTo>
                <a:lnTo>
                  <a:pt x="0" y="24565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41853" y="6352053"/>
            <a:ext cx="686454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Primary Users: </a:t>
            </a:r>
            <a:r>
              <a:rPr lang="en-US" sz="2700" i="true">
                <a:solidFill>
                  <a:srgbClr val="681D6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Blind &amp; Visually Impaired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63629" y="6352053"/>
            <a:ext cx="6411813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Second</a:t>
            </a:r>
            <a:r>
              <a:rPr lang="en-US" b="true" sz="27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ary Users: </a:t>
            </a:r>
            <a:r>
              <a:rPr lang="en-US" sz="2700" i="true">
                <a:solidFill>
                  <a:srgbClr val="681D6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Caregivers &amp; Family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6930" y="7103226"/>
            <a:ext cx="9229588" cy="201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5549"/>
              </a:lnSpc>
              <a:buFont typeface="Arial"/>
              <a:buChar char="•"/>
            </a:pP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</a:t>
            </a: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Diverse ages and educational backgrounds</a:t>
            </a:r>
          </a:p>
          <a:p>
            <a:pPr algn="l" marL="539748" indent="-269874" lvl="1">
              <a:lnSpc>
                <a:spcPts val="5549"/>
              </a:lnSpc>
              <a:buFont typeface="Arial"/>
              <a:buChar char="•"/>
            </a:pP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Beginner to advanced smartphone users</a:t>
            </a:r>
          </a:p>
          <a:p>
            <a:pPr algn="l" marL="539748" indent="-269874" lvl="1">
              <a:lnSpc>
                <a:spcPts val="5549"/>
              </a:lnSpc>
              <a:buFont typeface="Arial"/>
              <a:buChar char="•"/>
            </a:pP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May use screen readers or basic calling/texting only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3629" y="7074651"/>
            <a:ext cx="7441525" cy="1393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5824"/>
              </a:lnSpc>
              <a:buFont typeface="Arial"/>
              <a:buChar char="•"/>
            </a:pP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Support p</a:t>
            </a: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rimary users with daily tasks </a:t>
            </a:r>
          </a:p>
          <a:p>
            <a:pPr algn="l" marL="539748" indent="-269874" lvl="1">
              <a:lnSpc>
                <a:spcPts val="5824"/>
              </a:lnSpc>
              <a:buFont typeface="Arial"/>
              <a:buChar char="•"/>
            </a:pP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Receive emergency GPS notifications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Use Case Diagram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6555" y="1905277"/>
            <a:ext cx="15011780" cy="8444126"/>
          </a:xfrm>
          <a:custGeom>
            <a:avLst/>
            <a:gdLst/>
            <a:ahLst/>
            <a:cxnLst/>
            <a:rect r="r" b="b" t="t" l="l"/>
            <a:pathLst>
              <a:path h="8444126" w="15011780">
                <a:moveTo>
                  <a:pt x="0" y="0"/>
                </a:moveTo>
                <a:lnTo>
                  <a:pt x="15011780" y="0"/>
                </a:lnTo>
                <a:lnTo>
                  <a:pt x="15011780" y="8444126"/>
                </a:lnTo>
                <a:lnTo>
                  <a:pt x="0" y="8444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1299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031234" y="5808790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5922" y="280473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23129" y="4249932"/>
            <a:ext cx="13041742" cy="1539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785"/>
              </a:lnSpc>
            </a:pPr>
            <a:r>
              <a:rPr lang="en-US" b="true" sz="8523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39676" y="6060545"/>
            <a:ext cx="3008648" cy="441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</a:pPr>
            <a:r>
              <a:rPr lang="en-US" sz="2400" i="true">
                <a:solidFill>
                  <a:srgbClr val="681D6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For Release 2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05013" y="5426121"/>
            <a:ext cx="1130977" cy="1091962"/>
            <a:chOff x="0" y="0"/>
            <a:chExt cx="1507970" cy="14559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55949"/>
              <a:chOff x="0" y="0"/>
              <a:chExt cx="812800" cy="78476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84761"/>
              </a:xfrm>
              <a:custGeom>
                <a:avLst/>
                <a:gdLst/>
                <a:ahLst/>
                <a:cxnLst/>
                <a:rect r="r" b="b" t="t" l="l"/>
                <a:pathLst>
                  <a:path h="784761" w="812800">
                    <a:moveTo>
                      <a:pt x="406400" y="0"/>
                    </a:moveTo>
                    <a:cubicBezTo>
                      <a:pt x="181951" y="0"/>
                      <a:pt x="0" y="175675"/>
                      <a:pt x="0" y="392380"/>
                    </a:cubicBezTo>
                    <a:cubicBezTo>
                      <a:pt x="0" y="609086"/>
                      <a:pt x="181951" y="784761"/>
                      <a:pt x="406400" y="784761"/>
                    </a:cubicBezTo>
                    <a:cubicBezTo>
                      <a:pt x="630849" y="784761"/>
                      <a:pt x="812800" y="609086"/>
                      <a:pt x="812800" y="392380"/>
                    </a:cubicBezTo>
                    <a:cubicBezTo>
                      <a:pt x="812800" y="17567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6421"/>
                <a:ext cx="660400" cy="6947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68260"/>
              <a:ext cx="101667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GP-9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620195" y="2204291"/>
            <a:ext cx="4003298" cy="7535621"/>
          </a:xfrm>
          <a:custGeom>
            <a:avLst/>
            <a:gdLst/>
            <a:ahLst/>
            <a:cxnLst/>
            <a:rect r="r" b="b" t="t" l="l"/>
            <a:pathLst>
              <a:path h="7535621" w="4003298">
                <a:moveTo>
                  <a:pt x="0" y="0"/>
                </a:moveTo>
                <a:lnTo>
                  <a:pt x="4003299" y="0"/>
                </a:lnTo>
                <a:lnTo>
                  <a:pt x="4003299" y="7535621"/>
                </a:lnTo>
                <a:lnTo>
                  <a:pt x="0" y="753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23682" y="5400602"/>
            <a:ext cx="863124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Add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 person’s face and name, so that the system can later recognize and identify them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GP-10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678942" y="2477659"/>
            <a:ext cx="3629588" cy="6946580"/>
          </a:xfrm>
          <a:custGeom>
            <a:avLst/>
            <a:gdLst/>
            <a:ahLst/>
            <a:cxnLst/>
            <a:rect r="r" b="b" t="t" l="l"/>
            <a:pathLst>
              <a:path h="6946580" w="3629588">
                <a:moveTo>
                  <a:pt x="0" y="0"/>
                </a:moveTo>
                <a:lnTo>
                  <a:pt x="3629588" y="0"/>
                </a:lnTo>
                <a:lnTo>
                  <a:pt x="3629588" y="6946580"/>
                </a:lnTo>
                <a:lnTo>
                  <a:pt x="0" y="69465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863124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Edit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the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details of stored faces so that I can keep the information updated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GP-11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820220" y="2477659"/>
            <a:ext cx="3542885" cy="6780641"/>
          </a:xfrm>
          <a:custGeom>
            <a:avLst/>
            <a:gdLst/>
            <a:ahLst/>
            <a:cxnLst/>
            <a:rect r="r" b="b" t="t" l="l"/>
            <a:pathLst>
              <a:path h="6780641" w="3542885">
                <a:moveTo>
                  <a:pt x="0" y="0"/>
                </a:moveTo>
                <a:lnTo>
                  <a:pt x="3542885" y="0"/>
                </a:lnTo>
                <a:lnTo>
                  <a:pt x="3542885" y="6780641"/>
                </a:lnTo>
                <a:lnTo>
                  <a:pt x="0" y="6780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863124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Delete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previously registered faces, so that the database remains accurate and up to date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GP-12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820220" y="2541326"/>
            <a:ext cx="3838163" cy="6793208"/>
          </a:xfrm>
          <a:custGeom>
            <a:avLst/>
            <a:gdLst/>
            <a:ahLst/>
            <a:cxnLst/>
            <a:rect r="r" b="b" t="t" l="l"/>
            <a:pathLst>
              <a:path h="6793208" w="3838163">
                <a:moveTo>
                  <a:pt x="0" y="0"/>
                </a:moveTo>
                <a:lnTo>
                  <a:pt x="3838163" y="0"/>
                </a:lnTo>
                <a:lnTo>
                  <a:pt x="3838163" y="6793209"/>
                </a:lnTo>
                <a:lnTo>
                  <a:pt x="0" y="6793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863124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Search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for a stored person by name, so that I can easily find and manage them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GP-13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832532" y="2541326"/>
            <a:ext cx="3543204" cy="6716974"/>
          </a:xfrm>
          <a:custGeom>
            <a:avLst/>
            <a:gdLst/>
            <a:ahLst/>
            <a:cxnLst/>
            <a:rect r="r" b="b" t="t" l="l"/>
            <a:pathLst>
              <a:path h="6716974" w="3543204">
                <a:moveTo>
                  <a:pt x="0" y="0"/>
                </a:moveTo>
                <a:lnTo>
                  <a:pt x="3543204" y="0"/>
                </a:lnTo>
                <a:lnTo>
                  <a:pt x="3543204" y="6716974"/>
                </a:lnTo>
                <a:lnTo>
                  <a:pt x="0" y="6716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Create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reminders with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a title, date, time, and frequency, so that I receive notifications at the right time on my phone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GP-14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820220" y="2498801"/>
            <a:ext cx="3481984" cy="6946602"/>
          </a:xfrm>
          <a:custGeom>
            <a:avLst/>
            <a:gdLst/>
            <a:ahLst/>
            <a:cxnLst/>
            <a:rect r="r" b="b" t="t" l="l"/>
            <a:pathLst>
              <a:path h="6946602" w="3481984">
                <a:moveTo>
                  <a:pt x="0" y="0"/>
                </a:moveTo>
                <a:lnTo>
                  <a:pt x="3481985" y="0"/>
                </a:lnTo>
                <a:lnTo>
                  <a:pt x="3481985" y="6946602"/>
                </a:lnTo>
                <a:lnTo>
                  <a:pt x="0" y="6946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Edit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exis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ting reminders, so that I can update them when my plans change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GP-15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820220" y="2592352"/>
            <a:ext cx="3345952" cy="6759499"/>
          </a:xfrm>
          <a:custGeom>
            <a:avLst/>
            <a:gdLst/>
            <a:ahLst/>
            <a:cxnLst/>
            <a:rect r="r" b="b" t="t" l="l"/>
            <a:pathLst>
              <a:path h="6759499" w="3345952">
                <a:moveTo>
                  <a:pt x="0" y="0"/>
                </a:moveTo>
                <a:lnTo>
                  <a:pt x="3345953" y="0"/>
                </a:lnTo>
                <a:lnTo>
                  <a:pt x="3345953" y="6759499"/>
                </a:lnTo>
                <a:lnTo>
                  <a:pt x="0" y="6759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Delete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reminders, so that I can keep my reminder list organized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GP-16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595770" y="2558181"/>
            <a:ext cx="3570402" cy="6759499"/>
          </a:xfrm>
          <a:custGeom>
            <a:avLst/>
            <a:gdLst/>
            <a:ahLst/>
            <a:cxnLst/>
            <a:rect r="r" b="b" t="t" l="l"/>
            <a:pathLst>
              <a:path h="6759499" w="3570402">
                <a:moveTo>
                  <a:pt x="0" y="0"/>
                </a:moveTo>
                <a:lnTo>
                  <a:pt x="3570403" y="0"/>
                </a:lnTo>
                <a:lnTo>
                  <a:pt x="3570403" y="6759499"/>
                </a:lnTo>
                <a:lnTo>
                  <a:pt x="0" y="6759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Filter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reminders by date, so that I can quickly find a specific reminder.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GP-17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757376" y="2558181"/>
            <a:ext cx="3408797" cy="6651310"/>
          </a:xfrm>
          <a:custGeom>
            <a:avLst/>
            <a:gdLst/>
            <a:ahLst/>
            <a:cxnLst/>
            <a:rect r="r" b="b" t="t" l="l"/>
            <a:pathLst>
              <a:path h="6651310" w="3408797">
                <a:moveTo>
                  <a:pt x="0" y="0"/>
                </a:moveTo>
                <a:lnTo>
                  <a:pt x="3408797" y="0"/>
                </a:lnTo>
                <a:lnTo>
                  <a:pt x="3408797" y="6651310"/>
                </a:lnTo>
                <a:lnTo>
                  <a:pt x="0" y="6651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Add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emergency contacts so that they are notified when I trigger the SOS alert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GP-18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85647" y="2610853"/>
            <a:ext cx="3144512" cy="6504175"/>
          </a:xfrm>
          <a:custGeom>
            <a:avLst/>
            <a:gdLst/>
            <a:ahLst/>
            <a:cxnLst/>
            <a:rect r="r" b="b" t="t" l="l"/>
            <a:pathLst>
              <a:path h="6504175" w="3144512">
                <a:moveTo>
                  <a:pt x="0" y="0"/>
                </a:moveTo>
                <a:lnTo>
                  <a:pt x="3144512" y="0"/>
                </a:lnTo>
                <a:lnTo>
                  <a:pt x="3144512" y="6504175"/>
                </a:lnTo>
                <a:lnTo>
                  <a:pt x="0" y="6504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564" t="-6957" r="-16438" b="-7356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Edit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existing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emergency contacts, so that I can keep their information accurate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GP-19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820220" y="2477659"/>
            <a:ext cx="3681977" cy="7184344"/>
          </a:xfrm>
          <a:custGeom>
            <a:avLst/>
            <a:gdLst/>
            <a:ahLst/>
            <a:cxnLst/>
            <a:rect r="r" b="b" t="t" l="l"/>
            <a:pathLst>
              <a:path h="7184344" w="3681977">
                <a:moveTo>
                  <a:pt x="0" y="0"/>
                </a:moveTo>
                <a:lnTo>
                  <a:pt x="3681977" y="0"/>
                </a:lnTo>
                <a:lnTo>
                  <a:pt x="3681977" y="7184345"/>
                </a:lnTo>
                <a:lnTo>
                  <a:pt x="0" y="7184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Delete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an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emergency contact, so that my emergency list stays up to date and relevant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GP-20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820220" y="2759452"/>
            <a:ext cx="3511673" cy="6902552"/>
          </a:xfrm>
          <a:custGeom>
            <a:avLst/>
            <a:gdLst/>
            <a:ahLst/>
            <a:cxnLst/>
            <a:rect r="r" b="b" t="t" l="l"/>
            <a:pathLst>
              <a:path h="6902552" w="3511673">
                <a:moveTo>
                  <a:pt x="0" y="0"/>
                </a:moveTo>
                <a:lnTo>
                  <a:pt x="3511674" y="0"/>
                </a:lnTo>
                <a:lnTo>
                  <a:pt x="3511674" y="6902552"/>
                </a:lnTo>
                <a:lnTo>
                  <a:pt x="0" y="69025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Use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the mobile app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camera to recognize faces and hear the person’s name spoken aloud, so that I can easily identify people around me when I use my phone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GP-21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820220" y="2901342"/>
            <a:ext cx="3540897" cy="6760662"/>
          </a:xfrm>
          <a:custGeom>
            <a:avLst/>
            <a:gdLst/>
            <a:ahLst/>
            <a:cxnLst/>
            <a:rect r="r" b="b" t="t" l="l"/>
            <a:pathLst>
              <a:path h="6760662" w="3540897">
                <a:moveTo>
                  <a:pt x="0" y="0"/>
                </a:moveTo>
                <a:lnTo>
                  <a:pt x="3540897" y="0"/>
                </a:lnTo>
                <a:lnTo>
                  <a:pt x="3540897" y="6760662"/>
                </a:lnTo>
                <a:lnTo>
                  <a:pt x="0" y="67606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Capture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or upload an image with the mobile app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camera and have the 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text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read aloud, so that I can easily understand printed content on my phone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GP-22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820220" y="2543377"/>
            <a:ext cx="3870957" cy="7390849"/>
          </a:xfrm>
          <a:custGeom>
            <a:avLst/>
            <a:gdLst/>
            <a:ahLst/>
            <a:cxnLst/>
            <a:rect r="r" b="b" t="t" l="l"/>
            <a:pathLst>
              <a:path h="7390849" w="3870957">
                <a:moveTo>
                  <a:pt x="0" y="0"/>
                </a:moveTo>
                <a:lnTo>
                  <a:pt x="3870958" y="0"/>
                </a:lnTo>
                <a:lnTo>
                  <a:pt x="3870958" y="7390849"/>
                </a:lnTo>
                <a:lnTo>
                  <a:pt x="0" y="73908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Capture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or upload an image of a Saudi 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currency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with the mobile app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camera and hear its denomination announced aloud, so that I can easily know its value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GP-23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79896" y="2896151"/>
            <a:ext cx="3551607" cy="7032884"/>
          </a:xfrm>
          <a:custGeom>
            <a:avLst/>
            <a:gdLst/>
            <a:ahLst/>
            <a:cxnLst/>
            <a:rect r="r" b="b" t="t" l="l"/>
            <a:pathLst>
              <a:path h="7032884" w="3551607">
                <a:moveTo>
                  <a:pt x="0" y="0"/>
                </a:moveTo>
                <a:lnTo>
                  <a:pt x="3551606" y="0"/>
                </a:lnTo>
                <a:lnTo>
                  <a:pt x="3551606" y="7032884"/>
                </a:lnTo>
                <a:lnTo>
                  <a:pt x="0" y="7032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Scan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objects with the mobile app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camera and hear the object's name and details such as its color spoken aloud, so that I can identify objects using my phone.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GP-24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79896" y="2901342"/>
            <a:ext cx="3566554" cy="7027693"/>
          </a:xfrm>
          <a:custGeom>
            <a:avLst/>
            <a:gdLst/>
            <a:ahLst/>
            <a:cxnLst/>
            <a:rect r="r" b="b" t="t" l="l"/>
            <a:pathLst>
              <a:path h="7027693" w="3566554">
                <a:moveTo>
                  <a:pt x="0" y="0"/>
                </a:moveTo>
                <a:lnTo>
                  <a:pt x="3566554" y="0"/>
                </a:lnTo>
                <a:lnTo>
                  <a:pt x="3566554" y="7027693"/>
                </a:lnTo>
                <a:lnTo>
                  <a:pt x="0" y="70276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Scan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my surrounding environment using the mobile app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camera and hear a spoken description of the scene, so that I can better understand my surroundings independently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GP-25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79896" y="2896151"/>
            <a:ext cx="3437322" cy="7032884"/>
            <a:chOff x="0" y="0"/>
            <a:chExt cx="4583096" cy="93771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3096" cy="9377179"/>
            </a:xfrm>
            <a:custGeom>
              <a:avLst/>
              <a:gdLst/>
              <a:ahLst/>
              <a:cxnLst/>
              <a:rect r="r" b="b" t="t" l="l"/>
              <a:pathLst>
                <a:path h="9377179" w="4583096">
                  <a:moveTo>
                    <a:pt x="0" y="0"/>
                  </a:moveTo>
                  <a:lnTo>
                    <a:pt x="4583096" y="0"/>
                  </a:lnTo>
                  <a:lnTo>
                    <a:pt x="4583096" y="9377179"/>
                  </a:lnTo>
                  <a:lnTo>
                    <a:pt x="0" y="9377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18543" y="1251670"/>
              <a:ext cx="1590598" cy="571784"/>
            </a:xfrm>
            <a:custGeom>
              <a:avLst/>
              <a:gdLst/>
              <a:ahLst/>
              <a:cxnLst/>
              <a:rect r="r" b="b" t="t" l="l"/>
              <a:pathLst>
                <a:path h="571784" w="1590598">
                  <a:moveTo>
                    <a:pt x="0" y="0"/>
                  </a:moveTo>
                  <a:lnTo>
                    <a:pt x="1590598" y="0"/>
                  </a:lnTo>
                  <a:lnTo>
                    <a:pt x="1590598" y="571783"/>
                  </a:lnTo>
                  <a:lnTo>
                    <a:pt x="0" y="571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70540" y="5400602"/>
            <a:ext cx="975091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Trigger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an SOS that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shares my real-time location via SMS, so that my emergency contacts can reach me quickly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GP-26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34781" y="2901342"/>
            <a:ext cx="3553777" cy="7019807"/>
          </a:xfrm>
          <a:custGeom>
            <a:avLst/>
            <a:gdLst/>
            <a:ahLst/>
            <a:cxnLst/>
            <a:rect r="r" b="b" t="t" l="l"/>
            <a:pathLst>
              <a:path h="7019807" w="3553777">
                <a:moveTo>
                  <a:pt x="0" y="0"/>
                </a:moveTo>
                <a:lnTo>
                  <a:pt x="3553777" y="0"/>
                </a:lnTo>
                <a:lnTo>
                  <a:pt x="3553777" y="7019806"/>
                </a:lnTo>
                <a:lnTo>
                  <a:pt x="0" y="70198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75091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Connect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or disconnect my smart glasses via Bluetooth, so that the application can manage the connection when needed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GP-27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34781" y="2997917"/>
            <a:ext cx="3601061" cy="6826656"/>
          </a:xfrm>
          <a:custGeom>
            <a:avLst/>
            <a:gdLst/>
            <a:ahLst/>
            <a:cxnLst/>
            <a:rect r="r" b="b" t="t" l="l"/>
            <a:pathLst>
              <a:path h="6826656" w="3601061">
                <a:moveTo>
                  <a:pt x="0" y="0"/>
                </a:moveTo>
                <a:lnTo>
                  <a:pt x="3601061" y="0"/>
                </a:lnTo>
                <a:lnTo>
                  <a:pt x="3601061" y="6826656"/>
                </a:lnTo>
                <a:lnTo>
                  <a:pt x="0" y="6826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92411" y="7954636"/>
            <a:ext cx="4042370" cy="1303664"/>
          </a:xfrm>
          <a:custGeom>
            <a:avLst/>
            <a:gdLst/>
            <a:ahLst/>
            <a:cxnLst/>
            <a:rect r="r" b="b" t="t" l="l"/>
            <a:pathLst>
              <a:path h="1303664" w="4042370">
                <a:moveTo>
                  <a:pt x="0" y="0"/>
                </a:moveTo>
                <a:lnTo>
                  <a:pt x="4042370" y="0"/>
                </a:lnTo>
                <a:lnTo>
                  <a:pt x="4042370" y="1303664"/>
                </a:lnTo>
                <a:lnTo>
                  <a:pt x="0" y="1303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70540" y="5400602"/>
            <a:ext cx="9750919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U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the smart glasses camera to 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recognize faces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and hear the person’s name announced in real time, so that I can instantly know who is around me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GP-28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34781" y="3037653"/>
            <a:ext cx="3506918" cy="6859497"/>
          </a:xfrm>
          <a:custGeom>
            <a:avLst/>
            <a:gdLst/>
            <a:ahLst/>
            <a:cxnLst/>
            <a:rect r="r" b="b" t="t" l="l"/>
            <a:pathLst>
              <a:path h="6859497" w="3506918">
                <a:moveTo>
                  <a:pt x="0" y="0"/>
                </a:moveTo>
                <a:lnTo>
                  <a:pt x="3506918" y="0"/>
                </a:lnTo>
                <a:lnTo>
                  <a:pt x="3506918" y="6859497"/>
                </a:lnTo>
                <a:lnTo>
                  <a:pt x="0" y="68594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92411" y="7954636"/>
            <a:ext cx="4042370" cy="1303664"/>
          </a:xfrm>
          <a:custGeom>
            <a:avLst/>
            <a:gdLst/>
            <a:ahLst/>
            <a:cxnLst/>
            <a:rect r="r" b="b" t="t" l="l"/>
            <a:pathLst>
              <a:path h="1303664" w="4042370">
                <a:moveTo>
                  <a:pt x="0" y="0"/>
                </a:moveTo>
                <a:lnTo>
                  <a:pt x="4042370" y="0"/>
                </a:lnTo>
                <a:lnTo>
                  <a:pt x="4042370" y="1303664"/>
                </a:lnTo>
                <a:lnTo>
                  <a:pt x="0" y="1303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70540" y="5400602"/>
            <a:ext cx="9750919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U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the smart glasses camera to capture  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text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and hear it read aloud instantly, so that I can understand written content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GP-29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34781" y="2997917"/>
            <a:ext cx="3454890" cy="6757731"/>
          </a:xfrm>
          <a:custGeom>
            <a:avLst/>
            <a:gdLst/>
            <a:ahLst/>
            <a:cxnLst/>
            <a:rect r="r" b="b" t="t" l="l"/>
            <a:pathLst>
              <a:path h="6757731" w="3454890">
                <a:moveTo>
                  <a:pt x="0" y="0"/>
                </a:moveTo>
                <a:lnTo>
                  <a:pt x="3454890" y="0"/>
                </a:lnTo>
                <a:lnTo>
                  <a:pt x="3454890" y="6757731"/>
                </a:lnTo>
                <a:lnTo>
                  <a:pt x="0" y="67577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92411" y="7954636"/>
            <a:ext cx="4042370" cy="1303664"/>
          </a:xfrm>
          <a:custGeom>
            <a:avLst/>
            <a:gdLst/>
            <a:ahLst/>
            <a:cxnLst/>
            <a:rect r="r" b="b" t="t" l="l"/>
            <a:pathLst>
              <a:path h="1303664" w="4042370">
                <a:moveTo>
                  <a:pt x="0" y="0"/>
                </a:moveTo>
                <a:lnTo>
                  <a:pt x="4042370" y="0"/>
                </a:lnTo>
                <a:lnTo>
                  <a:pt x="4042370" y="1303664"/>
                </a:lnTo>
                <a:lnTo>
                  <a:pt x="0" y="1303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934781" y="3027410"/>
            <a:ext cx="3525992" cy="6879984"/>
          </a:xfrm>
          <a:custGeom>
            <a:avLst/>
            <a:gdLst/>
            <a:ahLst/>
            <a:cxnLst/>
            <a:rect r="r" b="b" t="t" l="l"/>
            <a:pathLst>
              <a:path h="6879984" w="3525992">
                <a:moveTo>
                  <a:pt x="0" y="0"/>
                </a:moveTo>
                <a:lnTo>
                  <a:pt x="3525991" y="0"/>
                </a:lnTo>
                <a:lnTo>
                  <a:pt x="3525991" y="6879984"/>
                </a:lnTo>
                <a:lnTo>
                  <a:pt x="0" y="68799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70540" y="5400602"/>
            <a:ext cx="999246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U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the smart glasses camera to identify 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Saudi currency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and hear their denomination spoken instantly, so that I can know its value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GP-30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34781" y="2997917"/>
            <a:ext cx="3454890" cy="6757731"/>
          </a:xfrm>
          <a:custGeom>
            <a:avLst/>
            <a:gdLst/>
            <a:ahLst/>
            <a:cxnLst/>
            <a:rect r="r" b="b" t="t" l="l"/>
            <a:pathLst>
              <a:path h="6757731" w="3454890">
                <a:moveTo>
                  <a:pt x="0" y="0"/>
                </a:moveTo>
                <a:lnTo>
                  <a:pt x="3454890" y="0"/>
                </a:lnTo>
                <a:lnTo>
                  <a:pt x="3454890" y="6757731"/>
                </a:lnTo>
                <a:lnTo>
                  <a:pt x="0" y="67577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92411" y="7954636"/>
            <a:ext cx="4042370" cy="1303664"/>
          </a:xfrm>
          <a:custGeom>
            <a:avLst/>
            <a:gdLst/>
            <a:ahLst/>
            <a:cxnLst/>
            <a:rect r="r" b="b" t="t" l="l"/>
            <a:pathLst>
              <a:path h="1303664" w="4042370">
                <a:moveTo>
                  <a:pt x="0" y="0"/>
                </a:moveTo>
                <a:lnTo>
                  <a:pt x="4042370" y="0"/>
                </a:lnTo>
                <a:lnTo>
                  <a:pt x="4042370" y="1303664"/>
                </a:lnTo>
                <a:lnTo>
                  <a:pt x="0" y="1303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934781" y="2997917"/>
            <a:ext cx="3463337" cy="6757731"/>
          </a:xfrm>
          <a:custGeom>
            <a:avLst/>
            <a:gdLst/>
            <a:ahLst/>
            <a:cxnLst/>
            <a:rect r="r" b="b" t="t" l="l"/>
            <a:pathLst>
              <a:path h="6757731" w="3463337">
                <a:moveTo>
                  <a:pt x="0" y="0"/>
                </a:moveTo>
                <a:lnTo>
                  <a:pt x="3463337" y="0"/>
                </a:lnTo>
                <a:lnTo>
                  <a:pt x="3463337" y="6757731"/>
                </a:lnTo>
                <a:lnTo>
                  <a:pt x="0" y="67577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70540" y="5400602"/>
            <a:ext cx="999246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U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the smart glasses camera to detect 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objects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and their colors and hear them announced instantly, so that I can recognize them in real time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GP-31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34781" y="2997917"/>
            <a:ext cx="3558423" cy="6859610"/>
          </a:xfrm>
          <a:custGeom>
            <a:avLst/>
            <a:gdLst/>
            <a:ahLst/>
            <a:cxnLst/>
            <a:rect r="r" b="b" t="t" l="l"/>
            <a:pathLst>
              <a:path h="6859610" w="3558423">
                <a:moveTo>
                  <a:pt x="0" y="0"/>
                </a:moveTo>
                <a:lnTo>
                  <a:pt x="3558422" y="0"/>
                </a:lnTo>
                <a:lnTo>
                  <a:pt x="3558422" y="6859610"/>
                </a:lnTo>
                <a:lnTo>
                  <a:pt x="0" y="685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892411" y="7954636"/>
            <a:ext cx="4042370" cy="1303664"/>
          </a:xfrm>
          <a:custGeom>
            <a:avLst/>
            <a:gdLst/>
            <a:ahLst/>
            <a:cxnLst/>
            <a:rect r="r" b="b" t="t" l="l"/>
            <a:pathLst>
              <a:path h="1303664" w="4042370">
                <a:moveTo>
                  <a:pt x="0" y="0"/>
                </a:moveTo>
                <a:lnTo>
                  <a:pt x="4042370" y="0"/>
                </a:lnTo>
                <a:lnTo>
                  <a:pt x="4042370" y="1303664"/>
                </a:lnTo>
                <a:lnTo>
                  <a:pt x="0" y="1303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70540" y="5400602"/>
            <a:ext cx="9992462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U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the smart glasses camera to scan my surroundings and hear a spoken description of the 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scene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, so that I can better understand my environment in real time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GP-32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42446" y="3027902"/>
            <a:ext cx="3327797" cy="6655594"/>
          </a:xfrm>
          <a:custGeom>
            <a:avLst/>
            <a:gdLst/>
            <a:ahLst/>
            <a:cxnLst/>
            <a:rect r="r" b="b" t="t" l="l"/>
            <a:pathLst>
              <a:path h="6655594" w="3327797">
                <a:moveTo>
                  <a:pt x="0" y="0"/>
                </a:moveTo>
                <a:lnTo>
                  <a:pt x="3327797" y="0"/>
                </a:lnTo>
                <a:lnTo>
                  <a:pt x="3327797" y="6655593"/>
                </a:lnTo>
                <a:lnTo>
                  <a:pt x="0" y="66555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99246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Tr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igger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SOS by saying a wake phrase, so that my emergency contacts receive my location via SMS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892411" y="7954636"/>
            <a:ext cx="4042370" cy="1303664"/>
          </a:xfrm>
          <a:custGeom>
            <a:avLst/>
            <a:gdLst/>
            <a:ahLst/>
            <a:cxnLst/>
            <a:rect r="r" b="b" t="t" l="l"/>
            <a:pathLst>
              <a:path h="1303664" w="4042370">
                <a:moveTo>
                  <a:pt x="0" y="0"/>
                </a:moveTo>
                <a:lnTo>
                  <a:pt x="4042370" y="0"/>
                </a:lnTo>
                <a:lnTo>
                  <a:pt x="4042370" y="1303664"/>
                </a:lnTo>
                <a:lnTo>
                  <a:pt x="0" y="1303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GP-33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28601" y="2901342"/>
            <a:ext cx="3500140" cy="6747259"/>
            <a:chOff x="0" y="0"/>
            <a:chExt cx="4666854" cy="89963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66854" cy="8996345"/>
            </a:xfrm>
            <a:custGeom>
              <a:avLst/>
              <a:gdLst/>
              <a:ahLst/>
              <a:cxnLst/>
              <a:rect r="r" b="b" t="t" l="l"/>
              <a:pathLst>
                <a:path h="8996345" w="4666854">
                  <a:moveTo>
                    <a:pt x="0" y="0"/>
                  </a:moveTo>
                  <a:lnTo>
                    <a:pt x="4666854" y="0"/>
                  </a:lnTo>
                  <a:lnTo>
                    <a:pt x="4666854" y="8996345"/>
                  </a:lnTo>
                  <a:lnTo>
                    <a:pt x="0" y="89963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23121" y="1514698"/>
              <a:ext cx="974238" cy="267682"/>
            </a:xfrm>
            <a:custGeom>
              <a:avLst/>
              <a:gdLst/>
              <a:ahLst/>
              <a:cxnLst/>
              <a:rect r="r" b="b" t="t" l="l"/>
              <a:pathLst>
                <a:path h="267682" w="974238">
                  <a:moveTo>
                    <a:pt x="0" y="0"/>
                  </a:moveTo>
                  <a:lnTo>
                    <a:pt x="974238" y="0"/>
                  </a:lnTo>
                  <a:lnTo>
                    <a:pt x="974238" y="267682"/>
                  </a:lnTo>
                  <a:lnTo>
                    <a:pt x="0" y="267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075" t="-36263" r="-2075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70540" y="5400602"/>
            <a:ext cx="999246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eceive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a notification on my mobile phone when a scheduled reminder time arrives, so that I can be notified on time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GP-33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42446" y="3027902"/>
            <a:ext cx="3327797" cy="6655594"/>
          </a:xfrm>
          <a:custGeom>
            <a:avLst/>
            <a:gdLst/>
            <a:ahLst/>
            <a:cxnLst/>
            <a:rect r="r" b="b" t="t" l="l"/>
            <a:pathLst>
              <a:path h="6655594" w="3327797">
                <a:moveTo>
                  <a:pt x="0" y="0"/>
                </a:moveTo>
                <a:lnTo>
                  <a:pt x="3327797" y="0"/>
                </a:lnTo>
                <a:lnTo>
                  <a:pt x="3327797" y="6655593"/>
                </a:lnTo>
                <a:lnTo>
                  <a:pt x="0" y="66555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46777" y="3177220"/>
            <a:ext cx="3623466" cy="6356958"/>
          </a:xfrm>
          <a:custGeom>
            <a:avLst/>
            <a:gdLst/>
            <a:ahLst/>
            <a:cxnLst/>
            <a:rect r="r" b="b" t="t" l="l"/>
            <a:pathLst>
              <a:path h="6356958" w="3623466">
                <a:moveTo>
                  <a:pt x="0" y="0"/>
                </a:moveTo>
                <a:lnTo>
                  <a:pt x="3623466" y="0"/>
                </a:lnTo>
                <a:lnTo>
                  <a:pt x="362346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239057" y="3409838"/>
            <a:ext cx="2734576" cy="5891721"/>
          </a:xfrm>
          <a:custGeom>
            <a:avLst/>
            <a:gdLst/>
            <a:ahLst/>
            <a:cxnLst/>
            <a:rect r="r" b="b" t="t" l="l"/>
            <a:pathLst>
              <a:path h="5891721" w="2734576">
                <a:moveTo>
                  <a:pt x="0" y="0"/>
                </a:moveTo>
                <a:lnTo>
                  <a:pt x="2734576" y="0"/>
                </a:lnTo>
                <a:lnTo>
                  <a:pt x="2734576" y="5891721"/>
                </a:lnTo>
                <a:lnTo>
                  <a:pt x="0" y="58917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571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130709" y="3482600"/>
            <a:ext cx="951271" cy="185181"/>
          </a:xfrm>
          <a:custGeom>
            <a:avLst/>
            <a:gdLst/>
            <a:ahLst/>
            <a:cxnLst/>
            <a:rect r="r" b="b" t="t" l="l"/>
            <a:pathLst>
              <a:path h="185181" w="951271">
                <a:moveTo>
                  <a:pt x="0" y="0"/>
                </a:moveTo>
                <a:lnTo>
                  <a:pt x="951271" y="0"/>
                </a:lnTo>
                <a:lnTo>
                  <a:pt x="951271" y="185181"/>
                </a:lnTo>
                <a:lnTo>
                  <a:pt x="0" y="1851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70540" y="5400602"/>
            <a:ext cx="10230605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Acc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ess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the User Manual from the footer,so that I can read information about the glasses, how to connect them, how to use them, and troubleshoot issues whenever needed.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GP-34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023262" y="3238998"/>
            <a:ext cx="3341397" cy="6456807"/>
          </a:xfrm>
          <a:custGeom>
            <a:avLst/>
            <a:gdLst/>
            <a:ahLst/>
            <a:cxnLst/>
            <a:rect r="r" b="b" t="t" l="l"/>
            <a:pathLst>
              <a:path h="6456807" w="3341397">
                <a:moveTo>
                  <a:pt x="0" y="0"/>
                </a:moveTo>
                <a:lnTo>
                  <a:pt x="3341397" y="0"/>
                </a:lnTo>
                <a:lnTo>
                  <a:pt x="3341397" y="6456807"/>
                </a:lnTo>
                <a:lnTo>
                  <a:pt x="0" y="64568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99246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hange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the application language from the Settings page,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so that I can use the application in either Arabic or English according to my preference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GP-35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55719" y="3184995"/>
            <a:ext cx="3414639" cy="6448033"/>
          </a:xfrm>
          <a:custGeom>
            <a:avLst/>
            <a:gdLst/>
            <a:ahLst/>
            <a:cxnLst/>
            <a:rect r="r" b="b" t="t" l="l"/>
            <a:pathLst>
              <a:path h="6448033" w="3414639">
                <a:moveTo>
                  <a:pt x="0" y="0"/>
                </a:moveTo>
                <a:lnTo>
                  <a:pt x="3414640" y="0"/>
                </a:lnTo>
                <a:lnTo>
                  <a:pt x="3414640" y="6448032"/>
                </a:lnTo>
                <a:lnTo>
                  <a:pt x="0" y="64480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99246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hange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my account password so that I can protect my account from unauthorized access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GP-36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978469" y="3238887"/>
            <a:ext cx="3401030" cy="6457029"/>
          </a:xfrm>
          <a:custGeom>
            <a:avLst/>
            <a:gdLst/>
            <a:ahLst/>
            <a:cxnLst/>
            <a:rect r="r" b="b" t="t" l="l"/>
            <a:pathLst>
              <a:path h="6457029" w="3401030">
                <a:moveTo>
                  <a:pt x="0" y="0"/>
                </a:moveTo>
                <a:lnTo>
                  <a:pt x="3401030" y="0"/>
                </a:lnTo>
                <a:lnTo>
                  <a:pt x="3401030" y="6457029"/>
                </a:lnTo>
                <a:lnTo>
                  <a:pt x="0" y="64570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99246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ccess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a “Privacy &amp; Security” so that I can understand how my data is stored and protected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GP-37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161278" y="3238887"/>
            <a:ext cx="3218221" cy="6294809"/>
          </a:xfrm>
          <a:custGeom>
            <a:avLst/>
            <a:gdLst/>
            <a:ahLst/>
            <a:cxnLst/>
            <a:rect r="r" b="b" t="t" l="l"/>
            <a:pathLst>
              <a:path h="6294809" w="3218221">
                <a:moveTo>
                  <a:pt x="0" y="0"/>
                </a:moveTo>
                <a:lnTo>
                  <a:pt x="3218221" y="0"/>
                </a:lnTo>
                <a:lnTo>
                  <a:pt x="3218221" y="6294809"/>
                </a:lnTo>
                <a:lnTo>
                  <a:pt x="0" y="6294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Team Member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, I want to..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0540" y="5400602"/>
            <a:ext cx="999246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</a:t>
            </a: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est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notification delivery between the smart glasses and the mobile application, so that I can ensure notifications are received and function correctly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GP-38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70540" y="5400602"/>
            <a:ext cx="999246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Store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my 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captured images  securely in the cloud with encryption, so that my personal data remains private and protected while still being accessible across devices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2077" y="9611401"/>
            <a:ext cx="638502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Non-Functional Requirements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978469" y="3238887"/>
            <a:ext cx="3401030" cy="6457029"/>
          </a:xfrm>
          <a:custGeom>
            <a:avLst/>
            <a:gdLst/>
            <a:ahLst/>
            <a:cxnLst/>
            <a:rect r="r" b="b" t="t" l="l"/>
            <a:pathLst>
              <a:path h="6457029" w="3401030">
                <a:moveTo>
                  <a:pt x="0" y="0"/>
                </a:moveTo>
                <a:lnTo>
                  <a:pt x="3401030" y="0"/>
                </a:lnTo>
                <a:lnTo>
                  <a:pt x="3401030" y="6457029"/>
                </a:lnTo>
                <a:lnTo>
                  <a:pt x="0" y="64570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GP-39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054162" y="3231806"/>
            <a:ext cx="3425641" cy="6436745"/>
            <a:chOff x="0" y="0"/>
            <a:chExt cx="4567522" cy="85823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67522" cy="8582327"/>
            </a:xfrm>
            <a:custGeom>
              <a:avLst/>
              <a:gdLst/>
              <a:ahLst/>
              <a:cxnLst/>
              <a:rect r="r" b="b" t="t" l="l"/>
              <a:pathLst>
                <a:path h="8582327" w="4567522">
                  <a:moveTo>
                    <a:pt x="0" y="0"/>
                  </a:moveTo>
                  <a:lnTo>
                    <a:pt x="4567522" y="0"/>
                  </a:lnTo>
                  <a:lnTo>
                    <a:pt x="4567522" y="8582327"/>
                  </a:lnTo>
                  <a:lnTo>
                    <a:pt x="0" y="8582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48" r="0" b="-2048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65820" y="1116412"/>
              <a:ext cx="966409" cy="317161"/>
            </a:xfrm>
            <a:custGeom>
              <a:avLst/>
              <a:gdLst/>
              <a:ahLst/>
              <a:cxnLst/>
              <a:rect r="r" b="b" t="t" l="l"/>
              <a:pathLst>
                <a:path h="317161" w="966409">
                  <a:moveTo>
                    <a:pt x="0" y="0"/>
                  </a:moveTo>
                  <a:lnTo>
                    <a:pt x="966408" y="0"/>
                  </a:lnTo>
                  <a:lnTo>
                    <a:pt x="966408" y="317161"/>
                  </a:lnTo>
                  <a:lnTo>
                    <a:pt x="0" y="317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70540" y="5400602"/>
            <a:ext cx="999246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Have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a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simple and intuitive application interface, so that I can use it without errors after a short learning period of time.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2077" y="9611401"/>
            <a:ext cx="638502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Non-Functional Requirements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19175" y="5408460"/>
            <a:ext cx="1130977" cy="1058942"/>
            <a:chOff x="0" y="0"/>
            <a:chExt cx="1507970" cy="141192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07970" cy="1411923"/>
              <a:chOff x="0" y="0"/>
              <a:chExt cx="812800" cy="76103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761030"/>
              </a:xfrm>
              <a:custGeom>
                <a:avLst/>
                <a:gdLst/>
                <a:ahLst/>
                <a:cxnLst/>
                <a:rect r="r" b="b" t="t" l="l"/>
                <a:pathLst>
                  <a:path h="761030" w="812800">
                    <a:moveTo>
                      <a:pt x="406400" y="0"/>
                    </a:moveTo>
                    <a:cubicBezTo>
                      <a:pt x="181951" y="0"/>
                      <a:pt x="0" y="170362"/>
                      <a:pt x="0" y="380515"/>
                    </a:cubicBezTo>
                    <a:cubicBezTo>
                      <a:pt x="0" y="590668"/>
                      <a:pt x="181951" y="761030"/>
                      <a:pt x="406400" y="761030"/>
                    </a:cubicBezTo>
                    <a:cubicBezTo>
                      <a:pt x="630849" y="761030"/>
                      <a:pt x="812800" y="590668"/>
                      <a:pt x="812800" y="380515"/>
                    </a:cubicBezTo>
                    <a:cubicBezTo>
                      <a:pt x="812800" y="17036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682261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4197"/>
                <a:ext cx="660400" cy="6754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45648" y="477785"/>
              <a:ext cx="101667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GP-40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701479" y="1845199"/>
            <a:ext cx="2400151" cy="63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Release-2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24802" y="3601106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70540" y="5400602"/>
            <a:ext cx="999246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Receive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clear</a:t>
            </a:r>
            <a:r>
              <a:rPr lang="en-US" sz="3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voice feedback on my mobile phone for smart glasses responses, so that I can easily understand the system's responses without visual assistance.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2077" y="9611401"/>
            <a:ext cx="638502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99578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Non-Functional Requirements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978785" y="3815418"/>
            <a:ext cx="14579930" cy="53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</a:t>
            </a:r>
            <a:r>
              <a:rPr lang="en-US" b="true" sz="3052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</a:t>
            </a:r>
            <a:r>
              <a:rPr lang="en-US" sz="305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” user, I want to..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983601" y="3255222"/>
            <a:ext cx="3278815" cy="6413329"/>
          </a:xfrm>
          <a:custGeom>
            <a:avLst/>
            <a:gdLst/>
            <a:ahLst/>
            <a:cxnLst/>
            <a:rect r="r" b="b" t="t" l="l"/>
            <a:pathLst>
              <a:path h="6413329" w="3278815">
                <a:moveTo>
                  <a:pt x="0" y="0"/>
                </a:moveTo>
                <a:lnTo>
                  <a:pt x="3278814" y="0"/>
                </a:lnTo>
                <a:lnTo>
                  <a:pt x="3278814" y="6413329"/>
                </a:lnTo>
                <a:lnTo>
                  <a:pt x="0" y="64133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892411" y="7954636"/>
            <a:ext cx="4042370" cy="1303664"/>
          </a:xfrm>
          <a:custGeom>
            <a:avLst/>
            <a:gdLst/>
            <a:ahLst/>
            <a:cxnLst/>
            <a:rect r="r" b="b" t="t" l="l"/>
            <a:pathLst>
              <a:path h="1303664" w="4042370">
                <a:moveTo>
                  <a:pt x="0" y="0"/>
                </a:moveTo>
                <a:lnTo>
                  <a:pt x="4042370" y="0"/>
                </a:lnTo>
                <a:lnTo>
                  <a:pt x="4042370" y="1303664"/>
                </a:lnTo>
                <a:lnTo>
                  <a:pt x="0" y="1303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1299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031234" y="5808790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5922" y="280473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29307" y="4155840"/>
            <a:ext cx="4629387" cy="169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082"/>
              </a:lnSpc>
            </a:pPr>
            <a:r>
              <a:rPr lang="en-US" b="true" sz="9388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Design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020922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Architecture Diagram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0613" y="1640335"/>
            <a:ext cx="16686775" cy="9386311"/>
          </a:xfrm>
          <a:custGeom>
            <a:avLst/>
            <a:gdLst/>
            <a:ahLst/>
            <a:cxnLst/>
            <a:rect r="r" b="b" t="t" l="l"/>
            <a:pathLst>
              <a:path h="9386311" w="16686775">
                <a:moveTo>
                  <a:pt x="0" y="0"/>
                </a:moveTo>
                <a:lnTo>
                  <a:pt x="16686774" y="0"/>
                </a:lnTo>
                <a:lnTo>
                  <a:pt x="16686774" y="9386311"/>
                </a:lnTo>
                <a:lnTo>
                  <a:pt x="0" y="9386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020922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Class Diagram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72367" y="1745215"/>
            <a:ext cx="10118803" cy="8651577"/>
          </a:xfrm>
          <a:custGeom>
            <a:avLst/>
            <a:gdLst/>
            <a:ahLst/>
            <a:cxnLst/>
            <a:rect r="r" b="b" t="t" l="l"/>
            <a:pathLst>
              <a:path h="8651577" w="10118803">
                <a:moveTo>
                  <a:pt x="0" y="0"/>
                </a:moveTo>
                <a:lnTo>
                  <a:pt x="10118803" y="0"/>
                </a:lnTo>
                <a:lnTo>
                  <a:pt x="10118803" y="8651577"/>
                </a:lnTo>
                <a:lnTo>
                  <a:pt x="0" y="86515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1299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031234" y="5808790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5922" y="280473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56766" y="4109696"/>
            <a:ext cx="9774469" cy="169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082"/>
              </a:lnSpc>
            </a:pPr>
            <a:r>
              <a:rPr lang="en-US" b="true" sz="9388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Data Design 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020922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ER Diagram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41268" y="2204291"/>
            <a:ext cx="14405463" cy="7688916"/>
          </a:xfrm>
          <a:custGeom>
            <a:avLst/>
            <a:gdLst/>
            <a:ahLst/>
            <a:cxnLst/>
            <a:rect r="r" b="b" t="t" l="l"/>
            <a:pathLst>
              <a:path h="7688916" w="14405463">
                <a:moveTo>
                  <a:pt x="0" y="0"/>
                </a:moveTo>
                <a:lnTo>
                  <a:pt x="14405464" y="0"/>
                </a:lnTo>
                <a:lnTo>
                  <a:pt x="14405464" y="7688916"/>
                </a:lnTo>
                <a:lnTo>
                  <a:pt x="0" y="76889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01344" y="671641"/>
            <a:ext cx="112244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Non-relational Model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70415" y="1691948"/>
            <a:ext cx="5372114" cy="8595052"/>
          </a:xfrm>
          <a:custGeom>
            <a:avLst/>
            <a:gdLst/>
            <a:ahLst/>
            <a:cxnLst/>
            <a:rect r="r" b="b" t="t" l="l"/>
            <a:pathLst>
              <a:path h="8595052" w="5372114">
                <a:moveTo>
                  <a:pt x="0" y="0"/>
                </a:moveTo>
                <a:lnTo>
                  <a:pt x="5372114" y="0"/>
                </a:lnTo>
                <a:lnTo>
                  <a:pt x="5372114" y="8595052"/>
                </a:lnTo>
                <a:lnTo>
                  <a:pt x="0" y="8595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415413" y="2204291"/>
            <a:ext cx="333194" cy="333194"/>
            <a:chOff x="0" y="0"/>
            <a:chExt cx="595630" cy="5956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9215" y="69215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34290"/>
                  </a:moveTo>
                  <a:cubicBezTo>
                    <a:pt x="0" y="0"/>
                    <a:pt x="34290" y="0"/>
                    <a:pt x="34290" y="0"/>
                  </a:cubicBezTo>
                  <a:lnTo>
                    <a:pt x="422910" y="0"/>
                  </a:lnTo>
                  <a:cubicBezTo>
                    <a:pt x="457200" y="0"/>
                    <a:pt x="457200" y="34290"/>
                    <a:pt x="457200" y="34290"/>
                  </a:cubicBezTo>
                  <a:lnTo>
                    <a:pt x="457200" y="422910"/>
                  </a:lnTo>
                  <a:cubicBezTo>
                    <a:pt x="457200" y="457200"/>
                    <a:pt x="422910" y="457200"/>
                    <a:pt x="422910" y="457200"/>
                  </a:cubicBezTo>
                  <a:lnTo>
                    <a:pt x="34290" y="457200"/>
                  </a:lnTo>
                  <a:cubicBezTo>
                    <a:pt x="0" y="457200"/>
                    <a:pt x="0" y="422910"/>
                    <a:pt x="0" y="422910"/>
                  </a:cubicBezTo>
                  <a:close/>
                </a:path>
              </a:pathLst>
            </a:custGeom>
            <a:solidFill>
              <a:srgbClr val="611E5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468630" cy="468630"/>
            </a:xfrm>
            <a:custGeom>
              <a:avLst/>
              <a:gdLst/>
              <a:ahLst/>
              <a:cxnLst/>
              <a:rect r="r" b="b" t="t" l="l"/>
              <a:pathLst>
                <a:path h="468630" w="468630">
                  <a:moveTo>
                    <a:pt x="0" y="40005"/>
                  </a:moveTo>
                  <a:cubicBezTo>
                    <a:pt x="0" y="2159"/>
                    <a:pt x="38608" y="0"/>
                    <a:pt x="40005" y="0"/>
                  </a:cubicBezTo>
                  <a:lnTo>
                    <a:pt x="40005" y="5715"/>
                  </a:lnTo>
                  <a:lnTo>
                    <a:pt x="40005" y="0"/>
                  </a:lnTo>
                  <a:lnTo>
                    <a:pt x="428625" y="0"/>
                  </a:lnTo>
                  <a:lnTo>
                    <a:pt x="428625" y="5715"/>
                  </a:lnTo>
                  <a:lnTo>
                    <a:pt x="428625" y="0"/>
                  </a:lnTo>
                  <a:cubicBezTo>
                    <a:pt x="466471" y="0"/>
                    <a:pt x="468630" y="38608"/>
                    <a:pt x="468630" y="40005"/>
                  </a:cubicBezTo>
                  <a:lnTo>
                    <a:pt x="462915" y="40005"/>
                  </a:lnTo>
                  <a:lnTo>
                    <a:pt x="468630" y="40005"/>
                  </a:lnTo>
                  <a:lnTo>
                    <a:pt x="468630" y="428625"/>
                  </a:lnTo>
                  <a:lnTo>
                    <a:pt x="462915" y="428625"/>
                  </a:lnTo>
                  <a:lnTo>
                    <a:pt x="468630" y="428625"/>
                  </a:lnTo>
                  <a:cubicBezTo>
                    <a:pt x="468630" y="466471"/>
                    <a:pt x="430022" y="468630"/>
                    <a:pt x="428625" y="468630"/>
                  </a:cubicBezTo>
                  <a:lnTo>
                    <a:pt x="428625" y="462915"/>
                  </a:lnTo>
                  <a:lnTo>
                    <a:pt x="428625" y="468630"/>
                  </a:lnTo>
                  <a:lnTo>
                    <a:pt x="40005" y="468630"/>
                  </a:lnTo>
                  <a:lnTo>
                    <a:pt x="40005" y="462915"/>
                  </a:lnTo>
                  <a:lnTo>
                    <a:pt x="40005" y="468630"/>
                  </a:lnTo>
                  <a:cubicBezTo>
                    <a:pt x="2159" y="468630"/>
                    <a:pt x="0" y="430022"/>
                    <a:pt x="0" y="428625"/>
                  </a:cubicBezTo>
                  <a:lnTo>
                    <a:pt x="5715" y="428625"/>
                  </a:lnTo>
                  <a:lnTo>
                    <a:pt x="0" y="428625"/>
                  </a:lnTo>
                  <a:lnTo>
                    <a:pt x="0" y="40005"/>
                  </a:lnTo>
                  <a:lnTo>
                    <a:pt x="5715" y="40005"/>
                  </a:lnTo>
                  <a:lnTo>
                    <a:pt x="0" y="40005"/>
                  </a:lnTo>
                  <a:moveTo>
                    <a:pt x="11430" y="40005"/>
                  </a:moveTo>
                  <a:lnTo>
                    <a:pt x="11430" y="428625"/>
                  </a:lnTo>
                  <a:cubicBezTo>
                    <a:pt x="11430" y="429387"/>
                    <a:pt x="11684" y="457200"/>
                    <a:pt x="40005" y="457200"/>
                  </a:cubicBezTo>
                  <a:lnTo>
                    <a:pt x="428625" y="457200"/>
                  </a:lnTo>
                  <a:cubicBezTo>
                    <a:pt x="429387" y="457200"/>
                    <a:pt x="457200" y="456946"/>
                    <a:pt x="457200" y="428625"/>
                  </a:cubicBezTo>
                  <a:lnTo>
                    <a:pt x="457200" y="40005"/>
                  </a:lnTo>
                  <a:cubicBezTo>
                    <a:pt x="457200" y="39243"/>
                    <a:pt x="456946" y="11430"/>
                    <a:pt x="428625" y="11430"/>
                  </a:cubicBezTo>
                  <a:lnTo>
                    <a:pt x="40005" y="11430"/>
                  </a:lnTo>
                  <a:cubicBezTo>
                    <a:pt x="39243" y="11430"/>
                    <a:pt x="11430" y="11684"/>
                    <a:pt x="11430" y="4000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415413" y="2587928"/>
            <a:ext cx="333194" cy="333194"/>
            <a:chOff x="0" y="0"/>
            <a:chExt cx="595630" cy="5956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9215" y="69215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34290"/>
                  </a:moveTo>
                  <a:cubicBezTo>
                    <a:pt x="0" y="0"/>
                    <a:pt x="34290" y="0"/>
                    <a:pt x="34290" y="0"/>
                  </a:cubicBezTo>
                  <a:lnTo>
                    <a:pt x="422910" y="0"/>
                  </a:lnTo>
                  <a:cubicBezTo>
                    <a:pt x="457200" y="0"/>
                    <a:pt x="457200" y="34290"/>
                    <a:pt x="457200" y="34290"/>
                  </a:cubicBezTo>
                  <a:lnTo>
                    <a:pt x="457200" y="422910"/>
                  </a:lnTo>
                  <a:cubicBezTo>
                    <a:pt x="457200" y="457200"/>
                    <a:pt x="422910" y="457200"/>
                    <a:pt x="422910" y="457200"/>
                  </a:cubicBezTo>
                  <a:lnTo>
                    <a:pt x="34290" y="457200"/>
                  </a:lnTo>
                  <a:cubicBezTo>
                    <a:pt x="0" y="457200"/>
                    <a:pt x="0" y="422910"/>
                    <a:pt x="0" y="422910"/>
                  </a:cubicBezTo>
                  <a:close/>
                </a:path>
              </a:pathLst>
            </a:custGeom>
            <a:solidFill>
              <a:srgbClr val="96609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468630" cy="468630"/>
            </a:xfrm>
            <a:custGeom>
              <a:avLst/>
              <a:gdLst/>
              <a:ahLst/>
              <a:cxnLst/>
              <a:rect r="r" b="b" t="t" l="l"/>
              <a:pathLst>
                <a:path h="468630" w="468630">
                  <a:moveTo>
                    <a:pt x="0" y="40005"/>
                  </a:moveTo>
                  <a:cubicBezTo>
                    <a:pt x="0" y="2159"/>
                    <a:pt x="38608" y="0"/>
                    <a:pt x="40005" y="0"/>
                  </a:cubicBezTo>
                  <a:lnTo>
                    <a:pt x="40005" y="5715"/>
                  </a:lnTo>
                  <a:lnTo>
                    <a:pt x="40005" y="0"/>
                  </a:lnTo>
                  <a:lnTo>
                    <a:pt x="428625" y="0"/>
                  </a:lnTo>
                  <a:lnTo>
                    <a:pt x="428625" y="5715"/>
                  </a:lnTo>
                  <a:lnTo>
                    <a:pt x="428625" y="0"/>
                  </a:lnTo>
                  <a:cubicBezTo>
                    <a:pt x="466471" y="0"/>
                    <a:pt x="468630" y="38608"/>
                    <a:pt x="468630" y="40005"/>
                  </a:cubicBezTo>
                  <a:lnTo>
                    <a:pt x="462915" y="40005"/>
                  </a:lnTo>
                  <a:lnTo>
                    <a:pt x="468630" y="40005"/>
                  </a:lnTo>
                  <a:lnTo>
                    <a:pt x="468630" y="428625"/>
                  </a:lnTo>
                  <a:lnTo>
                    <a:pt x="462915" y="428625"/>
                  </a:lnTo>
                  <a:lnTo>
                    <a:pt x="468630" y="428625"/>
                  </a:lnTo>
                  <a:cubicBezTo>
                    <a:pt x="468630" y="466471"/>
                    <a:pt x="430022" y="468630"/>
                    <a:pt x="428625" y="468630"/>
                  </a:cubicBezTo>
                  <a:lnTo>
                    <a:pt x="428625" y="462915"/>
                  </a:lnTo>
                  <a:lnTo>
                    <a:pt x="428625" y="468630"/>
                  </a:lnTo>
                  <a:lnTo>
                    <a:pt x="40005" y="468630"/>
                  </a:lnTo>
                  <a:lnTo>
                    <a:pt x="40005" y="462915"/>
                  </a:lnTo>
                  <a:lnTo>
                    <a:pt x="40005" y="468630"/>
                  </a:lnTo>
                  <a:cubicBezTo>
                    <a:pt x="2159" y="468630"/>
                    <a:pt x="0" y="430022"/>
                    <a:pt x="0" y="428625"/>
                  </a:cubicBezTo>
                  <a:lnTo>
                    <a:pt x="5715" y="428625"/>
                  </a:lnTo>
                  <a:lnTo>
                    <a:pt x="0" y="428625"/>
                  </a:lnTo>
                  <a:lnTo>
                    <a:pt x="0" y="40005"/>
                  </a:lnTo>
                  <a:lnTo>
                    <a:pt x="5715" y="40005"/>
                  </a:lnTo>
                  <a:lnTo>
                    <a:pt x="0" y="40005"/>
                  </a:lnTo>
                  <a:moveTo>
                    <a:pt x="11430" y="40005"/>
                  </a:moveTo>
                  <a:lnTo>
                    <a:pt x="11430" y="428625"/>
                  </a:lnTo>
                  <a:cubicBezTo>
                    <a:pt x="11430" y="429387"/>
                    <a:pt x="11684" y="457200"/>
                    <a:pt x="40005" y="457200"/>
                  </a:cubicBezTo>
                  <a:lnTo>
                    <a:pt x="428625" y="457200"/>
                  </a:lnTo>
                  <a:cubicBezTo>
                    <a:pt x="429387" y="457200"/>
                    <a:pt x="457200" y="456946"/>
                    <a:pt x="457200" y="428625"/>
                  </a:cubicBezTo>
                  <a:lnTo>
                    <a:pt x="457200" y="40005"/>
                  </a:lnTo>
                  <a:cubicBezTo>
                    <a:pt x="457200" y="39243"/>
                    <a:pt x="456946" y="11430"/>
                    <a:pt x="428625" y="11430"/>
                  </a:cubicBezTo>
                  <a:lnTo>
                    <a:pt x="40005" y="11430"/>
                  </a:lnTo>
                  <a:cubicBezTo>
                    <a:pt x="39243" y="11430"/>
                    <a:pt x="11430" y="11684"/>
                    <a:pt x="11430" y="4000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415413" y="2971565"/>
            <a:ext cx="333194" cy="333194"/>
            <a:chOff x="0" y="0"/>
            <a:chExt cx="595630" cy="5956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9215" y="69215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34290"/>
                  </a:moveTo>
                  <a:cubicBezTo>
                    <a:pt x="0" y="0"/>
                    <a:pt x="34290" y="0"/>
                    <a:pt x="34290" y="0"/>
                  </a:cubicBezTo>
                  <a:lnTo>
                    <a:pt x="422910" y="0"/>
                  </a:lnTo>
                  <a:cubicBezTo>
                    <a:pt x="457200" y="0"/>
                    <a:pt x="457200" y="34290"/>
                    <a:pt x="457200" y="34290"/>
                  </a:cubicBezTo>
                  <a:lnTo>
                    <a:pt x="457200" y="422910"/>
                  </a:lnTo>
                  <a:cubicBezTo>
                    <a:pt x="457200" y="457200"/>
                    <a:pt x="422910" y="457200"/>
                    <a:pt x="422910" y="457200"/>
                  </a:cubicBezTo>
                  <a:lnTo>
                    <a:pt x="34290" y="457200"/>
                  </a:lnTo>
                  <a:cubicBezTo>
                    <a:pt x="0" y="457200"/>
                    <a:pt x="0" y="422910"/>
                    <a:pt x="0" y="422910"/>
                  </a:cubicBezTo>
                  <a:close/>
                </a:path>
              </a:pathLst>
            </a:custGeom>
            <a:solidFill>
              <a:srgbClr val="D8B2D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468630" cy="468630"/>
            </a:xfrm>
            <a:custGeom>
              <a:avLst/>
              <a:gdLst/>
              <a:ahLst/>
              <a:cxnLst/>
              <a:rect r="r" b="b" t="t" l="l"/>
              <a:pathLst>
                <a:path h="468630" w="468630">
                  <a:moveTo>
                    <a:pt x="0" y="40005"/>
                  </a:moveTo>
                  <a:cubicBezTo>
                    <a:pt x="0" y="2159"/>
                    <a:pt x="38608" y="0"/>
                    <a:pt x="40005" y="0"/>
                  </a:cubicBezTo>
                  <a:lnTo>
                    <a:pt x="40005" y="5715"/>
                  </a:lnTo>
                  <a:lnTo>
                    <a:pt x="40005" y="0"/>
                  </a:lnTo>
                  <a:lnTo>
                    <a:pt x="428625" y="0"/>
                  </a:lnTo>
                  <a:lnTo>
                    <a:pt x="428625" y="5715"/>
                  </a:lnTo>
                  <a:lnTo>
                    <a:pt x="428625" y="0"/>
                  </a:lnTo>
                  <a:cubicBezTo>
                    <a:pt x="466471" y="0"/>
                    <a:pt x="468630" y="38608"/>
                    <a:pt x="468630" y="40005"/>
                  </a:cubicBezTo>
                  <a:lnTo>
                    <a:pt x="462915" y="40005"/>
                  </a:lnTo>
                  <a:lnTo>
                    <a:pt x="468630" y="40005"/>
                  </a:lnTo>
                  <a:lnTo>
                    <a:pt x="468630" y="428625"/>
                  </a:lnTo>
                  <a:lnTo>
                    <a:pt x="462915" y="428625"/>
                  </a:lnTo>
                  <a:lnTo>
                    <a:pt x="468630" y="428625"/>
                  </a:lnTo>
                  <a:cubicBezTo>
                    <a:pt x="468630" y="466471"/>
                    <a:pt x="430022" y="468630"/>
                    <a:pt x="428625" y="468630"/>
                  </a:cubicBezTo>
                  <a:lnTo>
                    <a:pt x="428625" y="462915"/>
                  </a:lnTo>
                  <a:lnTo>
                    <a:pt x="428625" y="468630"/>
                  </a:lnTo>
                  <a:lnTo>
                    <a:pt x="40005" y="468630"/>
                  </a:lnTo>
                  <a:lnTo>
                    <a:pt x="40005" y="462915"/>
                  </a:lnTo>
                  <a:lnTo>
                    <a:pt x="40005" y="468630"/>
                  </a:lnTo>
                  <a:cubicBezTo>
                    <a:pt x="2159" y="468630"/>
                    <a:pt x="0" y="430022"/>
                    <a:pt x="0" y="428625"/>
                  </a:cubicBezTo>
                  <a:lnTo>
                    <a:pt x="5715" y="428625"/>
                  </a:lnTo>
                  <a:lnTo>
                    <a:pt x="0" y="428625"/>
                  </a:lnTo>
                  <a:lnTo>
                    <a:pt x="0" y="40005"/>
                  </a:lnTo>
                  <a:lnTo>
                    <a:pt x="5715" y="40005"/>
                  </a:lnTo>
                  <a:lnTo>
                    <a:pt x="0" y="40005"/>
                  </a:lnTo>
                  <a:moveTo>
                    <a:pt x="11430" y="40005"/>
                  </a:moveTo>
                  <a:lnTo>
                    <a:pt x="11430" y="428625"/>
                  </a:lnTo>
                  <a:cubicBezTo>
                    <a:pt x="11430" y="429387"/>
                    <a:pt x="11684" y="457200"/>
                    <a:pt x="40005" y="457200"/>
                  </a:cubicBezTo>
                  <a:lnTo>
                    <a:pt x="428625" y="457200"/>
                  </a:lnTo>
                  <a:cubicBezTo>
                    <a:pt x="429387" y="457200"/>
                    <a:pt x="457200" y="456946"/>
                    <a:pt x="457200" y="428625"/>
                  </a:cubicBezTo>
                  <a:lnTo>
                    <a:pt x="457200" y="40005"/>
                  </a:lnTo>
                  <a:cubicBezTo>
                    <a:pt x="457200" y="39243"/>
                    <a:pt x="456946" y="11430"/>
                    <a:pt x="428625" y="11430"/>
                  </a:cubicBezTo>
                  <a:lnTo>
                    <a:pt x="40005" y="11430"/>
                  </a:lnTo>
                  <a:cubicBezTo>
                    <a:pt x="39243" y="11430"/>
                    <a:pt x="11430" y="11684"/>
                    <a:pt x="11430" y="4000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15413" y="3355202"/>
            <a:ext cx="333194" cy="333194"/>
            <a:chOff x="0" y="0"/>
            <a:chExt cx="595630" cy="5956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9215" y="69215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34290"/>
                  </a:moveTo>
                  <a:cubicBezTo>
                    <a:pt x="0" y="0"/>
                    <a:pt x="34290" y="0"/>
                    <a:pt x="34290" y="0"/>
                  </a:cubicBezTo>
                  <a:lnTo>
                    <a:pt x="422910" y="0"/>
                  </a:lnTo>
                  <a:cubicBezTo>
                    <a:pt x="457200" y="0"/>
                    <a:pt x="457200" y="34290"/>
                    <a:pt x="457200" y="34290"/>
                  </a:cubicBezTo>
                  <a:lnTo>
                    <a:pt x="457200" y="422910"/>
                  </a:lnTo>
                  <a:cubicBezTo>
                    <a:pt x="457200" y="457200"/>
                    <a:pt x="422910" y="457200"/>
                    <a:pt x="422910" y="457200"/>
                  </a:cubicBezTo>
                  <a:lnTo>
                    <a:pt x="34290" y="457200"/>
                  </a:lnTo>
                  <a:cubicBezTo>
                    <a:pt x="0" y="457200"/>
                    <a:pt x="0" y="422910"/>
                    <a:pt x="0" y="422910"/>
                  </a:cubicBezTo>
                  <a:close/>
                </a:path>
              </a:pathLst>
            </a:custGeom>
            <a:solidFill>
              <a:srgbClr val="FFF0F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468630" cy="468630"/>
            </a:xfrm>
            <a:custGeom>
              <a:avLst/>
              <a:gdLst/>
              <a:ahLst/>
              <a:cxnLst/>
              <a:rect r="r" b="b" t="t" l="l"/>
              <a:pathLst>
                <a:path h="468630" w="468630">
                  <a:moveTo>
                    <a:pt x="0" y="40005"/>
                  </a:moveTo>
                  <a:cubicBezTo>
                    <a:pt x="0" y="2159"/>
                    <a:pt x="38608" y="0"/>
                    <a:pt x="40005" y="0"/>
                  </a:cubicBezTo>
                  <a:lnTo>
                    <a:pt x="40005" y="5715"/>
                  </a:lnTo>
                  <a:lnTo>
                    <a:pt x="40005" y="0"/>
                  </a:lnTo>
                  <a:lnTo>
                    <a:pt x="428625" y="0"/>
                  </a:lnTo>
                  <a:lnTo>
                    <a:pt x="428625" y="5715"/>
                  </a:lnTo>
                  <a:lnTo>
                    <a:pt x="428625" y="0"/>
                  </a:lnTo>
                  <a:cubicBezTo>
                    <a:pt x="466471" y="0"/>
                    <a:pt x="468630" y="38608"/>
                    <a:pt x="468630" y="40005"/>
                  </a:cubicBezTo>
                  <a:lnTo>
                    <a:pt x="462915" y="40005"/>
                  </a:lnTo>
                  <a:lnTo>
                    <a:pt x="468630" y="40005"/>
                  </a:lnTo>
                  <a:lnTo>
                    <a:pt x="468630" y="428625"/>
                  </a:lnTo>
                  <a:lnTo>
                    <a:pt x="462915" y="428625"/>
                  </a:lnTo>
                  <a:lnTo>
                    <a:pt x="468630" y="428625"/>
                  </a:lnTo>
                  <a:cubicBezTo>
                    <a:pt x="468630" y="466471"/>
                    <a:pt x="430022" y="468630"/>
                    <a:pt x="428625" y="468630"/>
                  </a:cubicBezTo>
                  <a:lnTo>
                    <a:pt x="428625" y="462915"/>
                  </a:lnTo>
                  <a:lnTo>
                    <a:pt x="428625" y="468630"/>
                  </a:lnTo>
                  <a:lnTo>
                    <a:pt x="40005" y="468630"/>
                  </a:lnTo>
                  <a:lnTo>
                    <a:pt x="40005" y="462915"/>
                  </a:lnTo>
                  <a:lnTo>
                    <a:pt x="40005" y="468630"/>
                  </a:lnTo>
                  <a:cubicBezTo>
                    <a:pt x="2159" y="468630"/>
                    <a:pt x="0" y="430022"/>
                    <a:pt x="0" y="428625"/>
                  </a:cubicBezTo>
                  <a:lnTo>
                    <a:pt x="5715" y="428625"/>
                  </a:lnTo>
                  <a:lnTo>
                    <a:pt x="0" y="428625"/>
                  </a:lnTo>
                  <a:lnTo>
                    <a:pt x="0" y="40005"/>
                  </a:lnTo>
                  <a:lnTo>
                    <a:pt x="5715" y="40005"/>
                  </a:lnTo>
                  <a:lnTo>
                    <a:pt x="0" y="40005"/>
                  </a:lnTo>
                  <a:moveTo>
                    <a:pt x="11430" y="40005"/>
                  </a:moveTo>
                  <a:lnTo>
                    <a:pt x="11430" y="428625"/>
                  </a:lnTo>
                  <a:cubicBezTo>
                    <a:pt x="11430" y="429387"/>
                    <a:pt x="11684" y="457200"/>
                    <a:pt x="40005" y="457200"/>
                  </a:cubicBezTo>
                  <a:lnTo>
                    <a:pt x="428625" y="457200"/>
                  </a:lnTo>
                  <a:cubicBezTo>
                    <a:pt x="429387" y="457200"/>
                    <a:pt x="457200" y="456946"/>
                    <a:pt x="457200" y="428625"/>
                  </a:cubicBezTo>
                  <a:lnTo>
                    <a:pt x="457200" y="40005"/>
                  </a:lnTo>
                  <a:cubicBezTo>
                    <a:pt x="457200" y="39243"/>
                    <a:pt x="456946" y="11430"/>
                    <a:pt x="428625" y="11430"/>
                  </a:cubicBezTo>
                  <a:lnTo>
                    <a:pt x="40005" y="11430"/>
                  </a:lnTo>
                  <a:cubicBezTo>
                    <a:pt x="39243" y="11430"/>
                    <a:pt x="11430" y="11684"/>
                    <a:pt x="11430" y="4000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781328" y="3437220"/>
            <a:ext cx="370119" cy="179478"/>
            <a:chOff x="0" y="0"/>
            <a:chExt cx="661632" cy="320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0" y="69597"/>
              <a:ext cx="111760" cy="184787"/>
            </a:xfrm>
            <a:custGeom>
              <a:avLst/>
              <a:gdLst/>
              <a:ahLst/>
              <a:cxnLst/>
              <a:rect r="r" b="b" t="t" l="l"/>
              <a:pathLst>
                <a:path h="184787" w="111760">
                  <a:moveTo>
                    <a:pt x="0" y="184787"/>
                  </a:moveTo>
                  <a:lnTo>
                    <a:pt x="0" y="92330"/>
                  </a:lnTo>
                  <a:lnTo>
                    <a:pt x="0" y="0"/>
                  </a:lnTo>
                  <a:lnTo>
                    <a:pt x="111760" y="0"/>
                  </a:lnTo>
                  <a:lnTo>
                    <a:pt x="111760" y="10414"/>
                  </a:lnTo>
                  <a:lnTo>
                    <a:pt x="111760" y="20828"/>
                  </a:lnTo>
                  <a:lnTo>
                    <a:pt x="23622" y="20828"/>
                  </a:lnTo>
                  <a:lnTo>
                    <a:pt x="23622" y="52451"/>
                  </a:lnTo>
                  <a:lnTo>
                    <a:pt x="23622" y="84075"/>
                  </a:lnTo>
                  <a:lnTo>
                    <a:pt x="103378" y="84075"/>
                  </a:lnTo>
                  <a:lnTo>
                    <a:pt x="103378" y="94489"/>
                  </a:lnTo>
                  <a:lnTo>
                    <a:pt x="103378" y="104903"/>
                  </a:lnTo>
                  <a:lnTo>
                    <a:pt x="23622" y="104903"/>
                  </a:lnTo>
                  <a:lnTo>
                    <a:pt x="23622" y="144782"/>
                  </a:lnTo>
                  <a:lnTo>
                    <a:pt x="23622" y="184660"/>
                  </a:lnTo>
                  <a:lnTo>
                    <a:pt x="0" y="1846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06502" y="63501"/>
              <a:ext cx="31115" cy="190883"/>
            </a:xfrm>
            <a:custGeom>
              <a:avLst/>
              <a:gdLst/>
              <a:ahLst/>
              <a:cxnLst/>
              <a:rect r="r" b="b" t="t" l="l"/>
              <a:pathLst>
                <a:path h="190883" w="31115">
                  <a:moveTo>
                    <a:pt x="4191" y="190883"/>
                  </a:moveTo>
                  <a:lnTo>
                    <a:pt x="4191" y="121540"/>
                  </a:lnTo>
                  <a:lnTo>
                    <a:pt x="4191" y="52197"/>
                  </a:lnTo>
                  <a:lnTo>
                    <a:pt x="26543" y="52197"/>
                  </a:lnTo>
                  <a:lnTo>
                    <a:pt x="26543" y="121540"/>
                  </a:lnTo>
                  <a:lnTo>
                    <a:pt x="26543" y="190883"/>
                  </a:lnTo>
                  <a:lnTo>
                    <a:pt x="4191" y="190883"/>
                  </a:lnTo>
                  <a:close/>
                  <a:moveTo>
                    <a:pt x="15494" y="29591"/>
                  </a:moveTo>
                  <a:cubicBezTo>
                    <a:pt x="7112" y="29591"/>
                    <a:pt x="0" y="22987"/>
                    <a:pt x="0" y="14859"/>
                  </a:cubicBezTo>
                  <a:cubicBezTo>
                    <a:pt x="0" y="6731"/>
                    <a:pt x="7112" y="0"/>
                    <a:pt x="15494" y="0"/>
                  </a:cubicBezTo>
                  <a:cubicBezTo>
                    <a:pt x="23876" y="0"/>
                    <a:pt x="31115" y="6604"/>
                    <a:pt x="31115" y="14732"/>
                  </a:cubicBezTo>
                  <a:cubicBezTo>
                    <a:pt x="31115" y="22860"/>
                    <a:pt x="24003" y="29464"/>
                    <a:pt x="15494" y="2946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65430" y="113920"/>
              <a:ext cx="122809" cy="143385"/>
            </a:xfrm>
            <a:custGeom>
              <a:avLst/>
              <a:gdLst/>
              <a:ahLst/>
              <a:cxnLst/>
              <a:rect r="r" b="b" t="t" l="l"/>
              <a:pathLst>
                <a:path h="143385" w="122809">
                  <a:moveTo>
                    <a:pt x="65024" y="143385"/>
                  </a:moveTo>
                  <a:cubicBezTo>
                    <a:pt x="24892" y="143385"/>
                    <a:pt x="0" y="114810"/>
                    <a:pt x="0" y="72137"/>
                  </a:cubicBezTo>
                  <a:cubicBezTo>
                    <a:pt x="0" y="29465"/>
                    <a:pt x="24511" y="0"/>
                    <a:pt x="62358" y="0"/>
                  </a:cubicBezTo>
                  <a:cubicBezTo>
                    <a:pt x="91695" y="0"/>
                    <a:pt x="122810" y="18162"/>
                    <a:pt x="122810" y="69343"/>
                  </a:cubicBezTo>
                  <a:lnTo>
                    <a:pt x="122810" y="74042"/>
                  </a:lnTo>
                  <a:lnTo>
                    <a:pt x="122810" y="78741"/>
                  </a:lnTo>
                  <a:lnTo>
                    <a:pt x="22606" y="78741"/>
                  </a:lnTo>
                  <a:cubicBezTo>
                    <a:pt x="23749" y="107698"/>
                    <a:pt x="40640" y="123573"/>
                    <a:pt x="65151" y="123573"/>
                  </a:cubicBezTo>
                  <a:cubicBezTo>
                    <a:pt x="81535" y="123573"/>
                    <a:pt x="93854" y="116334"/>
                    <a:pt x="99061" y="102237"/>
                  </a:cubicBezTo>
                  <a:lnTo>
                    <a:pt x="120651" y="108206"/>
                  </a:lnTo>
                  <a:cubicBezTo>
                    <a:pt x="114174" y="129161"/>
                    <a:pt x="93473" y="143385"/>
                    <a:pt x="65151" y="143385"/>
                  </a:cubicBezTo>
                  <a:close/>
                  <a:moveTo>
                    <a:pt x="22860" y="59818"/>
                  </a:moveTo>
                  <a:lnTo>
                    <a:pt x="100204" y="59818"/>
                  </a:lnTo>
                  <a:cubicBezTo>
                    <a:pt x="98045" y="36196"/>
                    <a:pt x="85345" y="19940"/>
                    <a:pt x="62485" y="19940"/>
                  </a:cubicBezTo>
                  <a:cubicBezTo>
                    <a:pt x="38735" y="19940"/>
                    <a:pt x="24130" y="38609"/>
                    <a:pt x="22860" y="5981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20244" y="69597"/>
              <a:ext cx="22352" cy="184660"/>
            </a:xfrm>
            <a:custGeom>
              <a:avLst/>
              <a:gdLst/>
              <a:ahLst/>
              <a:cxnLst/>
              <a:rect r="r" b="b" t="t" l="l"/>
              <a:pathLst>
                <a:path h="184660" w="22352">
                  <a:moveTo>
                    <a:pt x="22352" y="0"/>
                  </a:moveTo>
                  <a:lnTo>
                    <a:pt x="22352" y="92330"/>
                  </a:lnTo>
                  <a:lnTo>
                    <a:pt x="22352" y="184660"/>
                  </a:lnTo>
                  <a:lnTo>
                    <a:pt x="0" y="184660"/>
                  </a:lnTo>
                  <a:lnTo>
                    <a:pt x="0" y="92330"/>
                  </a:lnTo>
                  <a:lnTo>
                    <a:pt x="0" y="0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75108" y="69597"/>
              <a:ext cx="123063" cy="187708"/>
            </a:xfrm>
            <a:custGeom>
              <a:avLst/>
              <a:gdLst/>
              <a:ahLst/>
              <a:cxnLst/>
              <a:rect r="r" b="b" t="t" l="l"/>
              <a:pathLst>
                <a:path h="187708" w="123063">
                  <a:moveTo>
                    <a:pt x="58674" y="187708"/>
                  </a:moveTo>
                  <a:cubicBezTo>
                    <a:pt x="24130" y="187708"/>
                    <a:pt x="0" y="159895"/>
                    <a:pt x="0" y="115825"/>
                  </a:cubicBezTo>
                  <a:cubicBezTo>
                    <a:pt x="0" y="71883"/>
                    <a:pt x="24130" y="44450"/>
                    <a:pt x="58801" y="44450"/>
                  </a:cubicBezTo>
                  <a:cubicBezTo>
                    <a:pt x="85852" y="44450"/>
                    <a:pt x="94361" y="61088"/>
                    <a:pt x="98933" y="68327"/>
                  </a:cubicBezTo>
                  <a:lnTo>
                    <a:pt x="100711" y="68327"/>
                  </a:lnTo>
                  <a:lnTo>
                    <a:pt x="100711" y="34163"/>
                  </a:lnTo>
                  <a:lnTo>
                    <a:pt x="100711" y="0"/>
                  </a:lnTo>
                  <a:lnTo>
                    <a:pt x="123063" y="0"/>
                  </a:lnTo>
                  <a:lnTo>
                    <a:pt x="123063" y="92330"/>
                  </a:lnTo>
                  <a:lnTo>
                    <a:pt x="123063" y="184660"/>
                  </a:lnTo>
                  <a:lnTo>
                    <a:pt x="101473" y="184660"/>
                  </a:lnTo>
                  <a:lnTo>
                    <a:pt x="101473" y="173992"/>
                  </a:lnTo>
                  <a:lnTo>
                    <a:pt x="101473" y="163324"/>
                  </a:lnTo>
                  <a:lnTo>
                    <a:pt x="98933" y="163324"/>
                  </a:lnTo>
                  <a:cubicBezTo>
                    <a:pt x="94361" y="171071"/>
                    <a:pt x="85090" y="187708"/>
                    <a:pt x="58674" y="187708"/>
                  </a:cubicBezTo>
                  <a:close/>
                  <a:moveTo>
                    <a:pt x="61976" y="167769"/>
                  </a:moveTo>
                  <a:cubicBezTo>
                    <a:pt x="87122" y="167769"/>
                    <a:pt x="100965" y="146433"/>
                    <a:pt x="100965" y="115571"/>
                  </a:cubicBezTo>
                  <a:cubicBezTo>
                    <a:pt x="100965" y="84964"/>
                    <a:pt x="87630" y="64390"/>
                    <a:pt x="61976" y="64390"/>
                  </a:cubicBezTo>
                  <a:cubicBezTo>
                    <a:pt x="35687" y="64390"/>
                    <a:pt x="22606" y="86869"/>
                    <a:pt x="22606" y="115571"/>
                  </a:cubicBezTo>
                  <a:cubicBezTo>
                    <a:pt x="22606" y="144655"/>
                    <a:pt x="35941" y="167769"/>
                    <a:pt x="61976" y="16776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794473" y="2286310"/>
            <a:ext cx="723443" cy="179478"/>
            <a:chOff x="0" y="0"/>
            <a:chExt cx="1293241" cy="320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0" y="67057"/>
              <a:ext cx="156591" cy="189740"/>
            </a:xfrm>
            <a:custGeom>
              <a:avLst/>
              <a:gdLst/>
              <a:ahLst/>
              <a:cxnLst/>
              <a:rect r="r" b="b" t="t" l="l"/>
              <a:pathLst>
                <a:path h="189740" w="156591">
                  <a:moveTo>
                    <a:pt x="81915" y="189740"/>
                  </a:moveTo>
                  <a:cubicBezTo>
                    <a:pt x="34544" y="189740"/>
                    <a:pt x="0" y="153545"/>
                    <a:pt x="0" y="94997"/>
                  </a:cubicBezTo>
                  <a:cubicBezTo>
                    <a:pt x="0" y="36449"/>
                    <a:pt x="34544" y="0"/>
                    <a:pt x="81915" y="0"/>
                  </a:cubicBezTo>
                  <a:cubicBezTo>
                    <a:pt x="119380" y="0"/>
                    <a:pt x="149860" y="22606"/>
                    <a:pt x="156464" y="60707"/>
                  </a:cubicBezTo>
                  <a:lnTo>
                    <a:pt x="132969" y="60707"/>
                  </a:lnTo>
                  <a:cubicBezTo>
                    <a:pt x="127762" y="35433"/>
                    <a:pt x="106045" y="21844"/>
                    <a:pt x="81915" y="21844"/>
                  </a:cubicBezTo>
                  <a:cubicBezTo>
                    <a:pt x="48768" y="21844"/>
                    <a:pt x="22987" y="47625"/>
                    <a:pt x="22987" y="94997"/>
                  </a:cubicBezTo>
                  <a:cubicBezTo>
                    <a:pt x="22987" y="142369"/>
                    <a:pt x="48895" y="167896"/>
                    <a:pt x="82042" y="167896"/>
                  </a:cubicBezTo>
                  <a:cubicBezTo>
                    <a:pt x="106172" y="167896"/>
                    <a:pt x="127762" y="154307"/>
                    <a:pt x="132969" y="129033"/>
                  </a:cubicBezTo>
                  <a:lnTo>
                    <a:pt x="156591" y="129033"/>
                  </a:lnTo>
                  <a:cubicBezTo>
                    <a:pt x="150114" y="166626"/>
                    <a:pt x="119888" y="189740"/>
                    <a:pt x="82042" y="1897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46761" y="114047"/>
              <a:ext cx="126492" cy="143258"/>
            </a:xfrm>
            <a:custGeom>
              <a:avLst/>
              <a:gdLst/>
              <a:ahLst/>
              <a:cxnLst/>
              <a:rect r="r" b="b" t="t" l="l"/>
              <a:pathLst>
                <a:path h="143258" w="126492">
                  <a:moveTo>
                    <a:pt x="63118" y="143258"/>
                  </a:moveTo>
                  <a:cubicBezTo>
                    <a:pt x="25399" y="143258"/>
                    <a:pt x="0" y="114556"/>
                    <a:pt x="0" y="71883"/>
                  </a:cubicBezTo>
                  <a:cubicBezTo>
                    <a:pt x="0" y="28449"/>
                    <a:pt x="25399" y="0"/>
                    <a:pt x="63118" y="0"/>
                  </a:cubicBezTo>
                  <a:cubicBezTo>
                    <a:pt x="100837" y="0"/>
                    <a:pt x="126491" y="28576"/>
                    <a:pt x="126491" y="71883"/>
                  </a:cubicBezTo>
                  <a:cubicBezTo>
                    <a:pt x="126491" y="114683"/>
                    <a:pt x="100964" y="143258"/>
                    <a:pt x="63118" y="143258"/>
                  </a:cubicBezTo>
                  <a:close/>
                  <a:moveTo>
                    <a:pt x="63118" y="123319"/>
                  </a:moveTo>
                  <a:cubicBezTo>
                    <a:pt x="91185" y="123319"/>
                    <a:pt x="103885" y="99189"/>
                    <a:pt x="103885" y="71883"/>
                  </a:cubicBezTo>
                  <a:cubicBezTo>
                    <a:pt x="103885" y="44324"/>
                    <a:pt x="91058" y="19940"/>
                    <a:pt x="63118" y="19940"/>
                  </a:cubicBezTo>
                  <a:cubicBezTo>
                    <a:pt x="35432" y="19940"/>
                    <a:pt x="22732" y="44197"/>
                    <a:pt x="22732" y="71883"/>
                  </a:cubicBezTo>
                  <a:cubicBezTo>
                    <a:pt x="22732" y="99189"/>
                    <a:pt x="35559" y="123319"/>
                    <a:pt x="63118" y="12331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405764" y="69597"/>
              <a:ext cx="22352" cy="184660"/>
            </a:xfrm>
            <a:custGeom>
              <a:avLst/>
              <a:gdLst/>
              <a:ahLst/>
              <a:cxnLst/>
              <a:rect r="r" b="b" t="t" l="l"/>
              <a:pathLst>
                <a:path h="184660" w="22352">
                  <a:moveTo>
                    <a:pt x="22352" y="0"/>
                  </a:moveTo>
                  <a:lnTo>
                    <a:pt x="22352" y="92330"/>
                  </a:lnTo>
                  <a:lnTo>
                    <a:pt x="22352" y="184660"/>
                  </a:lnTo>
                  <a:lnTo>
                    <a:pt x="0" y="184660"/>
                  </a:lnTo>
                  <a:lnTo>
                    <a:pt x="0" y="92330"/>
                  </a:lnTo>
                  <a:lnTo>
                    <a:pt x="0" y="0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467232" y="69597"/>
              <a:ext cx="22352" cy="184660"/>
            </a:xfrm>
            <a:custGeom>
              <a:avLst/>
              <a:gdLst/>
              <a:ahLst/>
              <a:cxnLst/>
              <a:rect r="r" b="b" t="t" l="l"/>
              <a:pathLst>
                <a:path h="184660" w="22352">
                  <a:moveTo>
                    <a:pt x="22352" y="0"/>
                  </a:moveTo>
                  <a:lnTo>
                    <a:pt x="22352" y="92330"/>
                  </a:lnTo>
                  <a:lnTo>
                    <a:pt x="22352" y="184660"/>
                  </a:lnTo>
                  <a:lnTo>
                    <a:pt x="0" y="184660"/>
                  </a:lnTo>
                  <a:lnTo>
                    <a:pt x="0" y="92330"/>
                  </a:lnTo>
                  <a:lnTo>
                    <a:pt x="0" y="0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522096" y="113920"/>
              <a:ext cx="122809" cy="143385"/>
            </a:xfrm>
            <a:custGeom>
              <a:avLst/>
              <a:gdLst/>
              <a:ahLst/>
              <a:cxnLst/>
              <a:rect r="r" b="b" t="t" l="l"/>
              <a:pathLst>
                <a:path h="143385" w="122809">
                  <a:moveTo>
                    <a:pt x="65024" y="143385"/>
                  </a:moveTo>
                  <a:cubicBezTo>
                    <a:pt x="24892" y="143385"/>
                    <a:pt x="0" y="114810"/>
                    <a:pt x="0" y="72137"/>
                  </a:cubicBezTo>
                  <a:cubicBezTo>
                    <a:pt x="0" y="29465"/>
                    <a:pt x="24511" y="0"/>
                    <a:pt x="62357" y="0"/>
                  </a:cubicBezTo>
                  <a:cubicBezTo>
                    <a:pt x="91694" y="0"/>
                    <a:pt x="122809" y="18162"/>
                    <a:pt x="122809" y="69343"/>
                  </a:cubicBezTo>
                  <a:lnTo>
                    <a:pt x="122809" y="74042"/>
                  </a:lnTo>
                  <a:lnTo>
                    <a:pt x="122809" y="78741"/>
                  </a:lnTo>
                  <a:lnTo>
                    <a:pt x="22606" y="78741"/>
                  </a:lnTo>
                  <a:cubicBezTo>
                    <a:pt x="23749" y="107698"/>
                    <a:pt x="40640" y="123573"/>
                    <a:pt x="65151" y="123573"/>
                  </a:cubicBezTo>
                  <a:cubicBezTo>
                    <a:pt x="81534" y="123573"/>
                    <a:pt x="93853" y="116334"/>
                    <a:pt x="99060" y="102237"/>
                  </a:cubicBezTo>
                  <a:lnTo>
                    <a:pt x="120650" y="108206"/>
                  </a:lnTo>
                  <a:cubicBezTo>
                    <a:pt x="114173" y="129161"/>
                    <a:pt x="93472" y="143385"/>
                    <a:pt x="65151" y="143385"/>
                  </a:cubicBezTo>
                  <a:close/>
                  <a:moveTo>
                    <a:pt x="22733" y="59818"/>
                  </a:moveTo>
                  <a:lnTo>
                    <a:pt x="100076" y="59818"/>
                  </a:lnTo>
                  <a:cubicBezTo>
                    <a:pt x="97917" y="36196"/>
                    <a:pt x="85217" y="19940"/>
                    <a:pt x="62357" y="19940"/>
                  </a:cubicBezTo>
                  <a:cubicBezTo>
                    <a:pt x="38608" y="19940"/>
                    <a:pt x="24003" y="38609"/>
                    <a:pt x="22733" y="5981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70178" y="114047"/>
              <a:ext cx="119761" cy="143512"/>
            </a:xfrm>
            <a:custGeom>
              <a:avLst/>
              <a:gdLst/>
              <a:ahLst/>
              <a:cxnLst/>
              <a:rect r="r" b="b" t="t" l="l"/>
              <a:pathLst>
                <a:path h="143512" w="119761">
                  <a:moveTo>
                    <a:pt x="63119" y="143258"/>
                  </a:moveTo>
                  <a:cubicBezTo>
                    <a:pt x="25400" y="143258"/>
                    <a:pt x="0" y="114556"/>
                    <a:pt x="0" y="71883"/>
                  </a:cubicBezTo>
                  <a:cubicBezTo>
                    <a:pt x="0" y="28449"/>
                    <a:pt x="25400" y="0"/>
                    <a:pt x="63119" y="0"/>
                  </a:cubicBezTo>
                  <a:cubicBezTo>
                    <a:pt x="89916" y="0"/>
                    <a:pt x="111759" y="14098"/>
                    <a:pt x="119252" y="38355"/>
                  </a:cubicBezTo>
                  <a:lnTo>
                    <a:pt x="97790" y="44451"/>
                  </a:lnTo>
                  <a:cubicBezTo>
                    <a:pt x="93726" y="30227"/>
                    <a:pt x="81280" y="20067"/>
                    <a:pt x="63119" y="20067"/>
                  </a:cubicBezTo>
                  <a:cubicBezTo>
                    <a:pt x="35433" y="20067"/>
                    <a:pt x="22733" y="44324"/>
                    <a:pt x="22733" y="72010"/>
                  </a:cubicBezTo>
                  <a:cubicBezTo>
                    <a:pt x="22733" y="99316"/>
                    <a:pt x="35560" y="123446"/>
                    <a:pt x="63119" y="123446"/>
                  </a:cubicBezTo>
                  <a:cubicBezTo>
                    <a:pt x="81661" y="123446"/>
                    <a:pt x="94361" y="112905"/>
                    <a:pt x="98425" y="97919"/>
                  </a:cubicBezTo>
                  <a:lnTo>
                    <a:pt x="119760" y="104015"/>
                  </a:lnTo>
                  <a:cubicBezTo>
                    <a:pt x="112267" y="128653"/>
                    <a:pt x="90297" y="143512"/>
                    <a:pt x="63119" y="1435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804924" y="82678"/>
              <a:ext cx="75438" cy="173484"/>
            </a:xfrm>
            <a:custGeom>
              <a:avLst/>
              <a:gdLst/>
              <a:ahLst/>
              <a:cxnLst/>
              <a:rect r="r" b="b" t="t" l="l"/>
              <a:pathLst>
                <a:path h="173484" w="75438">
                  <a:moveTo>
                    <a:pt x="71628" y="33020"/>
                  </a:moveTo>
                  <a:lnTo>
                    <a:pt x="71628" y="42546"/>
                  </a:lnTo>
                  <a:lnTo>
                    <a:pt x="71628" y="52071"/>
                  </a:lnTo>
                  <a:lnTo>
                    <a:pt x="43053" y="52071"/>
                  </a:lnTo>
                  <a:lnTo>
                    <a:pt x="43053" y="93854"/>
                  </a:lnTo>
                  <a:lnTo>
                    <a:pt x="43053" y="135765"/>
                  </a:lnTo>
                  <a:cubicBezTo>
                    <a:pt x="43053" y="148211"/>
                    <a:pt x="47625" y="153672"/>
                    <a:pt x="59436" y="153672"/>
                  </a:cubicBezTo>
                  <a:cubicBezTo>
                    <a:pt x="62230" y="153672"/>
                    <a:pt x="67183" y="152910"/>
                    <a:pt x="70866" y="152148"/>
                  </a:cubicBezTo>
                  <a:lnTo>
                    <a:pt x="75438" y="170944"/>
                  </a:lnTo>
                  <a:cubicBezTo>
                    <a:pt x="70866" y="172595"/>
                    <a:pt x="64516" y="173484"/>
                    <a:pt x="58801" y="173484"/>
                  </a:cubicBezTo>
                  <a:cubicBezTo>
                    <a:pt x="34925" y="173484"/>
                    <a:pt x="20701" y="160276"/>
                    <a:pt x="20701" y="137543"/>
                  </a:cubicBezTo>
                  <a:lnTo>
                    <a:pt x="20701" y="94743"/>
                  </a:lnTo>
                  <a:lnTo>
                    <a:pt x="20701" y="52071"/>
                  </a:lnTo>
                  <a:lnTo>
                    <a:pt x="0" y="52071"/>
                  </a:lnTo>
                  <a:lnTo>
                    <a:pt x="0" y="42546"/>
                  </a:lnTo>
                  <a:lnTo>
                    <a:pt x="0" y="33020"/>
                  </a:lnTo>
                  <a:lnTo>
                    <a:pt x="20828" y="33020"/>
                  </a:lnTo>
                  <a:lnTo>
                    <a:pt x="20828" y="16510"/>
                  </a:lnTo>
                  <a:lnTo>
                    <a:pt x="20828" y="0"/>
                  </a:lnTo>
                  <a:lnTo>
                    <a:pt x="43180" y="0"/>
                  </a:lnTo>
                  <a:lnTo>
                    <a:pt x="43180" y="16510"/>
                  </a:lnTo>
                  <a:lnTo>
                    <a:pt x="43180" y="33020"/>
                  </a:lnTo>
                  <a:lnTo>
                    <a:pt x="71755" y="3302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900936" y="63501"/>
              <a:ext cx="30988" cy="190883"/>
            </a:xfrm>
            <a:custGeom>
              <a:avLst/>
              <a:gdLst/>
              <a:ahLst/>
              <a:cxnLst/>
              <a:rect r="r" b="b" t="t" l="l"/>
              <a:pathLst>
                <a:path h="190883" w="30988">
                  <a:moveTo>
                    <a:pt x="4191" y="190883"/>
                  </a:moveTo>
                  <a:lnTo>
                    <a:pt x="4191" y="121540"/>
                  </a:lnTo>
                  <a:lnTo>
                    <a:pt x="4191" y="52197"/>
                  </a:lnTo>
                  <a:lnTo>
                    <a:pt x="26543" y="52197"/>
                  </a:lnTo>
                  <a:lnTo>
                    <a:pt x="26543" y="121540"/>
                  </a:lnTo>
                  <a:lnTo>
                    <a:pt x="26543" y="190883"/>
                  </a:lnTo>
                  <a:lnTo>
                    <a:pt x="4191" y="190883"/>
                  </a:lnTo>
                  <a:close/>
                  <a:moveTo>
                    <a:pt x="15494" y="29591"/>
                  </a:moveTo>
                  <a:cubicBezTo>
                    <a:pt x="7112" y="29591"/>
                    <a:pt x="0" y="22987"/>
                    <a:pt x="0" y="14859"/>
                  </a:cubicBezTo>
                  <a:cubicBezTo>
                    <a:pt x="0" y="6731"/>
                    <a:pt x="6985" y="0"/>
                    <a:pt x="15367" y="0"/>
                  </a:cubicBezTo>
                  <a:cubicBezTo>
                    <a:pt x="23749" y="0"/>
                    <a:pt x="30988" y="6604"/>
                    <a:pt x="30988" y="14732"/>
                  </a:cubicBezTo>
                  <a:cubicBezTo>
                    <a:pt x="30988" y="22860"/>
                    <a:pt x="23876" y="29464"/>
                    <a:pt x="15367" y="2946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959864" y="114047"/>
              <a:ext cx="126492" cy="143258"/>
            </a:xfrm>
            <a:custGeom>
              <a:avLst/>
              <a:gdLst/>
              <a:ahLst/>
              <a:cxnLst/>
              <a:rect r="r" b="b" t="t" l="l"/>
              <a:pathLst>
                <a:path h="143258" w="126492">
                  <a:moveTo>
                    <a:pt x="63119" y="143258"/>
                  </a:moveTo>
                  <a:cubicBezTo>
                    <a:pt x="25400" y="143258"/>
                    <a:pt x="0" y="114556"/>
                    <a:pt x="0" y="71883"/>
                  </a:cubicBezTo>
                  <a:cubicBezTo>
                    <a:pt x="0" y="28449"/>
                    <a:pt x="25400" y="0"/>
                    <a:pt x="63119" y="0"/>
                  </a:cubicBezTo>
                  <a:cubicBezTo>
                    <a:pt x="100838" y="0"/>
                    <a:pt x="126492" y="28576"/>
                    <a:pt x="126492" y="71883"/>
                  </a:cubicBezTo>
                  <a:cubicBezTo>
                    <a:pt x="126492" y="114683"/>
                    <a:pt x="100965" y="143258"/>
                    <a:pt x="63119" y="143258"/>
                  </a:cubicBezTo>
                  <a:close/>
                  <a:moveTo>
                    <a:pt x="63119" y="123319"/>
                  </a:moveTo>
                  <a:cubicBezTo>
                    <a:pt x="91186" y="123319"/>
                    <a:pt x="103886" y="99189"/>
                    <a:pt x="103886" y="71883"/>
                  </a:cubicBezTo>
                  <a:cubicBezTo>
                    <a:pt x="103886" y="44324"/>
                    <a:pt x="91059" y="19940"/>
                    <a:pt x="63119" y="19940"/>
                  </a:cubicBezTo>
                  <a:cubicBezTo>
                    <a:pt x="35433" y="19940"/>
                    <a:pt x="22733" y="44197"/>
                    <a:pt x="22733" y="71883"/>
                  </a:cubicBezTo>
                  <a:cubicBezTo>
                    <a:pt x="22733" y="99189"/>
                    <a:pt x="35560" y="123319"/>
                    <a:pt x="63119" y="12331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118868" y="113920"/>
              <a:ext cx="110871" cy="140464"/>
            </a:xfrm>
            <a:custGeom>
              <a:avLst/>
              <a:gdLst/>
              <a:ahLst/>
              <a:cxnLst/>
              <a:rect r="r" b="b" t="t" l="l"/>
              <a:pathLst>
                <a:path h="140464" w="110871">
                  <a:moveTo>
                    <a:pt x="22352" y="57405"/>
                  </a:moveTo>
                  <a:lnTo>
                    <a:pt x="22352" y="98935"/>
                  </a:lnTo>
                  <a:lnTo>
                    <a:pt x="22352" y="140464"/>
                  </a:lnTo>
                  <a:lnTo>
                    <a:pt x="0" y="140464"/>
                  </a:lnTo>
                  <a:lnTo>
                    <a:pt x="0" y="71121"/>
                  </a:lnTo>
                  <a:lnTo>
                    <a:pt x="0" y="1778"/>
                  </a:lnTo>
                  <a:lnTo>
                    <a:pt x="21463" y="1778"/>
                  </a:lnTo>
                  <a:lnTo>
                    <a:pt x="21590" y="27433"/>
                  </a:lnTo>
                  <a:cubicBezTo>
                    <a:pt x="30480" y="7874"/>
                    <a:pt x="45339" y="0"/>
                    <a:pt x="64008" y="0"/>
                  </a:cubicBezTo>
                  <a:cubicBezTo>
                    <a:pt x="92075" y="0"/>
                    <a:pt x="110871" y="17273"/>
                    <a:pt x="110871" y="52325"/>
                  </a:cubicBezTo>
                  <a:lnTo>
                    <a:pt x="110871" y="96395"/>
                  </a:lnTo>
                  <a:lnTo>
                    <a:pt x="110871" y="140464"/>
                  </a:lnTo>
                  <a:lnTo>
                    <a:pt x="88519" y="140464"/>
                  </a:lnTo>
                  <a:lnTo>
                    <a:pt x="88519" y="97411"/>
                  </a:lnTo>
                  <a:lnTo>
                    <a:pt x="88519" y="54230"/>
                  </a:lnTo>
                  <a:cubicBezTo>
                    <a:pt x="88519" y="32894"/>
                    <a:pt x="76581" y="20067"/>
                    <a:pt x="57277" y="20067"/>
                  </a:cubicBezTo>
                  <a:cubicBezTo>
                    <a:pt x="37338" y="20067"/>
                    <a:pt x="22352" y="33529"/>
                    <a:pt x="22352" y="5727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789097" y="3053786"/>
            <a:ext cx="746333" cy="176079"/>
            <a:chOff x="0" y="0"/>
            <a:chExt cx="1334160" cy="31475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0" y="63500"/>
              <a:ext cx="145922" cy="184784"/>
            </a:xfrm>
            <a:custGeom>
              <a:avLst/>
              <a:gdLst/>
              <a:ahLst/>
              <a:cxnLst/>
              <a:rect r="r" b="b" t="t" l="l"/>
              <a:pathLst>
                <a:path h="184784" w="145922">
                  <a:moveTo>
                    <a:pt x="57657" y="184783"/>
                  </a:moveTo>
                  <a:lnTo>
                    <a:pt x="0" y="184783"/>
                  </a:lnTo>
                  <a:lnTo>
                    <a:pt x="0" y="92328"/>
                  </a:lnTo>
                  <a:lnTo>
                    <a:pt x="0" y="0"/>
                  </a:lnTo>
                  <a:lnTo>
                    <a:pt x="60070" y="0"/>
                  </a:lnTo>
                  <a:cubicBezTo>
                    <a:pt x="114045" y="0"/>
                    <a:pt x="145922" y="34670"/>
                    <a:pt x="145922" y="92074"/>
                  </a:cubicBezTo>
                  <a:cubicBezTo>
                    <a:pt x="145922" y="149858"/>
                    <a:pt x="114045" y="184783"/>
                    <a:pt x="57784" y="184783"/>
                  </a:cubicBezTo>
                  <a:close/>
                  <a:moveTo>
                    <a:pt x="23622" y="163955"/>
                  </a:moveTo>
                  <a:lnTo>
                    <a:pt x="56133" y="163955"/>
                  </a:lnTo>
                  <a:cubicBezTo>
                    <a:pt x="101091" y="163955"/>
                    <a:pt x="122935" y="136905"/>
                    <a:pt x="122935" y="92074"/>
                  </a:cubicBezTo>
                  <a:cubicBezTo>
                    <a:pt x="122935" y="47624"/>
                    <a:pt x="101091" y="20827"/>
                    <a:pt x="58292" y="20827"/>
                  </a:cubicBezTo>
                  <a:lnTo>
                    <a:pt x="23622" y="20827"/>
                  </a:lnTo>
                  <a:lnTo>
                    <a:pt x="23622" y="92328"/>
                  </a:lnTo>
                  <a:lnTo>
                    <a:pt x="23622" y="16382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37362" y="107949"/>
              <a:ext cx="126491" cy="143255"/>
            </a:xfrm>
            <a:custGeom>
              <a:avLst/>
              <a:gdLst/>
              <a:ahLst/>
              <a:cxnLst/>
              <a:rect r="r" b="b" t="t" l="l"/>
              <a:pathLst>
                <a:path h="143255" w="126491">
                  <a:moveTo>
                    <a:pt x="63119" y="143255"/>
                  </a:moveTo>
                  <a:cubicBezTo>
                    <a:pt x="25400" y="143255"/>
                    <a:pt x="0" y="114553"/>
                    <a:pt x="0" y="71882"/>
                  </a:cubicBezTo>
                  <a:cubicBezTo>
                    <a:pt x="0" y="28448"/>
                    <a:pt x="25400" y="0"/>
                    <a:pt x="63119" y="0"/>
                  </a:cubicBezTo>
                  <a:cubicBezTo>
                    <a:pt x="100837" y="0"/>
                    <a:pt x="126491" y="28575"/>
                    <a:pt x="126491" y="71882"/>
                  </a:cubicBezTo>
                  <a:cubicBezTo>
                    <a:pt x="126491" y="114680"/>
                    <a:pt x="100964" y="143255"/>
                    <a:pt x="63119" y="143255"/>
                  </a:cubicBezTo>
                  <a:close/>
                  <a:moveTo>
                    <a:pt x="63119" y="123316"/>
                  </a:moveTo>
                  <a:cubicBezTo>
                    <a:pt x="91185" y="123316"/>
                    <a:pt x="103885" y="99187"/>
                    <a:pt x="103885" y="71882"/>
                  </a:cubicBezTo>
                  <a:cubicBezTo>
                    <a:pt x="103885" y="44323"/>
                    <a:pt x="91058" y="19939"/>
                    <a:pt x="63119" y="19939"/>
                  </a:cubicBezTo>
                  <a:cubicBezTo>
                    <a:pt x="35433" y="19939"/>
                    <a:pt x="22733" y="44196"/>
                    <a:pt x="22733" y="71882"/>
                  </a:cubicBezTo>
                  <a:cubicBezTo>
                    <a:pt x="22733" y="99187"/>
                    <a:pt x="35560" y="123316"/>
                    <a:pt x="63119" y="12331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389634" y="107949"/>
              <a:ext cx="119760" cy="143509"/>
            </a:xfrm>
            <a:custGeom>
              <a:avLst/>
              <a:gdLst/>
              <a:ahLst/>
              <a:cxnLst/>
              <a:rect r="r" b="b" t="t" l="l"/>
              <a:pathLst>
                <a:path h="143509" w="119760">
                  <a:moveTo>
                    <a:pt x="63119" y="143255"/>
                  </a:moveTo>
                  <a:cubicBezTo>
                    <a:pt x="25400" y="143255"/>
                    <a:pt x="0" y="114553"/>
                    <a:pt x="0" y="71882"/>
                  </a:cubicBezTo>
                  <a:cubicBezTo>
                    <a:pt x="0" y="28448"/>
                    <a:pt x="25400" y="0"/>
                    <a:pt x="63119" y="0"/>
                  </a:cubicBezTo>
                  <a:cubicBezTo>
                    <a:pt x="89916" y="0"/>
                    <a:pt x="111760" y="14097"/>
                    <a:pt x="119253" y="38354"/>
                  </a:cubicBezTo>
                  <a:lnTo>
                    <a:pt x="97790" y="44450"/>
                  </a:lnTo>
                  <a:cubicBezTo>
                    <a:pt x="93726" y="30226"/>
                    <a:pt x="81280" y="20066"/>
                    <a:pt x="63119" y="20066"/>
                  </a:cubicBezTo>
                  <a:cubicBezTo>
                    <a:pt x="35433" y="20066"/>
                    <a:pt x="22733" y="44323"/>
                    <a:pt x="22733" y="72009"/>
                  </a:cubicBezTo>
                  <a:cubicBezTo>
                    <a:pt x="22733" y="99314"/>
                    <a:pt x="35560" y="123443"/>
                    <a:pt x="63119" y="123443"/>
                  </a:cubicBezTo>
                  <a:cubicBezTo>
                    <a:pt x="81661" y="123443"/>
                    <a:pt x="94361" y="112902"/>
                    <a:pt x="98425" y="97917"/>
                  </a:cubicBezTo>
                  <a:lnTo>
                    <a:pt x="119761" y="104012"/>
                  </a:lnTo>
                  <a:cubicBezTo>
                    <a:pt x="112268" y="128650"/>
                    <a:pt x="90297" y="143509"/>
                    <a:pt x="63119" y="14350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541525" y="109600"/>
              <a:ext cx="110997" cy="140461"/>
            </a:xfrm>
            <a:custGeom>
              <a:avLst/>
              <a:gdLst/>
              <a:ahLst/>
              <a:cxnLst/>
              <a:rect r="r" b="b" t="t" l="l"/>
              <a:pathLst>
                <a:path h="140461" w="110997">
                  <a:moveTo>
                    <a:pt x="46990" y="140461"/>
                  </a:moveTo>
                  <a:cubicBezTo>
                    <a:pt x="18923" y="140461"/>
                    <a:pt x="0" y="123189"/>
                    <a:pt x="0" y="88138"/>
                  </a:cubicBezTo>
                  <a:lnTo>
                    <a:pt x="0" y="44069"/>
                  </a:lnTo>
                  <a:lnTo>
                    <a:pt x="0" y="0"/>
                  </a:lnTo>
                  <a:lnTo>
                    <a:pt x="22352" y="0"/>
                  </a:lnTo>
                  <a:lnTo>
                    <a:pt x="22352" y="43053"/>
                  </a:lnTo>
                  <a:lnTo>
                    <a:pt x="22352" y="86106"/>
                  </a:lnTo>
                  <a:cubicBezTo>
                    <a:pt x="22352" y="107441"/>
                    <a:pt x="34417" y="120268"/>
                    <a:pt x="53721" y="120268"/>
                  </a:cubicBezTo>
                  <a:cubicBezTo>
                    <a:pt x="73533" y="120268"/>
                    <a:pt x="88519" y="106806"/>
                    <a:pt x="88519" y="83058"/>
                  </a:cubicBezTo>
                  <a:lnTo>
                    <a:pt x="88519" y="41529"/>
                  </a:lnTo>
                  <a:lnTo>
                    <a:pt x="88519" y="0"/>
                  </a:lnTo>
                  <a:lnTo>
                    <a:pt x="110998" y="0"/>
                  </a:lnTo>
                  <a:lnTo>
                    <a:pt x="110998" y="69342"/>
                  </a:lnTo>
                  <a:lnTo>
                    <a:pt x="110998" y="138683"/>
                  </a:lnTo>
                  <a:lnTo>
                    <a:pt x="89408" y="138683"/>
                  </a:lnTo>
                  <a:lnTo>
                    <a:pt x="89408" y="125729"/>
                  </a:lnTo>
                  <a:lnTo>
                    <a:pt x="89408" y="112775"/>
                  </a:lnTo>
                  <a:cubicBezTo>
                    <a:pt x="80391" y="132968"/>
                    <a:pt x="65278" y="140461"/>
                    <a:pt x="46990" y="1404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691639" y="107060"/>
              <a:ext cx="183387" cy="141350"/>
            </a:xfrm>
            <a:custGeom>
              <a:avLst/>
              <a:gdLst/>
              <a:ahLst/>
              <a:cxnLst/>
              <a:rect r="r" b="b" t="t" l="l"/>
              <a:pathLst>
                <a:path h="141350" w="183387">
                  <a:moveTo>
                    <a:pt x="0" y="141223"/>
                  </a:moveTo>
                  <a:lnTo>
                    <a:pt x="0" y="71882"/>
                  </a:lnTo>
                  <a:lnTo>
                    <a:pt x="0" y="2540"/>
                  </a:lnTo>
                  <a:lnTo>
                    <a:pt x="21717" y="2540"/>
                  </a:lnTo>
                  <a:lnTo>
                    <a:pt x="21844" y="27940"/>
                  </a:lnTo>
                  <a:cubicBezTo>
                    <a:pt x="28702" y="9271"/>
                    <a:pt x="44323" y="0"/>
                    <a:pt x="60705" y="0"/>
                  </a:cubicBezTo>
                  <a:cubicBezTo>
                    <a:pt x="78993" y="0"/>
                    <a:pt x="91058" y="11176"/>
                    <a:pt x="96011" y="28321"/>
                  </a:cubicBezTo>
                  <a:cubicBezTo>
                    <a:pt x="102615" y="10795"/>
                    <a:pt x="119633" y="0"/>
                    <a:pt x="139699" y="0"/>
                  </a:cubicBezTo>
                  <a:cubicBezTo>
                    <a:pt x="163702" y="0"/>
                    <a:pt x="183387" y="15494"/>
                    <a:pt x="183387" y="47625"/>
                  </a:cubicBezTo>
                  <a:lnTo>
                    <a:pt x="183387" y="94361"/>
                  </a:lnTo>
                  <a:lnTo>
                    <a:pt x="183387" y="141096"/>
                  </a:lnTo>
                  <a:lnTo>
                    <a:pt x="160781" y="141096"/>
                  </a:lnTo>
                  <a:lnTo>
                    <a:pt x="160781" y="94742"/>
                  </a:lnTo>
                  <a:lnTo>
                    <a:pt x="160781" y="48387"/>
                  </a:lnTo>
                  <a:cubicBezTo>
                    <a:pt x="160781" y="28448"/>
                    <a:pt x="147700" y="20447"/>
                    <a:pt x="132841" y="20447"/>
                  </a:cubicBezTo>
                  <a:cubicBezTo>
                    <a:pt x="114172" y="20447"/>
                    <a:pt x="102742" y="33274"/>
                    <a:pt x="102742" y="50673"/>
                  </a:cubicBezTo>
                  <a:lnTo>
                    <a:pt x="102742" y="95885"/>
                  </a:lnTo>
                  <a:lnTo>
                    <a:pt x="102742" y="141096"/>
                  </a:lnTo>
                  <a:lnTo>
                    <a:pt x="80517" y="141096"/>
                  </a:lnTo>
                  <a:lnTo>
                    <a:pt x="80517" y="93599"/>
                  </a:lnTo>
                  <a:lnTo>
                    <a:pt x="80517" y="46101"/>
                  </a:lnTo>
                  <a:cubicBezTo>
                    <a:pt x="80517" y="30734"/>
                    <a:pt x="68960" y="20447"/>
                    <a:pt x="53340" y="20447"/>
                  </a:cubicBezTo>
                  <a:cubicBezTo>
                    <a:pt x="37084" y="20447"/>
                    <a:pt x="22352" y="31877"/>
                    <a:pt x="22352" y="53975"/>
                  </a:cubicBezTo>
                  <a:lnTo>
                    <a:pt x="22352" y="97663"/>
                  </a:lnTo>
                  <a:lnTo>
                    <a:pt x="22352" y="141350"/>
                  </a:lnTo>
                  <a:lnTo>
                    <a:pt x="0" y="1413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907411" y="107949"/>
              <a:ext cx="122808" cy="143382"/>
            </a:xfrm>
            <a:custGeom>
              <a:avLst/>
              <a:gdLst/>
              <a:ahLst/>
              <a:cxnLst/>
              <a:rect r="r" b="b" t="t" l="l"/>
              <a:pathLst>
                <a:path h="143382" w="122808">
                  <a:moveTo>
                    <a:pt x="65023" y="143255"/>
                  </a:moveTo>
                  <a:cubicBezTo>
                    <a:pt x="24892" y="143255"/>
                    <a:pt x="0" y="114680"/>
                    <a:pt x="0" y="72009"/>
                  </a:cubicBezTo>
                  <a:cubicBezTo>
                    <a:pt x="0" y="29337"/>
                    <a:pt x="24511" y="0"/>
                    <a:pt x="62356" y="0"/>
                  </a:cubicBezTo>
                  <a:cubicBezTo>
                    <a:pt x="91693" y="0"/>
                    <a:pt x="122808" y="18161"/>
                    <a:pt x="122808" y="69342"/>
                  </a:cubicBezTo>
                  <a:lnTo>
                    <a:pt x="122808" y="74041"/>
                  </a:lnTo>
                  <a:lnTo>
                    <a:pt x="122808" y="78740"/>
                  </a:lnTo>
                  <a:lnTo>
                    <a:pt x="22606" y="78740"/>
                  </a:lnTo>
                  <a:cubicBezTo>
                    <a:pt x="23749" y="107695"/>
                    <a:pt x="40640" y="123570"/>
                    <a:pt x="65150" y="123570"/>
                  </a:cubicBezTo>
                  <a:cubicBezTo>
                    <a:pt x="81533" y="123570"/>
                    <a:pt x="93852" y="116331"/>
                    <a:pt x="99059" y="102234"/>
                  </a:cubicBezTo>
                  <a:lnTo>
                    <a:pt x="120649" y="108203"/>
                  </a:lnTo>
                  <a:cubicBezTo>
                    <a:pt x="114172" y="129158"/>
                    <a:pt x="93471" y="143382"/>
                    <a:pt x="65150" y="143382"/>
                  </a:cubicBezTo>
                  <a:close/>
                  <a:moveTo>
                    <a:pt x="22733" y="59690"/>
                  </a:moveTo>
                  <a:lnTo>
                    <a:pt x="100075" y="59690"/>
                  </a:lnTo>
                  <a:cubicBezTo>
                    <a:pt x="97916" y="36068"/>
                    <a:pt x="85216" y="19812"/>
                    <a:pt x="62356" y="19812"/>
                  </a:cubicBezTo>
                  <a:cubicBezTo>
                    <a:pt x="38608" y="19812"/>
                    <a:pt x="24003" y="38481"/>
                    <a:pt x="22733" y="596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062223" y="107822"/>
              <a:ext cx="110871" cy="140461"/>
            </a:xfrm>
            <a:custGeom>
              <a:avLst/>
              <a:gdLst/>
              <a:ahLst/>
              <a:cxnLst/>
              <a:rect r="r" b="b" t="t" l="l"/>
              <a:pathLst>
                <a:path h="140461" w="110871">
                  <a:moveTo>
                    <a:pt x="22352" y="57404"/>
                  </a:moveTo>
                  <a:lnTo>
                    <a:pt x="22352" y="98933"/>
                  </a:lnTo>
                  <a:lnTo>
                    <a:pt x="22352" y="140461"/>
                  </a:lnTo>
                  <a:lnTo>
                    <a:pt x="0" y="140461"/>
                  </a:lnTo>
                  <a:lnTo>
                    <a:pt x="0" y="71120"/>
                  </a:lnTo>
                  <a:lnTo>
                    <a:pt x="0" y="1778"/>
                  </a:lnTo>
                  <a:lnTo>
                    <a:pt x="21463" y="1778"/>
                  </a:lnTo>
                  <a:lnTo>
                    <a:pt x="21590" y="27432"/>
                  </a:lnTo>
                  <a:cubicBezTo>
                    <a:pt x="30480" y="7874"/>
                    <a:pt x="45339" y="0"/>
                    <a:pt x="64008" y="0"/>
                  </a:cubicBezTo>
                  <a:cubicBezTo>
                    <a:pt x="92075" y="0"/>
                    <a:pt x="110871" y="17272"/>
                    <a:pt x="110871" y="52324"/>
                  </a:cubicBezTo>
                  <a:lnTo>
                    <a:pt x="110871" y="96393"/>
                  </a:lnTo>
                  <a:lnTo>
                    <a:pt x="110871" y="140461"/>
                  </a:lnTo>
                  <a:lnTo>
                    <a:pt x="88519" y="140461"/>
                  </a:lnTo>
                  <a:lnTo>
                    <a:pt x="88519" y="97409"/>
                  </a:lnTo>
                  <a:lnTo>
                    <a:pt x="88519" y="54229"/>
                  </a:lnTo>
                  <a:cubicBezTo>
                    <a:pt x="88519" y="32893"/>
                    <a:pt x="76581" y="20066"/>
                    <a:pt x="57277" y="20066"/>
                  </a:cubicBezTo>
                  <a:cubicBezTo>
                    <a:pt x="37338" y="20066"/>
                    <a:pt x="22352" y="33528"/>
                    <a:pt x="22352" y="5727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195191" y="76707"/>
              <a:ext cx="75438" cy="173227"/>
            </a:xfrm>
            <a:custGeom>
              <a:avLst/>
              <a:gdLst/>
              <a:ahLst/>
              <a:cxnLst/>
              <a:rect r="r" b="b" t="t" l="l"/>
              <a:pathLst>
                <a:path h="173227" w="75438">
                  <a:moveTo>
                    <a:pt x="71628" y="32893"/>
                  </a:moveTo>
                  <a:lnTo>
                    <a:pt x="71628" y="42418"/>
                  </a:lnTo>
                  <a:lnTo>
                    <a:pt x="71628" y="51943"/>
                  </a:lnTo>
                  <a:lnTo>
                    <a:pt x="43053" y="51943"/>
                  </a:lnTo>
                  <a:lnTo>
                    <a:pt x="43053" y="93726"/>
                  </a:lnTo>
                  <a:lnTo>
                    <a:pt x="43053" y="135508"/>
                  </a:lnTo>
                  <a:cubicBezTo>
                    <a:pt x="43053" y="147954"/>
                    <a:pt x="47625" y="153415"/>
                    <a:pt x="59436" y="153415"/>
                  </a:cubicBezTo>
                  <a:cubicBezTo>
                    <a:pt x="62230" y="153415"/>
                    <a:pt x="67183" y="152653"/>
                    <a:pt x="70866" y="151891"/>
                  </a:cubicBezTo>
                  <a:lnTo>
                    <a:pt x="75438" y="170687"/>
                  </a:lnTo>
                  <a:cubicBezTo>
                    <a:pt x="70866" y="172338"/>
                    <a:pt x="64516" y="173227"/>
                    <a:pt x="58801" y="173227"/>
                  </a:cubicBezTo>
                  <a:cubicBezTo>
                    <a:pt x="34925" y="173227"/>
                    <a:pt x="20701" y="160019"/>
                    <a:pt x="20701" y="137286"/>
                  </a:cubicBezTo>
                  <a:lnTo>
                    <a:pt x="20701" y="94742"/>
                  </a:lnTo>
                  <a:lnTo>
                    <a:pt x="20701" y="52070"/>
                  </a:lnTo>
                  <a:lnTo>
                    <a:pt x="0" y="52070"/>
                  </a:lnTo>
                  <a:lnTo>
                    <a:pt x="0" y="42418"/>
                  </a:lnTo>
                  <a:lnTo>
                    <a:pt x="0" y="32893"/>
                  </a:lnTo>
                  <a:lnTo>
                    <a:pt x="20828" y="32893"/>
                  </a:lnTo>
                  <a:lnTo>
                    <a:pt x="20828" y="16383"/>
                  </a:lnTo>
                  <a:lnTo>
                    <a:pt x="20828" y="0"/>
                  </a:lnTo>
                  <a:lnTo>
                    <a:pt x="43053" y="0"/>
                  </a:lnTo>
                  <a:lnTo>
                    <a:pt x="43053" y="16510"/>
                  </a:lnTo>
                  <a:lnTo>
                    <a:pt x="43053" y="33020"/>
                  </a:lnTo>
                  <a:lnTo>
                    <a:pt x="71628" y="3302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758187" y="2657798"/>
            <a:ext cx="1051372" cy="179617"/>
            <a:chOff x="0" y="0"/>
            <a:chExt cx="1879460" cy="3210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63500" y="67055"/>
              <a:ext cx="134112" cy="190498"/>
            </a:xfrm>
            <a:custGeom>
              <a:avLst/>
              <a:gdLst/>
              <a:ahLst/>
              <a:cxnLst/>
              <a:rect r="r" b="b" t="t" l="l"/>
              <a:pathLst>
                <a:path h="190498" w="134112">
                  <a:moveTo>
                    <a:pt x="67056" y="190499"/>
                  </a:moveTo>
                  <a:cubicBezTo>
                    <a:pt x="27051" y="190499"/>
                    <a:pt x="2032" y="169925"/>
                    <a:pt x="0" y="138937"/>
                  </a:cubicBezTo>
                  <a:lnTo>
                    <a:pt x="24130" y="138937"/>
                  </a:lnTo>
                  <a:cubicBezTo>
                    <a:pt x="26035" y="159892"/>
                    <a:pt x="45339" y="169417"/>
                    <a:pt x="67056" y="169417"/>
                  </a:cubicBezTo>
                  <a:cubicBezTo>
                    <a:pt x="92075" y="169417"/>
                    <a:pt x="111252" y="156209"/>
                    <a:pt x="111252" y="136524"/>
                  </a:cubicBezTo>
                  <a:cubicBezTo>
                    <a:pt x="111887" y="111378"/>
                    <a:pt x="74803" y="107060"/>
                    <a:pt x="52324" y="100203"/>
                  </a:cubicBezTo>
                  <a:cubicBezTo>
                    <a:pt x="22733" y="91186"/>
                    <a:pt x="5207" y="76454"/>
                    <a:pt x="5207" y="51943"/>
                  </a:cubicBezTo>
                  <a:cubicBezTo>
                    <a:pt x="5207" y="20701"/>
                    <a:pt x="33020" y="0"/>
                    <a:pt x="68707" y="0"/>
                  </a:cubicBezTo>
                  <a:cubicBezTo>
                    <a:pt x="105156" y="0"/>
                    <a:pt x="130556" y="21209"/>
                    <a:pt x="131699" y="49149"/>
                  </a:cubicBezTo>
                  <a:lnTo>
                    <a:pt x="108585" y="49149"/>
                  </a:lnTo>
                  <a:cubicBezTo>
                    <a:pt x="106426" y="31115"/>
                    <a:pt x="89916" y="20828"/>
                    <a:pt x="67945" y="20828"/>
                  </a:cubicBezTo>
                  <a:cubicBezTo>
                    <a:pt x="44069" y="20828"/>
                    <a:pt x="28194" y="33528"/>
                    <a:pt x="28194" y="50800"/>
                  </a:cubicBezTo>
                  <a:cubicBezTo>
                    <a:pt x="28194" y="70104"/>
                    <a:pt x="49911" y="76962"/>
                    <a:pt x="63373" y="80645"/>
                  </a:cubicBezTo>
                  <a:lnTo>
                    <a:pt x="81788" y="85725"/>
                  </a:lnTo>
                  <a:cubicBezTo>
                    <a:pt x="101600" y="91186"/>
                    <a:pt x="134112" y="102361"/>
                    <a:pt x="134112" y="136778"/>
                  </a:cubicBezTo>
                  <a:cubicBezTo>
                    <a:pt x="134112" y="167004"/>
                    <a:pt x="109728" y="190372"/>
                    <a:pt x="67056" y="19037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31648" y="115696"/>
              <a:ext cx="110998" cy="140461"/>
            </a:xfrm>
            <a:custGeom>
              <a:avLst/>
              <a:gdLst/>
              <a:ahLst/>
              <a:cxnLst/>
              <a:rect r="r" b="b" t="t" l="l"/>
              <a:pathLst>
                <a:path h="140461" w="110998">
                  <a:moveTo>
                    <a:pt x="46990" y="140461"/>
                  </a:moveTo>
                  <a:cubicBezTo>
                    <a:pt x="18923" y="140461"/>
                    <a:pt x="0" y="123189"/>
                    <a:pt x="0" y="88137"/>
                  </a:cubicBezTo>
                  <a:lnTo>
                    <a:pt x="0" y="44069"/>
                  </a:lnTo>
                  <a:lnTo>
                    <a:pt x="0" y="0"/>
                  </a:lnTo>
                  <a:lnTo>
                    <a:pt x="22352" y="0"/>
                  </a:lnTo>
                  <a:lnTo>
                    <a:pt x="22352" y="43053"/>
                  </a:lnTo>
                  <a:lnTo>
                    <a:pt x="22352" y="86232"/>
                  </a:lnTo>
                  <a:cubicBezTo>
                    <a:pt x="22352" y="107568"/>
                    <a:pt x="34417" y="120395"/>
                    <a:pt x="53720" y="120395"/>
                  </a:cubicBezTo>
                  <a:cubicBezTo>
                    <a:pt x="73532" y="120395"/>
                    <a:pt x="88518" y="106933"/>
                    <a:pt x="88518" y="83184"/>
                  </a:cubicBezTo>
                  <a:lnTo>
                    <a:pt x="88518" y="41529"/>
                  </a:lnTo>
                  <a:lnTo>
                    <a:pt x="88518" y="0"/>
                  </a:lnTo>
                  <a:lnTo>
                    <a:pt x="110997" y="0"/>
                  </a:lnTo>
                  <a:lnTo>
                    <a:pt x="110997" y="69341"/>
                  </a:lnTo>
                  <a:lnTo>
                    <a:pt x="110997" y="138683"/>
                  </a:lnTo>
                  <a:lnTo>
                    <a:pt x="89407" y="138683"/>
                  </a:lnTo>
                  <a:lnTo>
                    <a:pt x="89407" y="125729"/>
                  </a:lnTo>
                  <a:lnTo>
                    <a:pt x="89407" y="112775"/>
                  </a:lnTo>
                  <a:cubicBezTo>
                    <a:pt x="80390" y="132968"/>
                    <a:pt x="65277" y="140461"/>
                    <a:pt x="46990" y="1404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381761" y="69595"/>
              <a:ext cx="123063" cy="187831"/>
            </a:xfrm>
            <a:custGeom>
              <a:avLst/>
              <a:gdLst/>
              <a:ahLst/>
              <a:cxnLst/>
              <a:rect r="r" b="b" t="t" l="l"/>
              <a:pathLst>
                <a:path h="187831" w="123063">
                  <a:moveTo>
                    <a:pt x="64389" y="187705"/>
                  </a:moveTo>
                  <a:cubicBezTo>
                    <a:pt x="37973" y="187705"/>
                    <a:pt x="28702" y="170941"/>
                    <a:pt x="24130" y="163321"/>
                  </a:cubicBezTo>
                  <a:lnTo>
                    <a:pt x="21590" y="163321"/>
                  </a:lnTo>
                  <a:lnTo>
                    <a:pt x="21590" y="173989"/>
                  </a:lnTo>
                  <a:lnTo>
                    <a:pt x="21590" y="184657"/>
                  </a:lnTo>
                  <a:lnTo>
                    <a:pt x="0" y="184657"/>
                  </a:lnTo>
                  <a:lnTo>
                    <a:pt x="0" y="92329"/>
                  </a:lnTo>
                  <a:lnTo>
                    <a:pt x="0" y="0"/>
                  </a:lnTo>
                  <a:lnTo>
                    <a:pt x="22352" y="0"/>
                  </a:lnTo>
                  <a:lnTo>
                    <a:pt x="22352" y="34290"/>
                  </a:lnTo>
                  <a:lnTo>
                    <a:pt x="22352" y="68453"/>
                  </a:lnTo>
                  <a:lnTo>
                    <a:pt x="24130" y="68453"/>
                  </a:lnTo>
                  <a:cubicBezTo>
                    <a:pt x="28702" y="61087"/>
                    <a:pt x="37338" y="44577"/>
                    <a:pt x="64262" y="44577"/>
                  </a:cubicBezTo>
                  <a:cubicBezTo>
                    <a:pt x="98806" y="44577"/>
                    <a:pt x="123063" y="72136"/>
                    <a:pt x="123063" y="115950"/>
                  </a:cubicBezTo>
                  <a:cubicBezTo>
                    <a:pt x="123063" y="160146"/>
                    <a:pt x="99060" y="187832"/>
                    <a:pt x="64389" y="187832"/>
                  </a:cubicBezTo>
                  <a:close/>
                  <a:moveTo>
                    <a:pt x="61087" y="167893"/>
                  </a:moveTo>
                  <a:cubicBezTo>
                    <a:pt x="86995" y="167893"/>
                    <a:pt x="100457" y="144779"/>
                    <a:pt x="100457" y="115696"/>
                  </a:cubicBezTo>
                  <a:cubicBezTo>
                    <a:pt x="100457" y="86868"/>
                    <a:pt x="87376" y="64516"/>
                    <a:pt x="61087" y="64516"/>
                  </a:cubicBezTo>
                  <a:cubicBezTo>
                    <a:pt x="35560" y="64516"/>
                    <a:pt x="22098" y="85090"/>
                    <a:pt x="22098" y="115696"/>
                  </a:cubicBezTo>
                  <a:cubicBezTo>
                    <a:pt x="22098" y="146557"/>
                    <a:pt x="35814" y="167893"/>
                    <a:pt x="61087" y="16789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35685" y="165226"/>
              <a:ext cx="81153" cy="20574"/>
            </a:xfrm>
            <a:custGeom>
              <a:avLst/>
              <a:gdLst/>
              <a:ahLst/>
              <a:cxnLst/>
              <a:rect r="r" b="b" t="t" l="l"/>
              <a:pathLst>
                <a:path h="20574" w="81153">
                  <a:moveTo>
                    <a:pt x="81026" y="0"/>
                  </a:moveTo>
                  <a:lnTo>
                    <a:pt x="81026" y="10286"/>
                  </a:lnTo>
                  <a:lnTo>
                    <a:pt x="81026" y="20573"/>
                  </a:lnTo>
                  <a:lnTo>
                    <a:pt x="0" y="20573"/>
                  </a:lnTo>
                  <a:lnTo>
                    <a:pt x="0" y="10286"/>
                  </a:lnTo>
                  <a:lnTo>
                    <a:pt x="0" y="0"/>
                  </a:lnTo>
                  <a:lnTo>
                    <a:pt x="81153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649731" y="67055"/>
              <a:ext cx="156591" cy="189736"/>
            </a:xfrm>
            <a:custGeom>
              <a:avLst/>
              <a:gdLst/>
              <a:ahLst/>
              <a:cxnLst/>
              <a:rect r="r" b="b" t="t" l="l"/>
              <a:pathLst>
                <a:path h="189736" w="156591">
                  <a:moveTo>
                    <a:pt x="81915" y="189737"/>
                  </a:moveTo>
                  <a:cubicBezTo>
                    <a:pt x="34544" y="189737"/>
                    <a:pt x="0" y="153542"/>
                    <a:pt x="0" y="94996"/>
                  </a:cubicBezTo>
                  <a:cubicBezTo>
                    <a:pt x="0" y="36449"/>
                    <a:pt x="34544" y="0"/>
                    <a:pt x="81915" y="0"/>
                  </a:cubicBezTo>
                  <a:cubicBezTo>
                    <a:pt x="119380" y="0"/>
                    <a:pt x="149860" y="22606"/>
                    <a:pt x="156464" y="60706"/>
                  </a:cubicBezTo>
                  <a:lnTo>
                    <a:pt x="132969" y="60706"/>
                  </a:lnTo>
                  <a:cubicBezTo>
                    <a:pt x="127762" y="35433"/>
                    <a:pt x="106045" y="21844"/>
                    <a:pt x="81915" y="21844"/>
                  </a:cubicBezTo>
                  <a:cubicBezTo>
                    <a:pt x="48768" y="21844"/>
                    <a:pt x="22987" y="47625"/>
                    <a:pt x="22987" y="94996"/>
                  </a:cubicBezTo>
                  <a:cubicBezTo>
                    <a:pt x="22987" y="142366"/>
                    <a:pt x="48895" y="167893"/>
                    <a:pt x="82042" y="167893"/>
                  </a:cubicBezTo>
                  <a:cubicBezTo>
                    <a:pt x="106172" y="167893"/>
                    <a:pt x="127762" y="154304"/>
                    <a:pt x="132969" y="129031"/>
                  </a:cubicBezTo>
                  <a:lnTo>
                    <a:pt x="156591" y="129031"/>
                  </a:lnTo>
                  <a:cubicBezTo>
                    <a:pt x="150114" y="166623"/>
                    <a:pt x="119888" y="189737"/>
                    <a:pt x="82042" y="18973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832992" y="114045"/>
              <a:ext cx="126492" cy="143255"/>
            </a:xfrm>
            <a:custGeom>
              <a:avLst/>
              <a:gdLst/>
              <a:ahLst/>
              <a:cxnLst/>
              <a:rect r="r" b="b" t="t" l="l"/>
              <a:pathLst>
                <a:path h="143255" w="126492">
                  <a:moveTo>
                    <a:pt x="63118" y="143255"/>
                  </a:moveTo>
                  <a:cubicBezTo>
                    <a:pt x="25400" y="143255"/>
                    <a:pt x="0" y="114553"/>
                    <a:pt x="0" y="71881"/>
                  </a:cubicBezTo>
                  <a:cubicBezTo>
                    <a:pt x="0" y="28448"/>
                    <a:pt x="25400" y="0"/>
                    <a:pt x="63118" y="0"/>
                  </a:cubicBezTo>
                  <a:cubicBezTo>
                    <a:pt x="100837" y="0"/>
                    <a:pt x="126491" y="28575"/>
                    <a:pt x="126491" y="71881"/>
                  </a:cubicBezTo>
                  <a:cubicBezTo>
                    <a:pt x="126491" y="114680"/>
                    <a:pt x="100964" y="143255"/>
                    <a:pt x="63118" y="143255"/>
                  </a:cubicBezTo>
                  <a:close/>
                  <a:moveTo>
                    <a:pt x="63118" y="123316"/>
                  </a:moveTo>
                  <a:cubicBezTo>
                    <a:pt x="91185" y="123316"/>
                    <a:pt x="103885" y="99186"/>
                    <a:pt x="103885" y="71881"/>
                  </a:cubicBezTo>
                  <a:cubicBezTo>
                    <a:pt x="103885" y="44323"/>
                    <a:pt x="91058" y="19939"/>
                    <a:pt x="63118" y="19939"/>
                  </a:cubicBezTo>
                  <a:cubicBezTo>
                    <a:pt x="35432" y="19939"/>
                    <a:pt x="22733" y="44196"/>
                    <a:pt x="22733" y="71881"/>
                  </a:cubicBezTo>
                  <a:cubicBezTo>
                    <a:pt x="22733" y="99186"/>
                    <a:pt x="35559" y="123316"/>
                    <a:pt x="63118" y="12331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991995" y="69595"/>
              <a:ext cx="22352" cy="184656"/>
            </a:xfrm>
            <a:custGeom>
              <a:avLst/>
              <a:gdLst/>
              <a:ahLst/>
              <a:cxnLst/>
              <a:rect r="r" b="b" t="t" l="l"/>
              <a:pathLst>
                <a:path h="184656" w="22352">
                  <a:moveTo>
                    <a:pt x="22352" y="0"/>
                  </a:moveTo>
                  <a:lnTo>
                    <a:pt x="22352" y="92329"/>
                  </a:lnTo>
                  <a:lnTo>
                    <a:pt x="22352" y="184657"/>
                  </a:lnTo>
                  <a:lnTo>
                    <a:pt x="0" y="184657"/>
                  </a:lnTo>
                  <a:lnTo>
                    <a:pt x="0" y="92329"/>
                  </a:lnTo>
                  <a:lnTo>
                    <a:pt x="0" y="0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053463" y="69595"/>
              <a:ext cx="22352" cy="184656"/>
            </a:xfrm>
            <a:custGeom>
              <a:avLst/>
              <a:gdLst/>
              <a:ahLst/>
              <a:cxnLst/>
              <a:rect r="r" b="b" t="t" l="l"/>
              <a:pathLst>
                <a:path h="184656" w="22352">
                  <a:moveTo>
                    <a:pt x="22352" y="0"/>
                  </a:moveTo>
                  <a:lnTo>
                    <a:pt x="22352" y="92329"/>
                  </a:lnTo>
                  <a:lnTo>
                    <a:pt x="22352" y="184657"/>
                  </a:lnTo>
                  <a:lnTo>
                    <a:pt x="0" y="184657"/>
                  </a:lnTo>
                  <a:lnTo>
                    <a:pt x="0" y="92329"/>
                  </a:lnTo>
                  <a:lnTo>
                    <a:pt x="0" y="0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108327" y="113918"/>
              <a:ext cx="122809" cy="143382"/>
            </a:xfrm>
            <a:custGeom>
              <a:avLst/>
              <a:gdLst/>
              <a:ahLst/>
              <a:cxnLst/>
              <a:rect r="r" b="b" t="t" l="l"/>
              <a:pathLst>
                <a:path h="143382" w="122809">
                  <a:moveTo>
                    <a:pt x="65024" y="143382"/>
                  </a:moveTo>
                  <a:cubicBezTo>
                    <a:pt x="24892" y="143382"/>
                    <a:pt x="0" y="114807"/>
                    <a:pt x="0" y="72135"/>
                  </a:cubicBezTo>
                  <a:cubicBezTo>
                    <a:pt x="0" y="29464"/>
                    <a:pt x="24511" y="0"/>
                    <a:pt x="62357" y="0"/>
                  </a:cubicBezTo>
                  <a:cubicBezTo>
                    <a:pt x="91694" y="0"/>
                    <a:pt x="122809" y="18161"/>
                    <a:pt x="122809" y="69341"/>
                  </a:cubicBezTo>
                  <a:lnTo>
                    <a:pt x="122809" y="74040"/>
                  </a:lnTo>
                  <a:lnTo>
                    <a:pt x="122809" y="78739"/>
                  </a:lnTo>
                  <a:lnTo>
                    <a:pt x="22606" y="78739"/>
                  </a:lnTo>
                  <a:cubicBezTo>
                    <a:pt x="23749" y="107695"/>
                    <a:pt x="40640" y="123570"/>
                    <a:pt x="65151" y="123570"/>
                  </a:cubicBezTo>
                  <a:cubicBezTo>
                    <a:pt x="81534" y="123570"/>
                    <a:pt x="93853" y="116331"/>
                    <a:pt x="99060" y="102234"/>
                  </a:cubicBezTo>
                  <a:lnTo>
                    <a:pt x="120650" y="108203"/>
                  </a:lnTo>
                  <a:cubicBezTo>
                    <a:pt x="114173" y="129158"/>
                    <a:pt x="93472" y="143382"/>
                    <a:pt x="65151" y="143382"/>
                  </a:cubicBezTo>
                  <a:close/>
                  <a:moveTo>
                    <a:pt x="22860" y="59816"/>
                  </a:moveTo>
                  <a:lnTo>
                    <a:pt x="100203" y="59816"/>
                  </a:lnTo>
                  <a:cubicBezTo>
                    <a:pt x="98044" y="36195"/>
                    <a:pt x="85344" y="19939"/>
                    <a:pt x="62484" y="19939"/>
                  </a:cubicBezTo>
                  <a:cubicBezTo>
                    <a:pt x="38735" y="19939"/>
                    <a:pt x="24130" y="38608"/>
                    <a:pt x="22860" y="5981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256409" y="114045"/>
              <a:ext cx="119761" cy="143509"/>
            </a:xfrm>
            <a:custGeom>
              <a:avLst/>
              <a:gdLst/>
              <a:ahLst/>
              <a:cxnLst/>
              <a:rect r="r" b="b" t="t" l="l"/>
              <a:pathLst>
                <a:path h="143509" w="119761">
                  <a:moveTo>
                    <a:pt x="63119" y="143255"/>
                  </a:moveTo>
                  <a:cubicBezTo>
                    <a:pt x="25400" y="143255"/>
                    <a:pt x="0" y="114553"/>
                    <a:pt x="0" y="71881"/>
                  </a:cubicBezTo>
                  <a:cubicBezTo>
                    <a:pt x="0" y="28448"/>
                    <a:pt x="25400" y="0"/>
                    <a:pt x="63119" y="0"/>
                  </a:cubicBezTo>
                  <a:cubicBezTo>
                    <a:pt x="89916" y="0"/>
                    <a:pt x="111760" y="14097"/>
                    <a:pt x="119253" y="38354"/>
                  </a:cubicBezTo>
                  <a:lnTo>
                    <a:pt x="97790" y="44450"/>
                  </a:lnTo>
                  <a:cubicBezTo>
                    <a:pt x="93726" y="30226"/>
                    <a:pt x="81280" y="20066"/>
                    <a:pt x="63119" y="20066"/>
                  </a:cubicBezTo>
                  <a:cubicBezTo>
                    <a:pt x="35433" y="20066"/>
                    <a:pt x="22733" y="44323"/>
                    <a:pt x="22733" y="72008"/>
                  </a:cubicBezTo>
                  <a:cubicBezTo>
                    <a:pt x="22733" y="99313"/>
                    <a:pt x="35560" y="123443"/>
                    <a:pt x="63119" y="123443"/>
                  </a:cubicBezTo>
                  <a:cubicBezTo>
                    <a:pt x="81661" y="123443"/>
                    <a:pt x="94361" y="112902"/>
                    <a:pt x="98425" y="97916"/>
                  </a:cubicBezTo>
                  <a:lnTo>
                    <a:pt x="119761" y="104012"/>
                  </a:lnTo>
                  <a:cubicBezTo>
                    <a:pt x="112268" y="128650"/>
                    <a:pt x="90297" y="143509"/>
                    <a:pt x="63119" y="14350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391029" y="82676"/>
              <a:ext cx="75565" cy="173480"/>
            </a:xfrm>
            <a:custGeom>
              <a:avLst/>
              <a:gdLst/>
              <a:ahLst/>
              <a:cxnLst/>
              <a:rect r="r" b="b" t="t" l="l"/>
              <a:pathLst>
                <a:path h="173480" w="75565">
                  <a:moveTo>
                    <a:pt x="71754" y="33020"/>
                  </a:moveTo>
                  <a:lnTo>
                    <a:pt x="71754" y="42545"/>
                  </a:lnTo>
                  <a:lnTo>
                    <a:pt x="71754" y="52070"/>
                  </a:lnTo>
                  <a:lnTo>
                    <a:pt x="43179" y="52070"/>
                  </a:lnTo>
                  <a:lnTo>
                    <a:pt x="43179" y="93852"/>
                  </a:lnTo>
                  <a:lnTo>
                    <a:pt x="43179" y="135762"/>
                  </a:lnTo>
                  <a:cubicBezTo>
                    <a:pt x="43179" y="148208"/>
                    <a:pt x="47751" y="153669"/>
                    <a:pt x="59562" y="153669"/>
                  </a:cubicBezTo>
                  <a:cubicBezTo>
                    <a:pt x="62357" y="153669"/>
                    <a:pt x="67310" y="152907"/>
                    <a:pt x="70993" y="152145"/>
                  </a:cubicBezTo>
                  <a:lnTo>
                    <a:pt x="75565" y="170941"/>
                  </a:lnTo>
                  <a:cubicBezTo>
                    <a:pt x="70993" y="172592"/>
                    <a:pt x="64643" y="173481"/>
                    <a:pt x="58927" y="173481"/>
                  </a:cubicBezTo>
                  <a:cubicBezTo>
                    <a:pt x="35051" y="173481"/>
                    <a:pt x="20828" y="160273"/>
                    <a:pt x="20828" y="137540"/>
                  </a:cubicBezTo>
                  <a:lnTo>
                    <a:pt x="20828" y="94741"/>
                  </a:lnTo>
                  <a:lnTo>
                    <a:pt x="20828" y="52070"/>
                  </a:lnTo>
                  <a:lnTo>
                    <a:pt x="0" y="52070"/>
                  </a:lnTo>
                  <a:lnTo>
                    <a:pt x="0" y="42545"/>
                  </a:lnTo>
                  <a:lnTo>
                    <a:pt x="0" y="33020"/>
                  </a:lnTo>
                  <a:lnTo>
                    <a:pt x="20828" y="33020"/>
                  </a:lnTo>
                  <a:lnTo>
                    <a:pt x="20828" y="16510"/>
                  </a:lnTo>
                  <a:lnTo>
                    <a:pt x="20828" y="0"/>
                  </a:lnTo>
                  <a:lnTo>
                    <a:pt x="43179" y="0"/>
                  </a:lnTo>
                  <a:lnTo>
                    <a:pt x="43179" y="16510"/>
                  </a:lnTo>
                  <a:lnTo>
                    <a:pt x="43179" y="33020"/>
                  </a:lnTo>
                  <a:lnTo>
                    <a:pt x="71754" y="3302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487040" y="63499"/>
              <a:ext cx="31115" cy="190879"/>
            </a:xfrm>
            <a:custGeom>
              <a:avLst/>
              <a:gdLst/>
              <a:ahLst/>
              <a:cxnLst/>
              <a:rect r="r" b="b" t="t" l="l"/>
              <a:pathLst>
                <a:path h="190879" w="31115">
                  <a:moveTo>
                    <a:pt x="4191" y="190880"/>
                  </a:moveTo>
                  <a:lnTo>
                    <a:pt x="4191" y="121538"/>
                  </a:lnTo>
                  <a:lnTo>
                    <a:pt x="4191" y="52197"/>
                  </a:lnTo>
                  <a:lnTo>
                    <a:pt x="26543" y="52197"/>
                  </a:lnTo>
                  <a:lnTo>
                    <a:pt x="26543" y="121538"/>
                  </a:lnTo>
                  <a:lnTo>
                    <a:pt x="26543" y="190880"/>
                  </a:lnTo>
                  <a:lnTo>
                    <a:pt x="4191" y="190880"/>
                  </a:lnTo>
                  <a:close/>
                  <a:moveTo>
                    <a:pt x="15494" y="29591"/>
                  </a:moveTo>
                  <a:cubicBezTo>
                    <a:pt x="7112" y="29591"/>
                    <a:pt x="0" y="22987"/>
                    <a:pt x="0" y="14859"/>
                  </a:cubicBezTo>
                  <a:cubicBezTo>
                    <a:pt x="0" y="6731"/>
                    <a:pt x="7112" y="0"/>
                    <a:pt x="15494" y="0"/>
                  </a:cubicBezTo>
                  <a:cubicBezTo>
                    <a:pt x="23876" y="0"/>
                    <a:pt x="31115" y="6604"/>
                    <a:pt x="31115" y="14732"/>
                  </a:cubicBezTo>
                  <a:cubicBezTo>
                    <a:pt x="31115" y="22860"/>
                    <a:pt x="24003" y="29464"/>
                    <a:pt x="15494" y="2946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546095" y="114045"/>
              <a:ext cx="126492" cy="143255"/>
            </a:xfrm>
            <a:custGeom>
              <a:avLst/>
              <a:gdLst/>
              <a:ahLst/>
              <a:cxnLst/>
              <a:rect r="r" b="b" t="t" l="l"/>
              <a:pathLst>
                <a:path h="143255" w="126492">
                  <a:moveTo>
                    <a:pt x="63119" y="143255"/>
                  </a:moveTo>
                  <a:cubicBezTo>
                    <a:pt x="25400" y="143255"/>
                    <a:pt x="0" y="114553"/>
                    <a:pt x="0" y="71881"/>
                  </a:cubicBezTo>
                  <a:cubicBezTo>
                    <a:pt x="0" y="28448"/>
                    <a:pt x="25400" y="0"/>
                    <a:pt x="63119" y="0"/>
                  </a:cubicBezTo>
                  <a:cubicBezTo>
                    <a:pt x="100838" y="0"/>
                    <a:pt x="126492" y="28575"/>
                    <a:pt x="126492" y="71881"/>
                  </a:cubicBezTo>
                  <a:cubicBezTo>
                    <a:pt x="126492" y="114680"/>
                    <a:pt x="100965" y="143255"/>
                    <a:pt x="63119" y="143255"/>
                  </a:cubicBezTo>
                  <a:close/>
                  <a:moveTo>
                    <a:pt x="63119" y="123316"/>
                  </a:moveTo>
                  <a:cubicBezTo>
                    <a:pt x="91186" y="123316"/>
                    <a:pt x="103886" y="99186"/>
                    <a:pt x="103886" y="71881"/>
                  </a:cubicBezTo>
                  <a:cubicBezTo>
                    <a:pt x="103886" y="44323"/>
                    <a:pt x="91059" y="19939"/>
                    <a:pt x="63119" y="19939"/>
                  </a:cubicBezTo>
                  <a:cubicBezTo>
                    <a:pt x="35433" y="19939"/>
                    <a:pt x="22733" y="44196"/>
                    <a:pt x="22733" y="71881"/>
                  </a:cubicBezTo>
                  <a:cubicBezTo>
                    <a:pt x="22733" y="99186"/>
                    <a:pt x="35560" y="123316"/>
                    <a:pt x="63119" y="12331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705099" y="113918"/>
              <a:ext cx="110871" cy="140461"/>
            </a:xfrm>
            <a:custGeom>
              <a:avLst/>
              <a:gdLst/>
              <a:ahLst/>
              <a:cxnLst/>
              <a:rect r="r" b="b" t="t" l="l"/>
              <a:pathLst>
                <a:path h="140461" w="110871">
                  <a:moveTo>
                    <a:pt x="22352" y="57403"/>
                  </a:moveTo>
                  <a:lnTo>
                    <a:pt x="22352" y="98932"/>
                  </a:lnTo>
                  <a:lnTo>
                    <a:pt x="22352" y="140461"/>
                  </a:lnTo>
                  <a:lnTo>
                    <a:pt x="0" y="140461"/>
                  </a:lnTo>
                  <a:lnTo>
                    <a:pt x="0" y="71119"/>
                  </a:lnTo>
                  <a:lnTo>
                    <a:pt x="0" y="1778"/>
                  </a:lnTo>
                  <a:lnTo>
                    <a:pt x="21463" y="1778"/>
                  </a:lnTo>
                  <a:lnTo>
                    <a:pt x="21590" y="27432"/>
                  </a:lnTo>
                  <a:cubicBezTo>
                    <a:pt x="30480" y="7874"/>
                    <a:pt x="45339" y="0"/>
                    <a:pt x="64008" y="0"/>
                  </a:cubicBezTo>
                  <a:cubicBezTo>
                    <a:pt x="92075" y="0"/>
                    <a:pt x="110871" y="17272"/>
                    <a:pt x="110871" y="52324"/>
                  </a:cubicBezTo>
                  <a:lnTo>
                    <a:pt x="110871" y="96392"/>
                  </a:lnTo>
                  <a:lnTo>
                    <a:pt x="110871" y="140461"/>
                  </a:lnTo>
                  <a:lnTo>
                    <a:pt x="88519" y="140461"/>
                  </a:lnTo>
                  <a:lnTo>
                    <a:pt x="88519" y="97408"/>
                  </a:lnTo>
                  <a:lnTo>
                    <a:pt x="88519" y="54228"/>
                  </a:lnTo>
                  <a:cubicBezTo>
                    <a:pt x="88519" y="32893"/>
                    <a:pt x="76581" y="20066"/>
                    <a:pt x="57277" y="20066"/>
                  </a:cubicBezTo>
                  <a:cubicBezTo>
                    <a:pt x="37338" y="20066"/>
                    <a:pt x="22352" y="33528"/>
                    <a:pt x="22352" y="5727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018143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Component level design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17442" y="2296471"/>
            <a:ext cx="5672268" cy="7295522"/>
          </a:xfrm>
          <a:custGeom>
            <a:avLst/>
            <a:gdLst/>
            <a:ahLst/>
            <a:cxnLst/>
            <a:rect r="r" b="b" t="t" l="l"/>
            <a:pathLst>
              <a:path h="7295522" w="5672268">
                <a:moveTo>
                  <a:pt x="0" y="0"/>
                </a:moveTo>
                <a:lnTo>
                  <a:pt x="5672268" y="0"/>
                </a:lnTo>
                <a:lnTo>
                  <a:pt x="5672268" y="7295522"/>
                </a:lnTo>
                <a:lnTo>
                  <a:pt x="0" y="72955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02955" y="2204291"/>
            <a:ext cx="5255236" cy="7054009"/>
          </a:xfrm>
          <a:custGeom>
            <a:avLst/>
            <a:gdLst/>
            <a:ahLst/>
            <a:cxnLst/>
            <a:rect r="r" b="b" t="t" l="l"/>
            <a:pathLst>
              <a:path h="7054009" w="5255236">
                <a:moveTo>
                  <a:pt x="0" y="0"/>
                </a:moveTo>
                <a:lnTo>
                  <a:pt x="5255237" y="0"/>
                </a:lnTo>
                <a:lnTo>
                  <a:pt x="5255237" y="7054009"/>
                </a:lnTo>
                <a:lnTo>
                  <a:pt x="0" y="70540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17442" y="9553893"/>
            <a:ext cx="5415973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Activity Diagram of the Smart Glasses Connection process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54645" y="9553893"/>
            <a:ext cx="5792404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Activity Diagram of Edit Emergency Contact Process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1299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031234" y="5808790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5922" y="280473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84422" y="4390645"/>
            <a:ext cx="11119157" cy="169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082"/>
              </a:lnSpc>
            </a:pPr>
            <a:r>
              <a:rPr lang="en-US" b="true" sz="9388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SMART GLASSES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29946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What is Omi Glass?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08374" y="4379780"/>
            <a:ext cx="3044299" cy="3044299"/>
          </a:xfrm>
          <a:custGeom>
            <a:avLst/>
            <a:gdLst/>
            <a:ahLst/>
            <a:cxnLst/>
            <a:rect r="r" b="b" t="t" l="l"/>
            <a:pathLst>
              <a:path h="3044299" w="3044299">
                <a:moveTo>
                  <a:pt x="0" y="0"/>
                </a:moveTo>
                <a:lnTo>
                  <a:pt x="3044298" y="0"/>
                </a:lnTo>
                <a:lnTo>
                  <a:pt x="3044298" y="3044299"/>
                </a:lnTo>
                <a:lnTo>
                  <a:pt x="0" y="30442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65582" y="4418406"/>
            <a:ext cx="4696364" cy="3005673"/>
          </a:xfrm>
          <a:custGeom>
            <a:avLst/>
            <a:gdLst/>
            <a:ahLst/>
            <a:cxnLst/>
            <a:rect r="r" b="b" t="t" l="l"/>
            <a:pathLst>
              <a:path h="3005673" w="4696364">
                <a:moveTo>
                  <a:pt x="0" y="0"/>
                </a:moveTo>
                <a:lnTo>
                  <a:pt x="4696364" y="0"/>
                </a:lnTo>
                <a:lnTo>
                  <a:pt x="4696364" y="3005673"/>
                </a:lnTo>
                <a:lnTo>
                  <a:pt x="0" y="3005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09952" y="4370255"/>
            <a:ext cx="3569674" cy="3569674"/>
          </a:xfrm>
          <a:custGeom>
            <a:avLst/>
            <a:gdLst/>
            <a:ahLst/>
            <a:cxnLst/>
            <a:rect r="r" b="b" t="t" l="l"/>
            <a:pathLst>
              <a:path h="3569674" w="3569674">
                <a:moveTo>
                  <a:pt x="0" y="0"/>
                </a:moveTo>
                <a:lnTo>
                  <a:pt x="3569674" y="0"/>
                </a:lnTo>
                <a:lnTo>
                  <a:pt x="3569674" y="3569675"/>
                </a:lnTo>
                <a:lnTo>
                  <a:pt x="0" y="35696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83198" y="2174156"/>
            <a:ext cx="854099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99578F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Omi Glass — AI Smart Glasses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9237" y="8022251"/>
            <a:ext cx="3862572" cy="46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Built on XIAO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ESP32-S3 Sense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2478" y="8022251"/>
            <a:ext cx="3862572" cy="97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Strong battery —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6 × 150mAh cells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65719" y="8022251"/>
            <a:ext cx="4566242" cy="97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Fully open-source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&amp; customizable firmware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29946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Hardware Components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15388" y="3592347"/>
            <a:ext cx="15869280" cy="7062758"/>
          </a:xfrm>
          <a:custGeom>
            <a:avLst/>
            <a:gdLst/>
            <a:ahLst/>
            <a:cxnLst/>
            <a:rect r="r" b="b" t="t" l="l"/>
            <a:pathLst>
              <a:path h="7062758" w="15869280">
                <a:moveTo>
                  <a:pt x="0" y="0"/>
                </a:moveTo>
                <a:lnTo>
                  <a:pt x="15869281" y="0"/>
                </a:lnTo>
                <a:lnTo>
                  <a:pt x="15869281" y="7062758"/>
                </a:lnTo>
                <a:lnTo>
                  <a:pt x="0" y="7062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6485" r="0" b="-3820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19842" y="1521952"/>
            <a:ext cx="4078795" cy="4114800"/>
          </a:xfrm>
          <a:custGeom>
            <a:avLst/>
            <a:gdLst/>
            <a:ahLst/>
            <a:cxnLst/>
            <a:rect r="r" b="b" t="t" l="l"/>
            <a:pathLst>
              <a:path h="4114800" w="4078795">
                <a:moveTo>
                  <a:pt x="0" y="0"/>
                </a:moveTo>
                <a:lnTo>
                  <a:pt x="4078796" y="0"/>
                </a:lnTo>
                <a:lnTo>
                  <a:pt x="40787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41152" y="1429027"/>
            <a:ext cx="4078795" cy="4114800"/>
          </a:xfrm>
          <a:custGeom>
            <a:avLst/>
            <a:gdLst/>
            <a:ahLst/>
            <a:cxnLst/>
            <a:rect r="r" b="b" t="t" l="l"/>
            <a:pathLst>
              <a:path h="4114800" w="4078795">
                <a:moveTo>
                  <a:pt x="0" y="0"/>
                </a:moveTo>
                <a:lnTo>
                  <a:pt x="4078795" y="0"/>
                </a:lnTo>
                <a:lnTo>
                  <a:pt x="40787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894155">
            <a:off x="3534823" y="4250995"/>
            <a:ext cx="4078795" cy="4114800"/>
          </a:xfrm>
          <a:custGeom>
            <a:avLst/>
            <a:gdLst/>
            <a:ahLst/>
            <a:cxnLst/>
            <a:rect r="r" b="b" t="t" l="l"/>
            <a:pathLst>
              <a:path h="4114800" w="4078795">
                <a:moveTo>
                  <a:pt x="0" y="0"/>
                </a:moveTo>
                <a:lnTo>
                  <a:pt x="4078795" y="0"/>
                </a:lnTo>
                <a:lnTo>
                  <a:pt x="40787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4642550" y="5631834"/>
            <a:ext cx="3272382" cy="3301268"/>
          </a:xfrm>
          <a:custGeom>
            <a:avLst/>
            <a:gdLst/>
            <a:ahLst/>
            <a:cxnLst/>
            <a:rect r="r" b="b" t="t" l="l"/>
            <a:pathLst>
              <a:path h="3301268" w="3272382">
                <a:moveTo>
                  <a:pt x="0" y="0"/>
                </a:moveTo>
                <a:lnTo>
                  <a:pt x="3272382" y="0"/>
                </a:lnTo>
                <a:lnTo>
                  <a:pt x="3272382" y="3301268"/>
                </a:lnTo>
                <a:lnTo>
                  <a:pt x="0" y="3301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8250" y="1876702"/>
            <a:ext cx="4078795" cy="4114800"/>
          </a:xfrm>
          <a:custGeom>
            <a:avLst/>
            <a:gdLst/>
            <a:ahLst/>
            <a:cxnLst/>
            <a:rect r="r" b="b" t="t" l="l"/>
            <a:pathLst>
              <a:path h="4114800" w="4078795">
                <a:moveTo>
                  <a:pt x="0" y="0"/>
                </a:moveTo>
                <a:lnTo>
                  <a:pt x="4078795" y="0"/>
                </a:lnTo>
                <a:lnTo>
                  <a:pt x="40787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66803" y="2471562"/>
            <a:ext cx="3862572" cy="46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OV2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6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4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0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Ca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me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16467" y="7827956"/>
            <a:ext cx="3862572" cy="46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PDM Digital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Microphone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19178" y="8756734"/>
            <a:ext cx="3862572" cy="147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Multifunction Butt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on</a:t>
            </a:r>
          </a:p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b="true" sz="2100" i="true" strike="noStrike" u="none">
                <a:solidFill>
                  <a:srgbClr val="682261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Hold 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= Power On/Off </a:t>
            </a:r>
          </a:p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b="true" sz="2100" i="true" strike="noStrike" u="none">
                <a:solidFill>
                  <a:srgbClr val="682261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Press 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= Capture &amp; Send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66845" y="2410425"/>
            <a:ext cx="3862572" cy="46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XIAO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ESP32-S3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8075" y="2837726"/>
            <a:ext cx="3862572" cy="46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Battery — 900mAh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29946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Our Firmware Modifications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3600450" y="2957236"/>
          <a:ext cx="9429750" cy="2514600"/>
        </p:xfrm>
        <a:graphic>
          <a:graphicData uri="http://schemas.openxmlformats.org/presentationml/2006/ole">
            <p:oleObj imgW="11315700" imgH="4394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583198" y="2174156"/>
            <a:ext cx="4712643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1299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031234" y="5808790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5922" y="280473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56766" y="4109696"/>
            <a:ext cx="9774469" cy="169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082"/>
              </a:lnSpc>
            </a:pPr>
            <a:r>
              <a:rPr lang="en-US" b="true" sz="9388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Testing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975637"/>
            <a:ext cx="14443805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0"/>
              </a:lnSpc>
              <a:spcBef>
                <a:spcPct val="0"/>
              </a:spcBef>
            </a:pPr>
            <a:r>
              <a:rPr lang="en-US" b="true" sz="5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UAT - Demographics of participants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88654" y="3496777"/>
            <a:ext cx="2957112" cy="6079658"/>
          </a:xfrm>
          <a:custGeom>
            <a:avLst/>
            <a:gdLst/>
            <a:ahLst/>
            <a:cxnLst/>
            <a:rect r="r" b="b" t="t" l="l"/>
            <a:pathLst>
              <a:path h="6079658" w="2957112">
                <a:moveTo>
                  <a:pt x="0" y="0"/>
                </a:moveTo>
                <a:lnTo>
                  <a:pt x="2957113" y="0"/>
                </a:lnTo>
                <a:lnTo>
                  <a:pt x="2957113" y="6079658"/>
                </a:lnTo>
                <a:lnTo>
                  <a:pt x="0" y="60796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86319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13349" y="3621731"/>
            <a:ext cx="6330651" cy="5636569"/>
          </a:xfrm>
          <a:custGeom>
            <a:avLst/>
            <a:gdLst/>
            <a:ahLst/>
            <a:cxnLst/>
            <a:rect r="r" b="b" t="t" l="l"/>
            <a:pathLst>
              <a:path h="5636569" w="6330651">
                <a:moveTo>
                  <a:pt x="0" y="0"/>
                </a:moveTo>
                <a:lnTo>
                  <a:pt x="6330651" y="0"/>
                </a:lnTo>
                <a:lnTo>
                  <a:pt x="6330651" y="5636569"/>
                </a:lnTo>
                <a:lnTo>
                  <a:pt x="0" y="56365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4847" t="-20058" r="-5219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17360" y="3496777"/>
            <a:ext cx="2321148" cy="6079658"/>
          </a:xfrm>
          <a:custGeom>
            <a:avLst/>
            <a:gdLst/>
            <a:ahLst/>
            <a:cxnLst/>
            <a:rect r="r" b="b" t="t" l="l"/>
            <a:pathLst>
              <a:path h="6079658" w="2321148">
                <a:moveTo>
                  <a:pt x="0" y="0"/>
                </a:moveTo>
                <a:lnTo>
                  <a:pt x="2321147" y="0"/>
                </a:lnTo>
                <a:lnTo>
                  <a:pt x="2321147" y="6079658"/>
                </a:lnTo>
                <a:lnTo>
                  <a:pt x="0" y="60796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15644" y="2492291"/>
            <a:ext cx="403819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8</a:t>
            </a:r>
            <a:r>
              <a:rPr lang="en-US" b="true" sz="42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participants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975637"/>
            <a:ext cx="13025696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0"/>
              </a:lnSpc>
              <a:spcBef>
                <a:spcPct val="0"/>
              </a:spcBef>
            </a:pPr>
            <a:r>
              <a:rPr lang="en-US" b="true" sz="5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UAT - Demographics of participants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20275" y="2492291"/>
            <a:ext cx="302123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Age Group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819633" y="3511959"/>
            <a:ext cx="6648734" cy="5746341"/>
          </a:xfrm>
          <a:custGeom>
            <a:avLst/>
            <a:gdLst/>
            <a:ahLst/>
            <a:cxnLst/>
            <a:rect r="r" b="b" t="t" l="l"/>
            <a:pathLst>
              <a:path h="5746341" w="6648734">
                <a:moveTo>
                  <a:pt x="0" y="0"/>
                </a:moveTo>
                <a:lnTo>
                  <a:pt x="6648734" y="0"/>
                </a:lnTo>
                <a:lnTo>
                  <a:pt x="6648734" y="5746341"/>
                </a:lnTo>
                <a:lnTo>
                  <a:pt x="0" y="57463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6268" t="-22141" r="-54808" b="-4073"/>
            </a:stretch>
          </a:blipFill>
        </p:spPr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992147"/>
            <a:ext cx="12887825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0"/>
              </a:lnSpc>
              <a:spcBef>
                <a:spcPct val="0"/>
              </a:spcBef>
            </a:pPr>
            <a:r>
              <a:rPr lang="en-US" b="true" sz="5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UAT - Demographics of participants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20946" y="4808915"/>
            <a:ext cx="10246108" cy="4449385"/>
          </a:xfrm>
          <a:custGeom>
            <a:avLst/>
            <a:gdLst/>
            <a:ahLst/>
            <a:cxnLst/>
            <a:rect r="r" b="b" t="t" l="l"/>
            <a:pathLst>
              <a:path h="4449385" w="10246108">
                <a:moveTo>
                  <a:pt x="0" y="0"/>
                </a:moveTo>
                <a:lnTo>
                  <a:pt x="10246108" y="0"/>
                </a:lnTo>
                <a:lnTo>
                  <a:pt x="10246108" y="4449385"/>
                </a:lnTo>
                <a:lnTo>
                  <a:pt x="0" y="44493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972" t="-64988" r="-41001" b="-752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42237" y="3588812"/>
            <a:ext cx="882262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Types of Visual Impairment 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992147"/>
            <a:ext cx="13045392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0"/>
              </a:lnSpc>
              <a:spcBef>
                <a:spcPct val="0"/>
              </a:spcBef>
            </a:pPr>
            <a:r>
              <a:rPr lang="en-US" b="true" sz="5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UAT - Demographics of participants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46279" y="3518293"/>
            <a:ext cx="7455978" cy="6420397"/>
          </a:xfrm>
          <a:custGeom>
            <a:avLst/>
            <a:gdLst/>
            <a:ahLst/>
            <a:cxnLst/>
            <a:rect r="r" b="b" t="t" l="l"/>
            <a:pathLst>
              <a:path h="6420397" w="7455978">
                <a:moveTo>
                  <a:pt x="0" y="0"/>
                </a:moveTo>
                <a:lnTo>
                  <a:pt x="7455978" y="0"/>
                </a:lnTo>
                <a:lnTo>
                  <a:pt x="7455978" y="6420397"/>
                </a:lnTo>
                <a:lnTo>
                  <a:pt x="0" y="64203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604" t="-22036" r="-44708" b="-425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80801" y="2492291"/>
            <a:ext cx="882262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Technical skills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192586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evaluation main areas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586727" y="4708054"/>
            <a:ext cx="4892397" cy="2936816"/>
            <a:chOff x="0" y="0"/>
            <a:chExt cx="674365" cy="4048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4365" cy="404809"/>
            </a:xfrm>
            <a:custGeom>
              <a:avLst/>
              <a:gdLst/>
              <a:ahLst/>
              <a:cxnLst/>
              <a:rect r="r" b="b" t="t" l="l"/>
              <a:pathLst>
                <a:path h="404809" w="674365">
                  <a:moveTo>
                    <a:pt x="471165" y="0"/>
                  </a:moveTo>
                  <a:lnTo>
                    <a:pt x="0" y="0"/>
                  </a:lnTo>
                  <a:lnTo>
                    <a:pt x="0" y="404809"/>
                  </a:lnTo>
                  <a:lnTo>
                    <a:pt x="471165" y="404809"/>
                  </a:lnTo>
                  <a:lnTo>
                    <a:pt x="674365" y="202404"/>
                  </a:lnTo>
                  <a:lnTo>
                    <a:pt x="471165" y="0"/>
                  </a:lnTo>
                  <a:close/>
                </a:path>
              </a:pathLst>
            </a:custGeom>
            <a:solidFill>
              <a:srgbClr val="8A40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60065" cy="442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12338" y="4709406"/>
            <a:ext cx="5024020" cy="2948361"/>
            <a:chOff x="0" y="0"/>
            <a:chExt cx="692507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2507" cy="406400"/>
            </a:xfrm>
            <a:custGeom>
              <a:avLst/>
              <a:gdLst/>
              <a:ahLst/>
              <a:cxnLst/>
              <a:rect r="r" b="b" t="t" l="l"/>
              <a:pathLst>
                <a:path h="406400" w="692507">
                  <a:moveTo>
                    <a:pt x="489307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489307" y="406400"/>
                  </a:lnTo>
                  <a:lnTo>
                    <a:pt x="692507" y="203200"/>
                  </a:lnTo>
                  <a:lnTo>
                    <a:pt x="489307" y="0"/>
                  </a:lnTo>
                  <a:close/>
                </a:path>
              </a:pathLst>
            </a:custGeom>
            <a:solidFill>
              <a:srgbClr val="D2A3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7820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569417" y="4709406"/>
            <a:ext cx="5393914" cy="2948361"/>
            <a:chOff x="0" y="0"/>
            <a:chExt cx="743493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3493" cy="406400"/>
            </a:xfrm>
            <a:custGeom>
              <a:avLst/>
              <a:gdLst/>
              <a:ahLst/>
              <a:cxnLst/>
              <a:rect r="r" b="b" t="t" l="l"/>
              <a:pathLst>
                <a:path h="406400" w="743493">
                  <a:moveTo>
                    <a:pt x="540293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540293" y="406400"/>
                  </a:lnTo>
                  <a:lnTo>
                    <a:pt x="743493" y="203200"/>
                  </a:lnTo>
                  <a:lnTo>
                    <a:pt x="540293" y="0"/>
                  </a:lnTo>
                  <a:close/>
                </a:path>
              </a:pathLst>
            </a:custGeom>
            <a:solidFill>
              <a:srgbClr val="68226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2919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12996" y="4702281"/>
            <a:ext cx="4400589" cy="2955486"/>
            <a:chOff x="0" y="0"/>
            <a:chExt cx="606574" cy="4073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6574" cy="407382"/>
            </a:xfrm>
            <a:custGeom>
              <a:avLst/>
              <a:gdLst/>
              <a:ahLst/>
              <a:cxnLst/>
              <a:rect r="r" b="b" t="t" l="l"/>
              <a:pathLst>
                <a:path h="407382" w="606574">
                  <a:moveTo>
                    <a:pt x="403374" y="0"/>
                  </a:moveTo>
                  <a:lnTo>
                    <a:pt x="0" y="0"/>
                  </a:lnTo>
                  <a:lnTo>
                    <a:pt x="0" y="407382"/>
                  </a:lnTo>
                  <a:lnTo>
                    <a:pt x="403374" y="407382"/>
                  </a:lnTo>
                  <a:lnTo>
                    <a:pt x="606574" y="203691"/>
                  </a:lnTo>
                  <a:lnTo>
                    <a:pt x="40337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2274" cy="445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6312338" y="3013585"/>
            <a:ext cx="0" cy="1840852"/>
          </a:xfrm>
          <a:prstGeom prst="line">
            <a:avLst/>
          </a:prstGeom>
          <a:ln cap="flat" w="28575">
            <a:solidFill>
              <a:srgbClr val="682261"/>
            </a:solidFill>
            <a:prstDash val="lgDash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4172198" y="2692341"/>
            <a:ext cx="4028394" cy="748417"/>
            <a:chOff x="0" y="0"/>
            <a:chExt cx="937255" cy="1741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7255" cy="174128"/>
            </a:xfrm>
            <a:custGeom>
              <a:avLst/>
              <a:gdLst/>
              <a:ahLst/>
              <a:cxnLst/>
              <a:rect r="r" b="b" t="t" l="l"/>
              <a:pathLst>
                <a:path h="174128" w="937255">
                  <a:moveTo>
                    <a:pt x="69186" y="0"/>
                  </a:moveTo>
                  <a:lnTo>
                    <a:pt x="868069" y="0"/>
                  </a:lnTo>
                  <a:cubicBezTo>
                    <a:pt x="886418" y="0"/>
                    <a:pt x="904016" y="7289"/>
                    <a:pt x="916991" y="20264"/>
                  </a:cubicBezTo>
                  <a:cubicBezTo>
                    <a:pt x="929966" y="33239"/>
                    <a:pt x="937255" y="50837"/>
                    <a:pt x="937255" y="69186"/>
                  </a:cubicBezTo>
                  <a:lnTo>
                    <a:pt x="937255" y="104942"/>
                  </a:lnTo>
                  <a:cubicBezTo>
                    <a:pt x="937255" y="123291"/>
                    <a:pt x="929966" y="140889"/>
                    <a:pt x="916991" y="153864"/>
                  </a:cubicBezTo>
                  <a:cubicBezTo>
                    <a:pt x="904016" y="166839"/>
                    <a:pt x="886418" y="174128"/>
                    <a:pt x="868069" y="174128"/>
                  </a:cubicBezTo>
                  <a:lnTo>
                    <a:pt x="69186" y="174128"/>
                  </a:lnTo>
                  <a:cubicBezTo>
                    <a:pt x="50837" y="174128"/>
                    <a:pt x="33239" y="166839"/>
                    <a:pt x="20264" y="153864"/>
                  </a:cubicBezTo>
                  <a:cubicBezTo>
                    <a:pt x="7289" y="140889"/>
                    <a:pt x="0" y="123291"/>
                    <a:pt x="0" y="104942"/>
                  </a:cubicBezTo>
                  <a:lnTo>
                    <a:pt x="0" y="69186"/>
                  </a:lnTo>
                  <a:cubicBezTo>
                    <a:pt x="0" y="50837"/>
                    <a:pt x="7289" y="33239"/>
                    <a:pt x="20264" y="20264"/>
                  </a:cubicBezTo>
                  <a:cubicBezTo>
                    <a:pt x="33239" y="7289"/>
                    <a:pt x="50837" y="0"/>
                    <a:pt x="69186" y="0"/>
                  </a:cubicBezTo>
                  <a:close/>
                </a:path>
              </a:pathLst>
            </a:custGeom>
            <a:solidFill>
              <a:srgbClr val="681D60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37255" cy="212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pc="296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MOBILE</a:t>
              </a:r>
              <a:r>
                <a:rPr lang="en-US" b="true" sz="1899" spc="296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 A</a:t>
              </a:r>
              <a:r>
                <a:rPr lang="en-US" b="true" sz="1899" spc="296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PP</a:t>
              </a:r>
              <a:r>
                <a:rPr lang="en-US" b="true" sz="1899" spc="296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L</a:t>
              </a:r>
              <a:r>
                <a:rPr lang="en-US" b="true" sz="1899" spc="296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I</a:t>
              </a:r>
              <a:r>
                <a:rPr lang="en-US" b="true" sz="1899" spc="296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C</a:t>
              </a:r>
              <a:r>
                <a:rPr lang="en-US" b="true" sz="1899" spc="296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A</a:t>
              </a:r>
              <a:r>
                <a:rPr lang="en-US" b="true" sz="1899" spc="296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TION</a:t>
              </a:r>
              <a:r>
                <a:rPr lang="en-US" b="true" sz="1899" spc="296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 FEATURES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8896165" y="7273273"/>
            <a:ext cx="0" cy="1840852"/>
          </a:xfrm>
          <a:prstGeom prst="line">
            <a:avLst/>
          </a:prstGeom>
          <a:ln cap="flat" w="28575">
            <a:solidFill>
              <a:srgbClr val="D2A3D9"/>
            </a:solidFill>
            <a:prstDash val="lgDash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6124394" y="8998050"/>
            <a:ext cx="4811278" cy="679548"/>
            <a:chOff x="0" y="0"/>
            <a:chExt cx="1119402" cy="1581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9402" cy="158105"/>
            </a:xfrm>
            <a:custGeom>
              <a:avLst/>
              <a:gdLst/>
              <a:ahLst/>
              <a:cxnLst/>
              <a:rect r="r" b="b" t="t" l="l"/>
              <a:pathLst>
                <a:path h="158105" w="1119402">
                  <a:moveTo>
                    <a:pt x="57928" y="0"/>
                  </a:moveTo>
                  <a:lnTo>
                    <a:pt x="1061474" y="0"/>
                  </a:lnTo>
                  <a:cubicBezTo>
                    <a:pt x="1093467" y="0"/>
                    <a:pt x="1119402" y="25935"/>
                    <a:pt x="1119402" y="57928"/>
                  </a:cubicBezTo>
                  <a:lnTo>
                    <a:pt x="1119402" y="100177"/>
                  </a:lnTo>
                  <a:cubicBezTo>
                    <a:pt x="1119402" y="132170"/>
                    <a:pt x="1093467" y="158105"/>
                    <a:pt x="1061474" y="158105"/>
                  </a:cubicBezTo>
                  <a:lnTo>
                    <a:pt x="57928" y="158105"/>
                  </a:lnTo>
                  <a:cubicBezTo>
                    <a:pt x="25935" y="158105"/>
                    <a:pt x="0" y="132170"/>
                    <a:pt x="0" y="100177"/>
                  </a:cubicBezTo>
                  <a:lnTo>
                    <a:pt x="0" y="57928"/>
                  </a:lnTo>
                  <a:cubicBezTo>
                    <a:pt x="0" y="25935"/>
                    <a:pt x="25935" y="0"/>
                    <a:pt x="57928" y="0"/>
                  </a:cubicBezTo>
                  <a:close/>
                </a:path>
              </a:pathLst>
            </a:custGeom>
            <a:solidFill>
              <a:srgbClr val="D2A3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119402" cy="196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 spc="311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SMART GLASSES FEATURES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V="true">
            <a:off x="11570527" y="3013585"/>
            <a:ext cx="0" cy="1840852"/>
          </a:xfrm>
          <a:prstGeom prst="line">
            <a:avLst/>
          </a:prstGeom>
          <a:ln cap="flat" w="28575">
            <a:solidFill>
              <a:srgbClr val="8A408A"/>
            </a:solidFill>
            <a:prstDash val="lgDash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9558011" y="2692341"/>
            <a:ext cx="4557790" cy="674040"/>
            <a:chOff x="0" y="0"/>
            <a:chExt cx="1060425" cy="1568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0425" cy="156824"/>
            </a:xfrm>
            <a:custGeom>
              <a:avLst/>
              <a:gdLst/>
              <a:ahLst/>
              <a:cxnLst/>
              <a:rect r="r" b="b" t="t" l="l"/>
              <a:pathLst>
                <a:path h="156824" w="1060425">
                  <a:moveTo>
                    <a:pt x="61150" y="0"/>
                  </a:moveTo>
                  <a:lnTo>
                    <a:pt x="999275" y="0"/>
                  </a:lnTo>
                  <a:cubicBezTo>
                    <a:pt x="1033048" y="0"/>
                    <a:pt x="1060425" y="27378"/>
                    <a:pt x="1060425" y="61150"/>
                  </a:cubicBezTo>
                  <a:lnTo>
                    <a:pt x="1060425" y="95674"/>
                  </a:lnTo>
                  <a:cubicBezTo>
                    <a:pt x="1060425" y="111892"/>
                    <a:pt x="1053983" y="127445"/>
                    <a:pt x="1042515" y="138913"/>
                  </a:cubicBezTo>
                  <a:cubicBezTo>
                    <a:pt x="1031047" y="150381"/>
                    <a:pt x="1015493" y="156824"/>
                    <a:pt x="999275" y="156824"/>
                  </a:cubicBezTo>
                  <a:lnTo>
                    <a:pt x="61150" y="156824"/>
                  </a:lnTo>
                  <a:cubicBezTo>
                    <a:pt x="44932" y="156824"/>
                    <a:pt x="29378" y="150381"/>
                    <a:pt x="17910" y="138913"/>
                  </a:cubicBezTo>
                  <a:cubicBezTo>
                    <a:pt x="6443" y="127445"/>
                    <a:pt x="0" y="111892"/>
                    <a:pt x="0" y="95674"/>
                  </a:cubicBezTo>
                  <a:lnTo>
                    <a:pt x="0" y="61150"/>
                  </a:lnTo>
                  <a:cubicBezTo>
                    <a:pt x="0" y="44932"/>
                    <a:pt x="6443" y="29378"/>
                    <a:pt x="17910" y="17910"/>
                  </a:cubicBezTo>
                  <a:cubicBezTo>
                    <a:pt x="29378" y="6443"/>
                    <a:pt x="44932" y="0"/>
                    <a:pt x="61150" y="0"/>
                  </a:cubicBezTo>
                  <a:close/>
                </a:path>
              </a:pathLst>
            </a:custGeom>
            <a:solidFill>
              <a:srgbClr val="8A408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60425" cy="194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11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APPLICATION USABILITY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4894560" y="4854436"/>
            <a:ext cx="1417778" cy="2492797"/>
          </a:xfrm>
          <a:custGeom>
            <a:avLst/>
            <a:gdLst/>
            <a:ahLst/>
            <a:cxnLst/>
            <a:rect r="r" b="b" t="t" l="l"/>
            <a:pathLst>
              <a:path h="2492797" w="1417778">
                <a:moveTo>
                  <a:pt x="0" y="0"/>
                </a:moveTo>
                <a:lnTo>
                  <a:pt x="1417778" y="0"/>
                </a:lnTo>
                <a:lnTo>
                  <a:pt x="1417778" y="2492797"/>
                </a:lnTo>
                <a:lnTo>
                  <a:pt x="0" y="24927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017284" y="5163952"/>
            <a:ext cx="2575468" cy="1712686"/>
          </a:xfrm>
          <a:custGeom>
            <a:avLst/>
            <a:gdLst/>
            <a:ahLst/>
            <a:cxnLst/>
            <a:rect r="r" b="b" t="t" l="l"/>
            <a:pathLst>
              <a:path h="1712686" w="2575468">
                <a:moveTo>
                  <a:pt x="0" y="0"/>
                </a:moveTo>
                <a:lnTo>
                  <a:pt x="2575468" y="0"/>
                </a:lnTo>
                <a:lnTo>
                  <a:pt x="2575468" y="1712687"/>
                </a:lnTo>
                <a:lnTo>
                  <a:pt x="0" y="17126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517333" y="5005690"/>
            <a:ext cx="1884942" cy="2341543"/>
          </a:xfrm>
          <a:custGeom>
            <a:avLst/>
            <a:gdLst/>
            <a:ahLst/>
            <a:cxnLst/>
            <a:rect r="r" b="b" t="t" l="l"/>
            <a:pathLst>
              <a:path h="2341543" w="1884942">
                <a:moveTo>
                  <a:pt x="0" y="0"/>
                </a:moveTo>
                <a:lnTo>
                  <a:pt x="1884942" y="0"/>
                </a:lnTo>
                <a:lnTo>
                  <a:pt x="1884942" y="2341543"/>
                </a:lnTo>
                <a:lnTo>
                  <a:pt x="0" y="23415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0897" y="3251856"/>
            <a:ext cx="6586496" cy="4967917"/>
          </a:xfrm>
          <a:custGeom>
            <a:avLst/>
            <a:gdLst/>
            <a:ahLst/>
            <a:cxnLst/>
            <a:rect r="r" b="b" t="t" l="l"/>
            <a:pathLst>
              <a:path h="4967917" w="6586496">
                <a:moveTo>
                  <a:pt x="0" y="0"/>
                </a:moveTo>
                <a:lnTo>
                  <a:pt x="6586496" y="0"/>
                </a:lnTo>
                <a:lnTo>
                  <a:pt x="6586496" y="4967917"/>
                </a:lnTo>
                <a:lnTo>
                  <a:pt x="0" y="4967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2896151"/>
            <a:ext cx="8192040" cy="5294855"/>
          </a:xfrm>
          <a:custGeom>
            <a:avLst/>
            <a:gdLst/>
            <a:ahLst/>
            <a:cxnLst/>
            <a:rect r="r" b="b" t="t" l="l"/>
            <a:pathLst>
              <a:path h="5294855" w="8192040">
                <a:moveTo>
                  <a:pt x="0" y="0"/>
                </a:moveTo>
                <a:lnTo>
                  <a:pt x="8192040" y="0"/>
                </a:lnTo>
                <a:lnTo>
                  <a:pt x="8192040" y="5294855"/>
                </a:lnTo>
                <a:lnTo>
                  <a:pt x="0" y="52948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6066" y="8581088"/>
            <a:ext cx="486876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Langu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age Used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80286" y="8694753"/>
            <a:ext cx="4925457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Man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aging People for Face Recognition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69417" y="1819552"/>
            <a:ext cx="8822625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Mobil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 Application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2374" y="2896151"/>
            <a:ext cx="8084411" cy="5270217"/>
          </a:xfrm>
          <a:custGeom>
            <a:avLst/>
            <a:gdLst/>
            <a:ahLst/>
            <a:cxnLst/>
            <a:rect r="r" b="b" t="t" l="l"/>
            <a:pathLst>
              <a:path h="5270217" w="8084411">
                <a:moveTo>
                  <a:pt x="0" y="0"/>
                </a:moveTo>
                <a:lnTo>
                  <a:pt x="8084411" y="0"/>
                </a:lnTo>
                <a:lnTo>
                  <a:pt x="8084411" y="5270217"/>
                </a:lnTo>
                <a:lnTo>
                  <a:pt x="0" y="5270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2896151"/>
            <a:ext cx="8635836" cy="5217484"/>
          </a:xfrm>
          <a:custGeom>
            <a:avLst/>
            <a:gdLst/>
            <a:ahLst/>
            <a:cxnLst/>
            <a:rect r="r" b="b" t="t" l="l"/>
            <a:pathLst>
              <a:path h="5217484" w="8635836">
                <a:moveTo>
                  <a:pt x="0" y="0"/>
                </a:moveTo>
                <a:lnTo>
                  <a:pt x="8635836" y="0"/>
                </a:lnTo>
                <a:lnTo>
                  <a:pt x="8635836" y="5217484"/>
                </a:lnTo>
                <a:lnTo>
                  <a:pt x="0" y="52174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6066" y="8581088"/>
            <a:ext cx="486876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F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ace Recognition Accuracy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80286" y="8694753"/>
            <a:ext cx="492545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Curr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ency Identification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21817" y="1819552"/>
            <a:ext cx="8822625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Mobil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 Application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62832" y="3488551"/>
            <a:ext cx="8321895" cy="4625084"/>
          </a:xfrm>
          <a:custGeom>
            <a:avLst/>
            <a:gdLst/>
            <a:ahLst/>
            <a:cxnLst/>
            <a:rect r="r" b="b" t="t" l="l"/>
            <a:pathLst>
              <a:path h="4625084" w="8321895">
                <a:moveTo>
                  <a:pt x="0" y="0"/>
                </a:moveTo>
                <a:lnTo>
                  <a:pt x="8321895" y="0"/>
                </a:lnTo>
                <a:lnTo>
                  <a:pt x="8321895" y="4625084"/>
                </a:lnTo>
                <a:lnTo>
                  <a:pt x="0" y="46250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39930" y="3488551"/>
            <a:ext cx="8581597" cy="4863428"/>
          </a:xfrm>
          <a:custGeom>
            <a:avLst/>
            <a:gdLst/>
            <a:ahLst/>
            <a:cxnLst/>
            <a:rect r="r" b="b" t="t" l="l"/>
            <a:pathLst>
              <a:path h="4863428" w="8581597">
                <a:moveTo>
                  <a:pt x="0" y="0"/>
                </a:moveTo>
                <a:lnTo>
                  <a:pt x="8581598" y="0"/>
                </a:lnTo>
                <a:lnTo>
                  <a:pt x="8581598" y="4863428"/>
                </a:lnTo>
                <a:lnTo>
                  <a:pt x="0" y="48634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6066" y="8581088"/>
            <a:ext cx="486876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ext Reading Accuracy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80286" y="8694753"/>
            <a:ext cx="492545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Obj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ect Detection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77703" y="1854061"/>
            <a:ext cx="8822625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Mobil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 Application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8022" y="3488551"/>
            <a:ext cx="7747822" cy="4664035"/>
          </a:xfrm>
          <a:custGeom>
            <a:avLst/>
            <a:gdLst/>
            <a:ahLst/>
            <a:cxnLst/>
            <a:rect r="r" b="b" t="t" l="l"/>
            <a:pathLst>
              <a:path h="4664035" w="7747822">
                <a:moveTo>
                  <a:pt x="0" y="0"/>
                </a:moveTo>
                <a:lnTo>
                  <a:pt x="7747823" y="0"/>
                </a:lnTo>
                <a:lnTo>
                  <a:pt x="7747823" y="4664035"/>
                </a:lnTo>
                <a:lnTo>
                  <a:pt x="0" y="46640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08035" y="3349254"/>
            <a:ext cx="8443659" cy="4942630"/>
          </a:xfrm>
          <a:custGeom>
            <a:avLst/>
            <a:gdLst/>
            <a:ahLst/>
            <a:cxnLst/>
            <a:rect r="r" b="b" t="t" l="l"/>
            <a:pathLst>
              <a:path h="4942630" w="8443659">
                <a:moveTo>
                  <a:pt x="0" y="0"/>
                </a:moveTo>
                <a:lnTo>
                  <a:pt x="8443659" y="0"/>
                </a:lnTo>
                <a:lnTo>
                  <a:pt x="8443659" y="4942629"/>
                </a:lnTo>
                <a:lnTo>
                  <a:pt x="0" y="49426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6066" y="8581088"/>
            <a:ext cx="486876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Sc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ene Description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80286" y="8694753"/>
            <a:ext cx="492545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Remind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ers Management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30103" y="1829070"/>
            <a:ext cx="8822625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Mobil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 Application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3183251"/>
            <a:ext cx="9211559" cy="5217484"/>
          </a:xfrm>
          <a:custGeom>
            <a:avLst/>
            <a:gdLst/>
            <a:ahLst/>
            <a:cxnLst/>
            <a:rect r="r" b="b" t="t" l="l"/>
            <a:pathLst>
              <a:path h="5217484" w="9211559">
                <a:moveTo>
                  <a:pt x="0" y="0"/>
                </a:moveTo>
                <a:lnTo>
                  <a:pt x="9211559" y="0"/>
                </a:lnTo>
                <a:lnTo>
                  <a:pt x="9211559" y="5217485"/>
                </a:lnTo>
                <a:lnTo>
                  <a:pt x="0" y="52174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19156" y="3168129"/>
            <a:ext cx="9068844" cy="5223082"/>
          </a:xfrm>
          <a:custGeom>
            <a:avLst/>
            <a:gdLst/>
            <a:ahLst/>
            <a:cxnLst/>
            <a:rect r="r" b="b" t="t" l="l"/>
            <a:pathLst>
              <a:path h="5223082" w="9068844">
                <a:moveTo>
                  <a:pt x="0" y="0"/>
                </a:moveTo>
                <a:lnTo>
                  <a:pt x="9068844" y="0"/>
                </a:lnTo>
                <a:lnTo>
                  <a:pt x="9068844" y="5223082"/>
                </a:lnTo>
                <a:lnTo>
                  <a:pt x="0" y="5223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6066" y="8581088"/>
            <a:ext cx="4868767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Filt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ering Reminders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080286" y="8694753"/>
            <a:ext cx="492545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Contact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 Management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82503" y="1809864"/>
            <a:ext cx="8822625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Mobil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 Application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0958" y="2896151"/>
            <a:ext cx="7975082" cy="5305737"/>
          </a:xfrm>
          <a:custGeom>
            <a:avLst/>
            <a:gdLst/>
            <a:ahLst/>
            <a:cxnLst/>
            <a:rect r="r" b="b" t="t" l="l"/>
            <a:pathLst>
              <a:path h="5305737" w="7975082">
                <a:moveTo>
                  <a:pt x="0" y="0"/>
                </a:moveTo>
                <a:lnTo>
                  <a:pt x="7975082" y="0"/>
                </a:lnTo>
                <a:lnTo>
                  <a:pt x="7975082" y="5305736"/>
                </a:lnTo>
                <a:lnTo>
                  <a:pt x="0" y="5305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51924" y="2831369"/>
            <a:ext cx="8582182" cy="5283932"/>
          </a:xfrm>
          <a:custGeom>
            <a:avLst/>
            <a:gdLst/>
            <a:ahLst/>
            <a:cxnLst/>
            <a:rect r="r" b="b" t="t" l="l"/>
            <a:pathLst>
              <a:path h="5283932" w="8582182">
                <a:moveTo>
                  <a:pt x="0" y="0"/>
                </a:moveTo>
                <a:lnTo>
                  <a:pt x="8582182" y="0"/>
                </a:lnTo>
                <a:lnTo>
                  <a:pt x="8582182" y="5283932"/>
                </a:lnTo>
                <a:lnTo>
                  <a:pt x="0" y="52839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0502" y="8494728"/>
            <a:ext cx="4868767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Voic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 Input Feature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813586" y="8694753"/>
            <a:ext cx="492545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SOS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Feature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77703" y="1819552"/>
            <a:ext cx="8822625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Mobil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 Application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469" y="3111142"/>
            <a:ext cx="9079454" cy="5261956"/>
          </a:xfrm>
          <a:custGeom>
            <a:avLst/>
            <a:gdLst/>
            <a:ahLst/>
            <a:cxnLst/>
            <a:rect r="r" b="b" t="t" l="l"/>
            <a:pathLst>
              <a:path h="5261956" w="9079454">
                <a:moveTo>
                  <a:pt x="0" y="0"/>
                </a:moveTo>
                <a:lnTo>
                  <a:pt x="9079455" y="0"/>
                </a:lnTo>
                <a:lnTo>
                  <a:pt x="9079455" y="5261956"/>
                </a:lnTo>
                <a:lnTo>
                  <a:pt x="0" y="52619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45867" y="3177817"/>
            <a:ext cx="7880174" cy="5259197"/>
          </a:xfrm>
          <a:custGeom>
            <a:avLst/>
            <a:gdLst/>
            <a:ahLst/>
            <a:cxnLst/>
            <a:rect r="r" b="b" t="t" l="l"/>
            <a:pathLst>
              <a:path h="5259197" w="7880174">
                <a:moveTo>
                  <a:pt x="0" y="0"/>
                </a:moveTo>
                <a:lnTo>
                  <a:pt x="7880174" y="0"/>
                </a:lnTo>
                <a:lnTo>
                  <a:pt x="7880174" y="5259197"/>
                </a:lnTo>
                <a:lnTo>
                  <a:pt x="0" y="5259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0502" y="8494728"/>
            <a:ext cx="486876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Connecti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ng Smart Glasses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13586" y="8694753"/>
            <a:ext cx="4925457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Viewing Smart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Glasses Information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40404" y="1819552"/>
            <a:ext cx="6197730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Smart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Glasses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9128" y="3090847"/>
            <a:ext cx="8154095" cy="5346167"/>
          </a:xfrm>
          <a:custGeom>
            <a:avLst/>
            <a:gdLst/>
            <a:ahLst/>
            <a:cxnLst/>
            <a:rect r="r" b="b" t="t" l="l"/>
            <a:pathLst>
              <a:path h="5346167" w="8154095">
                <a:moveTo>
                  <a:pt x="0" y="0"/>
                </a:moveTo>
                <a:lnTo>
                  <a:pt x="8154095" y="0"/>
                </a:lnTo>
                <a:lnTo>
                  <a:pt x="8154095" y="5346167"/>
                </a:lnTo>
                <a:lnTo>
                  <a:pt x="0" y="534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38134" y="3090847"/>
            <a:ext cx="8426009" cy="5261956"/>
          </a:xfrm>
          <a:custGeom>
            <a:avLst/>
            <a:gdLst/>
            <a:ahLst/>
            <a:cxnLst/>
            <a:rect r="r" b="b" t="t" l="l"/>
            <a:pathLst>
              <a:path h="5261956" w="8426009">
                <a:moveTo>
                  <a:pt x="0" y="0"/>
                </a:moveTo>
                <a:lnTo>
                  <a:pt x="8426009" y="0"/>
                </a:lnTo>
                <a:lnTo>
                  <a:pt x="8426009" y="5261956"/>
                </a:lnTo>
                <a:lnTo>
                  <a:pt x="0" y="52619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0502" y="8639810"/>
            <a:ext cx="4868767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Face Recognitio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n via Smart Glasses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288410" y="8639810"/>
            <a:ext cx="4925457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Currency Identification via Smart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Glasses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40404" y="1819552"/>
            <a:ext cx="6197730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Smart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Glasses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1986" y="3177817"/>
            <a:ext cx="8932014" cy="5259197"/>
          </a:xfrm>
          <a:custGeom>
            <a:avLst/>
            <a:gdLst/>
            <a:ahLst/>
            <a:cxnLst/>
            <a:rect r="r" b="b" t="t" l="l"/>
            <a:pathLst>
              <a:path h="5259197" w="8932014">
                <a:moveTo>
                  <a:pt x="0" y="0"/>
                </a:moveTo>
                <a:lnTo>
                  <a:pt x="8932014" y="0"/>
                </a:lnTo>
                <a:lnTo>
                  <a:pt x="8932014" y="5259197"/>
                </a:lnTo>
                <a:lnTo>
                  <a:pt x="0" y="52591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56188" y="3177817"/>
            <a:ext cx="8789901" cy="4985800"/>
          </a:xfrm>
          <a:custGeom>
            <a:avLst/>
            <a:gdLst/>
            <a:ahLst/>
            <a:cxnLst/>
            <a:rect r="r" b="b" t="t" l="l"/>
            <a:pathLst>
              <a:path h="4985800" w="8789901">
                <a:moveTo>
                  <a:pt x="0" y="0"/>
                </a:moveTo>
                <a:lnTo>
                  <a:pt x="8789901" y="0"/>
                </a:lnTo>
                <a:lnTo>
                  <a:pt x="8789901" y="4985800"/>
                </a:lnTo>
                <a:lnTo>
                  <a:pt x="0" y="4985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0502" y="8639810"/>
            <a:ext cx="486876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Text Readi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ng via Smart Glasses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88410" y="8639810"/>
            <a:ext cx="4925457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Object Recognition via Smart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Glasses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340404" y="1819552"/>
            <a:ext cx="6197730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Smart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Glasses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8555" y="3177817"/>
            <a:ext cx="8498012" cy="5348842"/>
          </a:xfrm>
          <a:custGeom>
            <a:avLst/>
            <a:gdLst/>
            <a:ahLst/>
            <a:cxnLst/>
            <a:rect r="r" b="b" t="t" l="l"/>
            <a:pathLst>
              <a:path h="5348842" w="8498012">
                <a:moveTo>
                  <a:pt x="0" y="0"/>
                </a:moveTo>
                <a:lnTo>
                  <a:pt x="8498012" y="0"/>
                </a:lnTo>
                <a:lnTo>
                  <a:pt x="8498012" y="5348842"/>
                </a:lnTo>
                <a:lnTo>
                  <a:pt x="0" y="53488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07023" y="3155278"/>
            <a:ext cx="8144059" cy="5393920"/>
          </a:xfrm>
          <a:custGeom>
            <a:avLst/>
            <a:gdLst/>
            <a:ahLst/>
            <a:cxnLst/>
            <a:rect r="r" b="b" t="t" l="l"/>
            <a:pathLst>
              <a:path h="5393920" w="8144059">
                <a:moveTo>
                  <a:pt x="0" y="0"/>
                </a:moveTo>
                <a:lnTo>
                  <a:pt x="8144059" y="0"/>
                </a:lnTo>
                <a:lnTo>
                  <a:pt x="8144059" y="5393920"/>
                </a:lnTo>
                <a:lnTo>
                  <a:pt x="0" y="53939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0502" y="8639810"/>
            <a:ext cx="4868767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Scene Descriptio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n via Smart Glasses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88410" y="8639810"/>
            <a:ext cx="492545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SOS Feature via Smart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Glasses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40404" y="1819552"/>
            <a:ext cx="6197730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Smart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Glasses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4338" y="3155278"/>
            <a:ext cx="8529662" cy="5348842"/>
          </a:xfrm>
          <a:custGeom>
            <a:avLst/>
            <a:gdLst/>
            <a:ahLst/>
            <a:cxnLst/>
            <a:rect r="r" b="b" t="t" l="l"/>
            <a:pathLst>
              <a:path h="5348842" w="8529662">
                <a:moveTo>
                  <a:pt x="0" y="0"/>
                </a:moveTo>
                <a:lnTo>
                  <a:pt x="8529662" y="0"/>
                </a:lnTo>
                <a:lnTo>
                  <a:pt x="8529662" y="5348842"/>
                </a:lnTo>
                <a:lnTo>
                  <a:pt x="0" y="53488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3155278"/>
            <a:ext cx="9264575" cy="5346167"/>
          </a:xfrm>
          <a:custGeom>
            <a:avLst/>
            <a:gdLst/>
            <a:ahLst/>
            <a:cxnLst/>
            <a:rect r="r" b="b" t="t" l="l"/>
            <a:pathLst>
              <a:path h="5346167" w="9264575">
                <a:moveTo>
                  <a:pt x="0" y="0"/>
                </a:moveTo>
                <a:lnTo>
                  <a:pt x="9264575" y="0"/>
                </a:lnTo>
                <a:lnTo>
                  <a:pt x="9264575" y="5346167"/>
                </a:lnTo>
                <a:lnTo>
                  <a:pt x="0" y="53461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0502" y="8639810"/>
            <a:ext cx="486876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Accessi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ng User Guide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88410" y="8639810"/>
            <a:ext cx="492545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Disconnecting Smart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Glasses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40404" y="1819552"/>
            <a:ext cx="6197730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Smart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Glasses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929" y="3155278"/>
            <a:ext cx="9090071" cy="5346167"/>
          </a:xfrm>
          <a:custGeom>
            <a:avLst/>
            <a:gdLst/>
            <a:ahLst/>
            <a:cxnLst/>
            <a:rect r="r" b="b" t="t" l="l"/>
            <a:pathLst>
              <a:path h="5346167" w="9090071">
                <a:moveTo>
                  <a:pt x="0" y="0"/>
                </a:moveTo>
                <a:lnTo>
                  <a:pt x="9090071" y="0"/>
                </a:lnTo>
                <a:lnTo>
                  <a:pt x="9090071" y="5346167"/>
                </a:lnTo>
                <a:lnTo>
                  <a:pt x="0" y="534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3155278"/>
            <a:ext cx="9144000" cy="5078186"/>
          </a:xfrm>
          <a:custGeom>
            <a:avLst/>
            <a:gdLst/>
            <a:ahLst/>
            <a:cxnLst/>
            <a:rect r="r" b="b" t="t" l="l"/>
            <a:pathLst>
              <a:path h="5078186" w="9144000">
                <a:moveTo>
                  <a:pt x="0" y="0"/>
                </a:moveTo>
                <a:lnTo>
                  <a:pt x="9144000" y="0"/>
                </a:lnTo>
                <a:lnTo>
                  <a:pt x="9144000" y="5078185"/>
                </a:lnTo>
                <a:lnTo>
                  <a:pt x="0" y="50781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0502" y="8639810"/>
            <a:ext cx="4868767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Changi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ng Language Application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88410" y="8639810"/>
            <a:ext cx="4925457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Application Design and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Ease of Finding Information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340404" y="1819552"/>
            <a:ext cx="7948005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General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Application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9130911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Questionnaire Results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5345" y="3155278"/>
            <a:ext cx="8788655" cy="5346167"/>
          </a:xfrm>
          <a:custGeom>
            <a:avLst/>
            <a:gdLst/>
            <a:ahLst/>
            <a:cxnLst/>
            <a:rect r="r" b="b" t="t" l="l"/>
            <a:pathLst>
              <a:path h="5346167" w="8788655">
                <a:moveTo>
                  <a:pt x="0" y="0"/>
                </a:moveTo>
                <a:lnTo>
                  <a:pt x="8788655" y="0"/>
                </a:lnTo>
                <a:lnTo>
                  <a:pt x="8788655" y="5346167"/>
                </a:lnTo>
                <a:lnTo>
                  <a:pt x="0" y="5346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30920" y="3177817"/>
            <a:ext cx="8640437" cy="5348842"/>
          </a:xfrm>
          <a:custGeom>
            <a:avLst/>
            <a:gdLst/>
            <a:ahLst/>
            <a:cxnLst/>
            <a:rect r="r" b="b" t="t" l="l"/>
            <a:pathLst>
              <a:path h="5348842" w="8640437">
                <a:moveTo>
                  <a:pt x="0" y="0"/>
                </a:moveTo>
                <a:lnTo>
                  <a:pt x="8640437" y="0"/>
                </a:lnTo>
                <a:lnTo>
                  <a:pt x="8640437" y="5348842"/>
                </a:lnTo>
                <a:lnTo>
                  <a:pt x="0" y="53488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6066" y="8698230"/>
            <a:ext cx="486876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App Navigation Ease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50465" y="8869045"/>
            <a:ext cx="492545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Audio Guidance</a:t>
            </a:r>
            <a:r>
              <a:rPr lang="en-US" b="true" sz="23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Clarity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40404" y="1819552"/>
            <a:ext cx="7948005" cy="135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General</a:t>
            </a:r>
            <a:r>
              <a:rPr lang="en-US" b="true" sz="3900" i="true">
                <a:solidFill>
                  <a:srgbClr val="8B6FB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Application Features</a:t>
            </a:r>
          </a:p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533304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Discussion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551315" y="3971981"/>
            <a:ext cx="11545310" cy="1603124"/>
            <a:chOff x="0" y="0"/>
            <a:chExt cx="2798858" cy="3886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8858" cy="388635"/>
            </a:xfrm>
            <a:custGeom>
              <a:avLst/>
              <a:gdLst/>
              <a:ahLst/>
              <a:cxnLst/>
              <a:rect r="r" b="b" t="t" l="l"/>
              <a:pathLst>
                <a:path h="388635" w="2798858">
                  <a:moveTo>
                    <a:pt x="56328" y="0"/>
                  </a:moveTo>
                  <a:lnTo>
                    <a:pt x="2742530" y="0"/>
                  </a:lnTo>
                  <a:cubicBezTo>
                    <a:pt x="2773639" y="0"/>
                    <a:pt x="2798858" y="25219"/>
                    <a:pt x="2798858" y="56328"/>
                  </a:cubicBezTo>
                  <a:lnTo>
                    <a:pt x="2798858" y="332308"/>
                  </a:lnTo>
                  <a:cubicBezTo>
                    <a:pt x="2798858" y="363417"/>
                    <a:pt x="2773639" y="388635"/>
                    <a:pt x="2742530" y="388635"/>
                  </a:cubicBezTo>
                  <a:lnTo>
                    <a:pt x="56328" y="388635"/>
                  </a:lnTo>
                  <a:cubicBezTo>
                    <a:pt x="41389" y="388635"/>
                    <a:pt x="27062" y="382701"/>
                    <a:pt x="16498" y="372137"/>
                  </a:cubicBezTo>
                  <a:cubicBezTo>
                    <a:pt x="5935" y="361574"/>
                    <a:pt x="0" y="347247"/>
                    <a:pt x="0" y="332308"/>
                  </a:cubicBezTo>
                  <a:lnTo>
                    <a:pt x="0" y="56328"/>
                  </a:lnTo>
                  <a:cubicBezTo>
                    <a:pt x="0" y="25219"/>
                    <a:pt x="25219" y="0"/>
                    <a:pt x="56328" y="0"/>
                  </a:cubicBezTo>
                  <a:close/>
                </a:path>
              </a:pathLst>
            </a:custGeom>
            <a:solidFill>
              <a:srgbClr val="F6E3F9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98858" cy="426735"/>
            </a:xfrm>
            <a:prstGeom prst="rect">
              <a:avLst/>
            </a:prstGeom>
          </p:spPr>
          <p:txBody>
            <a:bodyPr anchor="ctr" rtlCol="false" tIns="61383" lIns="61383" bIns="61383" rIns="6138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51315" y="7266938"/>
            <a:ext cx="11545310" cy="2143762"/>
            <a:chOff x="0" y="0"/>
            <a:chExt cx="2798858" cy="5196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8858" cy="519699"/>
            </a:xfrm>
            <a:custGeom>
              <a:avLst/>
              <a:gdLst/>
              <a:ahLst/>
              <a:cxnLst/>
              <a:rect r="r" b="b" t="t" l="l"/>
              <a:pathLst>
                <a:path h="519699" w="2798858">
                  <a:moveTo>
                    <a:pt x="56328" y="0"/>
                  </a:moveTo>
                  <a:lnTo>
                    <a:pt x="2742530" y="0"/>
                  </a:lnTo>
                  <a:cubicBezTo>
                    <a:pt x="2773639" y="0"/>
                    <a:pt x="2798858" y="25219"/>
                    <a:pt x="2798858" y="56328"/>
                  </a:cubicBezTo>
                  <a:lnTo>
                    <a:pt x="2798858" y="463371"/>
                  </a:lnTo>
                  <a:cubicBezTo>
                    <a:pt x="2798858" y="494480"/>
                    <a:pt x="2773639" y="519699"/>
                    <a:pt x="2742530" y="519699"/>
                  </a:cubicBezTo>
                  <a:lnTo>
                    <a:pt x="56328" y="519699"/>
                  </a:lnTo>
                  <a:cubicBezTo>
                    <a:pt x="25219" y="519699"/>
                    <a:pt x="0" y="494480"/>
                    <a:pt x="0" y="463371"/>
                  </a:cubicBezTo>
                  <a:lnTo>
                    <a:pt x="0" y="56328"/>
                  </a:lnTo>
                  <a:cubicBezTo>
                    <a:pt x="0" y="25219"/>
                    <a:pt x="25219" y="0"/>
                    <a:pt x="56328" y="0"/>
                  </a:cubicBezTo>
                  <a:close/>
                </a:path>
              </a:pathLst>
            </a:custGeom>
            <a:solidFill>
              <a:srgbClr val="F6E3F9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98858" cy="557799"/>
            </a:xfrm>
            <a:prstGeom prst="rect">
              <a:avLst/>
            </a:prstGeom>
          </p:spPr>
          <p:txBody>
            <a:bodyPr anchor="ctr" rtlCol="false" tIns="61383" lIns="61383" bIns="61383" rIns="6138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600450" y="4138614"/>
            <a:ext cx="11343776" cy="328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4"/>
              </a:lnSpc>
            </a:pP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Munir provides an accessible voice-driven system for visually impaired users with strong usability across mobile and smart glasses features.</a:t>
            </a:r>
          </a:p>
          <a:p>
            <a:pPr algn="ctr">
              <a:lnSpc>
                <a:spcPts val="4424"/>
              </a:lnSpc>
            </a:pPr>
          </a:p>
          <a:p>
            <a:pPr algn="ctr">
              <a:lnSpc>
                <a:spcPts val="4424"/>
              </a:lnSpc>
            </a:pPr>
          </a:p>
          <a:p>
            <a:pPr algn="ctr">
              <a:lnSpc>
                <a:spcPts val="4424"/>
              </a:lnSpc>
            </a:pPr>
          </a:p>
          <a:p>
            <a:pPr algn="ctr">
              <a:lnSpc>
                <a:spcPts val="442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810953" y="7329169"/>
            <a:ext cx="11133272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899"/>
              </a:lnSpc>
              <a:buFont typeface="Arial"/>
              <a:buChar char="•"/>
            </a:pP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Strong p</a:t>
            </a: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ositive feedback across mobile and smart glasses features.</a:t>
            </a:r>
          </a:p>
          <a:p>
            <a:pPr algn="l" marL="539749" indent="-269875" lvl="1">
              <a:lnSpc>
                <a:spcPts val="3899"/>
              </a:lnSpc>
              <a:buFont typeface="Arial"/>
              <a:buChar char="•"/>
            </a:pP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High usability with easy navigation and clear audio guidance.</a:t>
            </a:r>
          </a:p>
          <a:p>
            <a:pPr algn="l" marL="539749" indent="-269875" lvl="1">
              <a:lnSpc>
                <a:spcPts val="3899"/>
              </a:lnSpc>
              <a:buFont typeface="Arial"/>
              <a:buChar char="•"/>
            </a:pP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Minor usability issues in a few features, indicating areas for improvement.</a:t>
            </a:r>
          </a:p>
          <a:p>
            <a:pPr algn="l">
              <a:lnSpc>
                <a:spcPts val="3899"/>
              </a:lnSpc>
            </a:pPr>
          </a:p>
          <a:p>
            <a:pPr algn="l">
              <a:lnSpc>
                <a:spcPts val="38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810953" y="3081022"/>
            <a:ext cx="533304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Overall Evaluation: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10953" y="6431596"/>
            <a:ext cx="533304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Key Findings: 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1299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031234" y="5808790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5922" y="280473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19316" y="4442654"/>
            <a:ext cx="13849367" cy="120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13"/>
              </a:lnSpc>
            </a:pPr>
            <a:r>
              <a:rPr lang="en-US" b="true" sz="6608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109410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Conclusion &amp; Future Work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57467" y="7437882"/>
            <a:ext cx="3091735" cy="1030578"/>
          </a:xfrm>
          <a:custGeom>
            <a:avLst/>
            <a:gdLst/>
            <a:ahLst/>
            <a:cxnLst/>
            <a:rect r="r" b="b" t="t" l="l"/>
            <a:pathLst>
              <a:path h="1030578" w="3091735">
                <a:moveTo>
                  <a:pt x="0" y="0"/>
                </a:moveTo>
                <a:lnTo>
                  <a:pt x="3091734" y="0"/>
                </a:lnTo>
                <a:lnTo>
                  <a:pt x="3091734" y="1030578"/>
                </a:lnTo>
                <a:lnTo>
                  <a:pt x="0" y="10305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7606" y="7437882"/>
            <a:ext cx="3091735" cy="1030578"/>
          </a:xfrm>
          <a:custGeom>
            <a:avLst/>
            <a:gdLst/>
            <a:ahLst/>
            <a:cxnLst/>
            <a:rect r="r" b="b" t="t" l="l"/>
            <a:pathLst>
              <a:path h="1030578" w="3091735">
                <a:moveTo>
                  <a:pt x="0" y="0"/>
                </a:moveTo>
                <a:lnTo>
                  <a:pt x="3091735" y="0"/>
                </a:lnTo>
                <a:lnTo>
                  <a:pt x="3091735" y="1030578"/>
                </a:lnTo>
                <a:lnTo>
                  <a:pt x="0" y="10305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559035">
            <a:off x="3898236" y="6700487"/>
            <a:ext cx="544727" cy="1091698"/>
          </a:xfrm>
          <a:custGeom>
            <a:avLst/>
            <a:gdLst/>
            <a:ahLst/>
            <a:cxnLst/>
            <a:rect r="r" b="b" t="t" l="l"/>
            <a:pathLst>
              <a:path h="1091698" w="544727">
                <a:moveTo>
                  <a:pt x="0" y="0"/>
                </a:moveTo>
                <a:lnTo>
                  <a:pt x="544727" y="0"/>
                </a:lnTo>
                <a:lnTo>
                  <a:pt x="544727" y="1091698"/>
                </a:lnTo>
                <a:lnTo>
                  <a:pt x="0" y="1091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8596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17694" y="6889447"/>
            <a:ext cx="1771709" cy="1698444"/>
          </a:xfrm>
          <a:custGeom>
            <a:avLst/>
            <a:gdLst/>
            <a:ahLst/>
            <a:cxnLst/>
            <a:rect r="r" b="b" t="t" l="l"/>
            <a:pathLst>
              <a:path h="1698444" w="1771709">
                <a:moveTo>
                  <a:pt x="0" y="0"/>
                </a:moveTo>
                <a:lnTo>
                  <a:pt x="1771709" y="0"/>
                </a:lnTo>
                <a:lnTo>
                  <a:pt x="1771709" y="1698444"/>
                </a:lnTo>
                <a:lnTo>
                  <a:pt x="0" y="16984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-1870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056793">
            <a:off x="15933964" y="7321963"/>
            <a:ext cx="1555354" cy="833411"/>
          </a:xfrm>
          <a:custGeom>
            <a:avLst/>
            <a:gdLst/>
            <a:ahLst/>
            <a:cxnLst/>
            <a:rect r="r" b="b" t="t" l="l"/>
            <a:pathLst>
              <a:path h="833411" w="1555354">
                <a:moveTo>
                  <a:pt x="0" y="0"/>
                </a:moveTo>
                <a:lnTo>
                  <a:pt x="1555354" y="0"/>
                </a:lnTo>
                <a:lnTo>
                  <a:pt x="1555354" y="833411"/>
                </a:lnTo>
                <a:lnTo>
                  <a:pt x="0" y="8334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056030">
            <a:off x="14772447" y="7382401"/>
            <a:ext cx="1648612" cy="795344"/>
          </a:xfrm>
          <a:custGeom>
            <a:avLst/>
            <a:gdLst/>
            <a:ahLst/>
            <a:cxnLst/>
            <a:rect r="r" b="b" t="t" l="l"/>
            <a:pathLst>
              <a:path h="795344" w="1648612">
                <a:moveTo>
                  <a:pt x="0" y="0"/>
                </a:moveTo>
                <a:lnTo>
                  <a:pt x="1648612" y="0"/>
                </a:lnTo>
                <a:lnTo>
                  <a:pt x="1648612" y="795344"/>
                </a:lnTo>
                <a:lnTo>
                  <a:pt x="0" y="79534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129560">
            <a:off x="13567225" y="7337716"/>
            <a:ext cx="1766102" cy="882315"/>
          </a:xfrm>
          <a:custGeom>
            <a:avLst/>
            <a:gdLst/>
            <a:ahLst/>
            <a:cxnLst/>
            <a:rect r="r" b="b" t="t" l="l"/>
            <a:pathLst>
              <a:path h="882315" w="1766102">
                <a:moveTo>
                  <a:pt x="0" y="0"/>
                </a:moveTo>
                <a:lnTo>
                  <a:pt x="1766102" y="0"/>
                </a:lnTo>
                <a:lnTo>
                  <a:pt x="1766102" y="882315"/>
                </a:lnTo>
                <a:lnTo>
                  <a:pt x="0" y="88231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70502" y="3421900"/>
            <a:ext cx="15796745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Munir represents a meaningful step toward inclusive technology, bridging visual impairment and everyday independence through intelligent AI-powered assistance.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18909" y="8544660"/>
            <a:ext cx="3768849" cy="970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3"/>
              </a:lnSpc>
              <a:spcBef>
                <a:spcPct val="0"/>
              </a:spcBef>
            </a:pPr>
            <a:r>
              <a:rPr lang="en-US" b="true" sz="1843" i="tru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On-D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v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i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Func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tiona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lity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Ex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pa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ns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13115" y="8489725"/>
            <a:ext cx="3380867" cy="970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3"/>
              </a:lnSpc>
              <a:spcBef>
                <a:spcPct val="0"/>
              </a:spcBef>
            </a:pPr>
            <a:r>
              <a:rPr lang="en-US" b="true" sz="1843" i="tru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Wi-Fi 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onn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iv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i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ty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I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nte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gra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32548" y="8544660"/>
            <a:ext cx="3592661" cy="45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3"/>
              </a:lnSpc>
              <a:spcBef>
                <a:spcPct val="0"/>
              </a:spcBef>
            </a:pPr>
            <a:r>
              <a:rPr lang="en-US" b="true" sz="1843" i="tru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Mult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i-Currency Support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3533" y="8406916"/>
            <a:ext cx="4119881" cy="45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3"/>
              </a:lnSpc>
              <a:spcBef>
                <a:spcPct val="0"/>
              </a:spcBef>
            </a:pPr>
            <a:r>
              <a:rPr lang="en-US" b="true" sz="1843" i="tru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On-D</a:t>
            </a:r>
            <a:r>
              <a:rPr lang="en-US" b="true" sz="1843" i="true" strike="noStrike" u="non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evice Audio Feedback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0502" y="2839001"/>
            <a:ext cx="533304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Conclusion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0502" y="5688851"/>
            <a:ext cx="533304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  <a:r>
              <a:rPr lang="en-US" b="true" sz="3199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Future Work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1299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031234" y="5808790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75922" y="280473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5559" y="4000722"/>
            <a:ext cx="15876883" cy="318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2"/>
              </a:lnSpc>
            </a:pPr>
            <a:r>
              <a:rPr lang="en-US" b="true" sz="8588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Achievements </a:t>
            </a:r>
          </a:p>
          <a:p>
            <a:pPr algn="ctr" marL="0" indent="0" lvl="0">
              <a:lnSpc>
                <a:spcPts val="12882"/>
              </a:lnSpc>
            </a:pPr>
            <a:r>
              <a:rPr lang="en-US" b="true" sz="8588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&amp; Recognition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256157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Achievement &amp; Recognition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03068" y="2907238"/>
            <a:ext cx="4681865" cy="7147930"/>
          </a:xfrm>
          <a:custGeom>
            <a:avLst/>
            <a:gdLst/>
            <a:ahLst/>
            <a:cxnLst/>
            <a:rect r="r" b="b" t="t" l="l"/>
            <a:pathLst>
              <a:path h="7147930" w="4681865">
                <a:moveTo>
                  <a:pt x="0" y="0"/>
                </a:moveTo>
                <a:lnTo>
                  <a:pt x="4681864" y="0"/>
                </a:lnTo>
                <a:lnTo>
                  <a:pt x="4681864" y="7147930"/>
                </a:lnTo>
                <a:lnTo>
                  <a:pt x="0" y="71479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804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97908" y="2137616"/>
            <a:ext cx="5281581" cy="47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IBM AI Developer Program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256157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Achievement &amp; Recognition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55691" y="3274602"/>
            <a:ext cx="4409094" cy="6568482"/>
          </a:xfrm>
          <a:custGeom>
            <a:avLst/>
            <a:gdLst/>
            <a:ahLst/>
            <a:cxnLst/>
            <a:rect r="r" b="b" t="t" l="l"/>
            <a:pathLst>
              <a:path h="6568482" w="4409094">
                <a:moveTo>
                  <a:pt x="0" y="0"/>
                </a:moveTo>
                <a:lnTo>
                  <a:pt x="4409093" y="0"/>
                </a:lnTo>
                <a:lnTo>
                  <a:pt x="4409093" y="6568482"/>
                </a:lnTo>
                <a:lnTo>
                  <a:pt x="0" y="65684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91706" y="3274602"/>
            <a:ext cx="5203247" cy="6525255"/>
          </a:xfrm>
          <a:custGeom>
            <a:avLst/>
            <a:gdLst/>
            <a:ahLst/>
            <a:cxnLst/>
            <a:rect r="r" b="b" t="t" l="l"/>
            <a:pathLst>
              <a:path h="6525255" w="5203247">
                <a:moveTo>
                  <a:pt x="0" y="0"/>
                </a:moveTo>
                <a:lnTo>
                  <a:pt x="5203247" y="0"/>
                </a:lnTo>
                <a:lnTo>
                  <a:pt x="5203247" y="6525255"/>
                </a:lnTo>
                <a:lnTo>
                  <a:pt x="0" y="65252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491" b="-324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6815" y="2137616"/>
            <a:ext cx="5281581" cy="47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Tamk</a:t>
            </a: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een X Training Forum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2137616"/>
            <a:ext cx="6899231" cy="9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ICAN 2026 – International Conf</a:t>
            </a: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erence on Data &amp; AI Capacity Building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256157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Achievement &amp; Recognition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91442" y="3095492"/>
            <a:ext cx="4899537" cy="6911792"/>
          </a:xfrm>
          <a:custGeom>
            <a:avLst/>
            <a:gdLst/>
            <a:ahLst/>
            <a:cxnLst/>
            <a:rect r="r" b="b" t="t" l="l"/>
            <a:pathLst>
              <a:path h="6911792" w="4899537">
                <a:moveTo>
                  <a:pt x="0" y="0"/>
                </a:moveTo>
                <a:lnTo>
                  <a:pt x="4899537" y="0"/>
                </a:lnTo>
                <a:lnTo>
                  <a:pt x="4899537" y="6911791"/>
                </a:lnTo>
                <a:lnTo>
                  <a:pt x="0" y="69117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82" t="-839" r="-1645" b="-162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70397" y="3193058"/>
            <a:ext cx="4846436" cy="6716660"/>
          </a:xfrm>
          <a:custGeom>
            <a:avLst/>
            <a:gdLst/>
            <a:ahLst/>
            <a:cxnLst/>
            <a:rect r="r" b="b" t="t" l="l"/>
            <a:pathLst>
              <a:path h="6716660" w="4846436">
                <a:moveTo>
                  <a:pt x="0" y="0"/>
                </a:moveTo>
                <a:lnTo>
                  <a:pt x="4846437" y="0"/>
                </a:lnTo>
                <a:lnTo>
                  <a:pt x="4846437" y="6716660"/>
                </a:lnTo>
                <a:lnTo>
                  <a:pt x="0" y="6716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779" b="-278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43286" y="2086874"/>
            <a:ext cx="5281581" cy="9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Munir Pap</a:t>
            </a: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er — Accepted 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MDPI Sensors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2137616"/>
            <a:ext cx="6899231" cy="9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Cur</a:t>
            </a: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rency Paper — Under Review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81D6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MDPI Applied Sciences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066628" cy="10287000"/>
          </a:xfrm>
          <a:custGeom>
            <a:avLst/>
            <a:gdLst/>
            <a:ahLst/>
            <a:cxnLst/>
            <a:rect r="r" b="b" t="t" l="l"/>
            <a:pathLst>
              <a:path h="10287000" w="13066628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76064" y="5669746"/>
            <a:ext cx="8083236" cy="182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860"/>
              </a:lnSpc>
            </a:pPr>
            <a:r>
              <a:rPr lang="en-US" b="true" sz="10614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Thank You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51807" y="4293816"/>
            <a:ext cx="1314666" cy="5829680"/>
            <a:chOff x="0" y="0"/>
            <a:chExt cx="346250" cy="153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6250" cy="1535389"/>
            </a:xfrm>
            <a:custGeom>
              <a:avLst/>
              <a:gdLst/>
              <a:ahLst/>
              <a:cxnLst/>
              <a:rect r="r" b="b" t="t" l="l"/>
              <a:pathLst>
                <a:path h="1535389" w="346250">
                  <a:moveTo>
                    <a:pt x="117778" y="0"/>
                  </a:moveTo>
                  <a:lnTo>
                    <a:pt x="228472" y="0"/>
                  </a:lnTo>
                  <a:cubicBezTo>
                    <a:pt x="293519" y="0"/>
                    <a:pt x="346250" y="52731"/>
                    <a:pt x="346250" y="117778"/>
                  </a:cubicBezTo>
                  <a:lnTo>
                    <a:pt x="346250" y="1417611"/>
                  </a:lnTo>
                  <a:cubicBezTo>
                    <a:pt x="346250" y="1482658"/>
                    <a:pt x="293519" y="1535389"/>
                    <a:pt x="228472" y="1535389"/>
                  </a:cubicBezTo>
                  <a:lnTo>
                    <a:pt x="117778" y="1535389"/>
                  </a:lnTo>
                  <a:cubicBezTo>
                    <a:pt x="52731" y="1535389"/>
                    <a:pt x="0" y="1482658"/>
                    <a:pt x="0" y="1417611"/>
                  </a:cubicBezTo>
                  <a:lnTo>
                    <a:pt x="0" y="117778"/>
                  </a:lnTo>
                  <a:cubicBezTo>
                    <a:pt x="0" y="52731"/>
                    <a:pt x="52731" y="0"/>
                    <a:pt x="117778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46250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1807" y="3091791"/>
            <a:ext cx="1314666" cy="1019733"/>
            <a:chOff x="0" y="0"/>
            <a:chExt cx="346250" cy="2685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6250" cy="268572"/>
            </a:xfrm>
            <a:custGeom>
              <a:avLst/>
              <a:gdLst/>
              <a:ahLst/>
              <a:cxnLst/>
              <a:rect r="r" b="b" t="t" l="l"/>
              <a:pathLst>
                <a:path h="268572" w="346250">
                  <a:moveTo>
                    <a:pt x="117778" y="0"/>
                  </a:moveTo>
                  <a:lnTo>
                    <a:pt x="228472" y="0"/>
                  </a:lnTo>
                  <a:cubicBezTo>
                    <a:pt x="293519" y="0"/>
                    <a:pt x="346250" y="52731"/>
                    <a:pt x="346250" y="117778"/>
                  </a:cubicBezTo>
                  <a:lnTo>
                    <a:pt x="346250" y="150794"/>
                  </a:lnTo>
                  <a:cubicBezTo>
                    <a:pt x="346250" y="215841"/>
                    <a:pt x="293519" y="268572"/>
                    <a:pt x="228472" y="268572"/>
                  </a:cubicBezTo>
                  <a:lnTo>
                    <a:pt x="117778" y="268572"/>
                  </a:lnTo>
                  <a:cubicBezTo>
                    <a:pt x="52731" y="268572"/>
                    <a:pt x="0" y="215841"/>
                    <a:pt x="0" y="150794"/>
                  </a:cubicBezTo>
                  <a:lnTo>
                    <a:pt x="0" y="117778"/>
                  </a:lnTo>
                  <a:cubicBezTo>
                    <a:pt x="0" y="52731"/>
                    <a:pt x="52731" y="0"/>
                    <a:pt x="117778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46250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37635" y="3091791"/>
            <a:ext cx="3235420" cy="1019733"/>
            <a:chOff x="0" y="0"/>
            <a:chExt cx="852127" cy="2685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2127" cy="268572"/>
            </a:xfrm>
            <a:custGeom>
              <a:avLst/>
              <a:gdLst/>
              <a:ahLst/>
              <a:cxnLst/>
              <a:rect r="r" b="b" t="t" l="l"/>
              <a:pathLst>
                <a:path h="268572" w="852127">
                  <a:moveTo>
                    <a:pt x="47857" y="0"/>
                  </a:moveTo>
                  <a:lnTo>
                    <a:pt x="804270" y="0"/>
                  </a:lnTo>
                  <a:cubicBezTo>
                    <a:pt x="830701" y="0"/>
                    <a:pt x="852127" y="21426"/>
                    <a:pt x="852127" y="47857"/>
                  </a:cubicBezTo>
                  <a:lnTo>
                    <a:pt x="852127" y="220714"/>
                  </a:lnTo>
                  <a:cubicBezTo>
                    <a:pt x="852127" y="233407"/>
                    <a:pt x="847085" y="245580"/>
                    <a:pt x="838110" y="254555"/>
                  </a:cubicBezTo>
                  <a:cubicBezTo>
                    <a:pt x="829135" y="263530"/>
                    <a:pt x="816962" y="268572"/>
                    <a:pt x="804270" y="268572"/>
                  </a:cubicBezTo>
                  <a:lnTo>
                    <a:pt x="47857" y="268572"/>
                  </a:lnTo>
                  <a:cubicBezTo>
                    <a:pt x="21426" y="268572"/>
                    <a:pt x="0" y="247145"/>
                    <a:pt x="0" y="220714"/>
                  </a:cubicBezTo>
                  <a:lnTo>
                    <a:pt x="0" y="47857"/>
                  </a:lnTo>
                  <a:cubicBezTo>
                    <a:pt x="0" y="21426"/>
                    <a:pt x="21426" y="0"/>
                    <a:pt x="47857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52127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44505" y="3091791"/>
            <a:ext cx="1933212" cy="1019733"/>
            <a:chOff x="0" y="0"/>
            <a:chExt cx="509159" cy="2685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9159" cy="268572"/>
            </a:xfrm>
            <a:custGeom>
              <a:avLst/>
              <a:gdLst/>
              <a:ahLst/>
              <a:cxnLst/>
              <a:rect r="r" b="b" t="t" l="l"/>
              <a:pathLst>
                <a:path h="268572" w="509159">
                  <a:moveTo>
                    <a:pt x="80094" y="0"/>
                  </a:moveTo>
                  <a:lnTo>
                    <a:pt x="429065" y="0"/>
                  </a:lnTo>
                  <a:cubicBezTo>
                    <a:pt x="473299" y="0"/>
                    <a:pt x="509159" y="35859"/>
                    <a:pt x="509159" y="80094"/>
                  </a:cubicBezTo>
                  <a:lnTo>
                    <a:pt x="509159" y="188478"/>
                  </a:lnTo>
                  <a:cubicBezTo>
                    <a:pt x="509159" y="209720"/>
                    <a:pt x="500720" y="230092"/>
                    <a:pt x="485700" y="245113"/>
                  </a:cubicBezTo>
                  <a:cubicBezTo>
                    <a:pt x="470679" y="260133"/>
                    <a:pt x="450307" y="268572"/>
                    <a:pt x="429065" y="268572"/>
                  </a:cubicBezTo>
                  <a:lnTo>
                    <a:pt x="80094" y="268572"/>
                  </a:lnTo>
                  <a:cubicBezTo>
                    <a:pt x="58852" y="268572"/>
                    <a:pt x="38479" y="260133"/>
                    <a:pt x="23459" y="245113"/>
                  </a:cubicBezTo>
                  <a:cubicBezTo>
                    <a:pt x="8438" y="230092"/>
                    <a:pt x="0" y="209720"/>
                    <a:pt x="0" y="188478"/>
                  </a:cubicBezTo>
                  <a:lnTo>
                    <a:pt x="0" y="80094"/>
                  </a:lnTo>
                  <a:cubicBezTo>
                    <a:pt x="0" y="58852"/>
                    <a:pt x="8438" y="38479"/>
                    <a:pt x="23459" y="23459"/>
                  </a:cubicBezTo>
                  <a:cubicBezTo>
                    <a:pt x="38479" y="8438"/>
                    <a:pt x="58852" y="0"/>
                    <a:pt x="80094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09159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49167" y="3091791"/>
            <a:ext cx="1933212" cy="1019733"/>
            <a:chOff x="0" y="0"/>
            <a:chExt cx="509159" cy="2685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9159" cy="268572"/>
            </a:xfrm>
            <a:custGeom>
              <a:avLst/>
              <a:gdLst/>
              <a:ahLst/>
              <a:cxnLst/>
              <a:rect r="r" b="b" t="t" l="l"/>
              <a:pathLst>
                <a:path h="268572" w="509159">
                  <a:moveTo>
                    <a:pt x="80094" y="0"/>
                  </a:moveTo>
                  <a:lnTo>
                    <a:pt x="429065" y="0"/>
                  </a:lnTo>
                  <a:cubicBezTo>
                    <a:pt x="473299" y="0"/>
                    <a:pt x="509159" y="35859"/>
                    <a:pt x="509159" y="80094"/>
                  </a:cubicBezTo>
                  <a:lnTo>
                    <a:pt x="509159" y="188478"/>
                  </a:lnTo>
                  <a:cubicBezTo>
                    <a:pt x="509159" y="209720"/>
                    <a:pt x="500720" y="230092"/>
                    <a:pt x="485700" y="245113"/>
                  </a:cubicBezTo>
                  <a:cubicBezTo>
                    <a:pt x="470679" y="260133"/>
                    <a:pt x="450307" y="268572"/>
                    <a:pt x="429065" y="268572"/>
                  </a:cubicBezTo>
                  <a:lnTo>
                    <a:pt x="80094" y="268572"/>
                  </a:lnTo>
                  <a:cubicBezTo>
                    <a:pt x="58852" y="268572"/>
                    <a:pt x="38479" y="260133"/>
                    <a:pt x="23459" y="245113"/>
                  </a:cubicBezTo>
                  <a:cubicBezTo>
                    <a:pt x="8438" y="230092"/>
                    <a:pt x="0" y="209720"/>
                    <a:pt x="0" y="188478"/>
                  </a:cubicBezTo>
                  <a:lnTo>
                    <a:pt x="0" y="80094"/>
                  </a:lnTo>
                  <a:cubicBezTo>
                    <a:pt x="0" y="58852"/>
                    <a:pt x="8438" y="38479"/>
                    <a:pt x="23459" y="23459"/>
                  </a:cubicBezTo>
                  <a:cubicBezTo>
                    <a:pt x="38479" y="8438"/>
                    <a:pt x="58852" y="0"/>
                    <a:pt x="80094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09159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53829" y="3091791"/>
            <a:ext cx="8647287" cy="1019733"/>
            <a:chOff x="0" y="0"/>
            <a:chExt cx="2277475" cy="2685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7475" cy="268572"/>
            </a:xfrm>
            <a:custGeom>
              <a:avLst/>
              <a:gdLst/>
              <a:ahLst/>
              <a:cxnLst/>
              <a:rect r="r" b="b" t="t" l="l"/>
              <a:pathLst>
                <a:path h="268572" w="2277475">
                  <a:moveTo>
                    <a:pt x="17906" y="0"/>
                  </a:moveTo>
                  <a:lnTo>
                    <a:pt x="2259569" y="0"/>
                  </a:lnTo>
                  <a:cubicBezTo>
                    <a:pt x="2264318" y="0"/>
                    <a:pt x="2268872" y="1887"/>
                    <a:pt x="2272230" y="5245"/>
                  </a:cubicBezTo>
                  <a:cubicBezTo>
                    <a:pt x="2275588" y="8603"/>
                    <a:pt x="2277475" y="13157"/>
                    <a:pt x="2277475" y="17906"/>
                  </a:cubicBezTo>
                  <a:lnTo>
                    <a:pt x="2277475" y="250666"/>
                  </a:lnTo>
                  <a:cubicBezTo>
                    <a:pt x="2277475" y="255415"/>
                    <a:pt x="2275588" y="259969"/>
                    <a:pt x="2272230" y="263327"/>
                  </a:cubicBezTo>
                  <a:cubicBezTo>
                    <a:pt x="2268872" y="266685"/>
                    <a:pt x="2264318" y="268572"/>
                    <a:pt x="2259569" y="268572"/>
                  </a:cubicBezTo>
                  <a:lnTo>
                    <a:pt x="17906" y="268572"/>
                  </a:lnTo>
                  <a:cubicBezTo>
                    <a:pt x="13157" y="268572"/>
                    <a:pt x="8603" y="266685"/>
                    <a:pt x="5245" y="263327"/>
                  </a:cubicBezTo>
                  <a:cubicBezTo>
                    <a:pt x="1887" y="259969"/>
                    <a:pt x="0" y="255415"/>
                    <a:pt x="0" y="250666"/>
                  </a:cubicBezTo>
                  <a:lnTo>
                    <a:pt x="0" y="17906"/>
                  </a:lnTo>
                  <a:cubicBezTo>
                    <a:pt x="0" y="13157"/>
                    <a:pt x="1887" y="8603"/>
                    <a:pt x="5245" y="5245"/>
                  </a:cubicBezTo>
                  <a:cubicBezTo>
                    <a:pt x="8603" y="1887"/>
                    <a:pt x="13157" y="0"/>
                    <a:pt x="17906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277475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99396" y="4293816"/>
            <a:ext cx="3173659" cy="5829680"/>
            <a:chOff x="0" y="0"/>
            <a:chExt cx="835861" cy="15353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5861" cy="1535389"/>
            </a:xfrm>
            <a:custGeom>
              <a:avLst/>
              <a:gdLst/>
              <a:ahLst/>
              <a:cxnLst/>
              <a:rect r="r" b="b" t="t" l="l"/>
              <a:pathLst>
                <a:path h="1535389" w="835861">
                  <a:moveTo>
                    <a:pt x="48789" y="0"/>
                  </a:moveTo>
                  <a:lnTo>
                    <a:pt x="787072" y="0"/>
                  </a:lnTo>
                  <a:cubicBezTo>
                    <a:pt x="800012" y="0"/>
                    <a:pt x="812421" y="5140"/>
                    <a:pt x="821571" y="14290"/>
                  </a:cubicBezTo>
                  <a:cubicBezTo>
                    <a:pt x="830721" y="23439"/>
                    <a:pt x="835861" y="35849"/>
                    <a:pt x="835861" y="48789"/>
                  </a:cubicBezTo>
                  <a:lnTo>
                    <a:pt x="835861" y="1486600"/>
                  </a:lnTo>
                  <a:cubicBezTo>
                    <a:pt x="835861" y="1499540"/>
                    <a:pt x="830721" y="1511949"/>
                    <a:pt x="821571" y="1521099"/>
                  </a:cubicBezTo>
                  <a:cubicBezTo>
                    <a:pt x="812421" y="1530249"/>
                    <a:pt x="800012" y="1535389"/>
                    <a:pt x="787072" y="1535389"/>
                  </a:cubicBezTo>
                  <a:lnTo>
                    <a:pt x="48789" y="1535389"/>
                  </a:lnTo>
                  <a:cubicBezTo>
                    <a:pt x="35849" y="1535389"/>
                    <a:pt x="23439" y="1530249"/>
                    <a:pt x="14290" y="1521099"/>
                  </a:cubicBezTo>
                  <a:cubicBezTo>
                    <a:pt x="5140" y="1511949"/>
                    <a:pt x="0" y="1499540"/>
                    <a:pt x="0" y="1486600"/>
                  </a:cubicBezTo>
                  <a:lnTo>
                    <a:pt x="0" y="48789"/>
                  </a:lnTo>
                  <a:cubicBezTo>
                    <a:pt x="0" y="35849"/>
                    <a:pt x="5140" y="23439"/>
                    <a:pt x="14290" y="14290"/>
                  </a:cubicBezTo>
                  <a:cubicBezTo>
                    <a:pt x="23439" y="5140"/>
                    <a:pt x="35849" y="0"/>
                    <a:pt x="48789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35861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01655" y="4293816"/>
            <a:ext cx="1876062" cy="5829680"/>
            <a:chOff x="0" y="0"/>
            <a:chExt cx="494107" cy="15353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4107" cy="1535389"/>
            </a:xfrm>
            <a:custGeom>
              <a:avLst/>
              <a:gdLst/>
              <a:ahLst/>
              <a:cxnLst/>
              <a:rect r="r" b="b" t="t" l="l"/>
              <a:pathLst>
                <a:path h="1535389" w="494107">
                  <a:moveTo>
                    <a:pt x="82534" y="0"/>
                  </a:moveTo>
                  <a:lnTo>
                    <a:pt x="411573" y="0"/>
                  </a:lnTo>
                  <a:cubicBezTo>
                    <a:pt x="433462" y="0"/>
                    <a:pt x="454455" y="8695"/>
                    <a:pt x="469933" y="24174"/>
                  </a:cubicBezTo>
                  <a:cubicBezTo>
                    <a:pt x="485411" y="39652"/>
                    <a:pt x="494107" y="60644"/>
                    <a:pt x="494107" y="82534"/>
                  </a:cubicBezTo>
                  <a:lnTo>
                    <a:pt x="494107" y="1452855"/>
                  </a:lnTo>
                  <a:cubicBezTo>
                    <a:pt x="494107" y="1498437"/>
                    <a:pt x="457155" y="1535389"/>
                    <a:pt x="411573" y="1535389"/>
                  </a:cubicBezTo>
                  <a:lnTo>
                    <a:pt x="82534" y="1535389"/>
                  </a:lnTo>
                  <a:cubicBezTo>
                    <a:pt x="60644" y="1535389"/>
                    <a:pt x="39652" y="1526693"/>
                    <a:pt x="24174" y="1511215"/>
                  </a:cubicBezTo>
                  <a:cubicBezTo>
                    <a:pt x="8695" y="1495737"/>
                    <a:pt x="0" y="1474744"/>
                    <a:pt x="0" y="1452855"/>
                  </a:cubicBezTo>
                  <a:lnTo>
                    <a:pt x="0" y="82534"/>
                  </a:lnTo>
                  <a:cubicBezTo>
                    <a:pt x="0" y="36952"/>
                    <a:pt x="36952" y="0"/>
                    <a:pt x="82534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494107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06317" y="4293816"/>
            <a:ext cx="1876062" cy="5829680"/>
            <a:chOff x="0" y="0"/>
            <a:chExt cx="494107" cy="15353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4107" cy="1535389"/>
            </a:xfrm>
            <a:custGeom>
              <a:avLst/>
              <a:gdLst/>
              <a:ahLst/>
              <a:cxnLst/>
              <a:rect r="r" b="b" t="t" l="l"/>
              <a:pathLst>
                <a:path h="1535389" w="494107">
                  <a:moveTo>
                    <a:pt x="82534" y="0"/>
                  </a:moveTo>
                  <a:lnTo>
                    <a:pt x="411573" y="0"/>
                  </a:lnTo>
                  <a:cubicBezTo>
                    <a:pt x="433462" y="0"/>
                    <a:pt x="454455" y="8695"/>
                    <a:pt x="469933" y="24174"/>
                  </a:cubicBezTo>
                  <a:cubicBezTo>
                    <a:pt x="485411" y="39652"/>
                    <a:pt x="494107" y="60644"/>
                    <a:pt x="494107" y="82534"/>
                  </a:cubicBezTo>
                  <a:lnTo>
                    <a:pt x="494107" y="1452855"/>
                  </a:lnTo>
                  <a:cubicBezTo>
                    <a:pt x="494107" y="1498437"/>
                    <a:pt x="457155" y="1535389"/>
                    <a:pt x="411573" y="1535389"/>
                  </a:cubicBezTo>
                  <a:lnTo>
                    <a:pt x="82534" y="1535389"/>
                  </a:lnTo>
                  <a:cubicBezTo>
                    <a:pt x="60644" y="1535389"/>
                    <a:pt x="39652" y="1526693"/>
                    <a:pt x="24174" y="1511215"/>
                  </a:cubicBezTo>
                  <a:cubicBezTo>
                    <a:pt x="8695" y="1495737"/>
                    <a:pt x="0" y="1474744"/>
                    <a:pt x="0" y="1452855"/>
                  </a:cubicBezTo>
                  <a:lnTo>
                    <a:pt x="0" y="82534"/>
                  </a:lnTo>
                  <a:cubicBezTo>
                    <a:pt x="0" y="36952"/>
                    <a:pt x="36952" y="0"/>
                    <a:pt x="82534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494107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10979" y="4293816"/>
            <a:ext cx="8590137" cy="5829680"/>
            <a:chOff x="0" y="0"/>
            <a:chExt cx="2262423" cy="15353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62423" cy="1535389"/>
            </a:xfrm>
            <a:custGeom>
              <a:avLst/>
              <a:gdLst/>
              <a:ahLst/>
              <a:cxnLst/>
              <a:rect r="r" b="b" t="t" l="l"/>
              <a:pathLst>
                <a:path h="1535389" w="2262423">
                  <a:moveTo>
                    <a:pt x="18025" y="0"/>
                  </a:moveTo>
                  <a:lnTo>
                    <a:pt x="2244398" y="0"/>
                  </a:lnTo>
                  <a:cubicBezTo>
                    <a:pt x="2249178" y="0"/>
                    <a:pt x="2253763" y="1899"/>
                    <a:pt x="2257143" y="5279"/>
                  </a:cubicBezTo>
                  <a:cubicBezTo>
                    <a:pt x="2260524" y="8660"/>
                    <a:pt x="2262423" y="13245"/>
                    <a:pt x="2262423" y="18025"/>
                  </a:cubicBezTo>
                  <a:lnTo>
                    <a:pt x="2262423" y="1517364"/>
                  </a:lnTo>
                  <a:cubicBezTo>
                    <a:pt x="2262423" y="1522144"/>
                    <a:pt x="2260524" y="1526729"/>
                    <a:pt x="2257143" y="1530110"/>
                  </a:cubicBezTo>
                  <a:cubicBezTo>
                    <a:pt x="2253763" y="1533490"/>
                    <a:pt x="2249178" y="1535389"/>
                    <a:pt x="2244398" y="1535389"/>
                  </a:cubicBezTo>
                  <a:lnTo>
                    <a:pt x="18025" y="1535389"/>
                  </a:lnTo>
                  <a:cubicBezTo>
                    <a:pt x="13245" y="1535389"/>
                    <a:pt x="8660" y="1533490"/>
                    <a:pt x="5279" y="1530110"/>
                  </a:cubicBezTo>
                  <a:cubicBezTo>
                    <a:pt x="1899" y="1526729"/>
                    <a:pt x="0" y="1522144"/>
                    <a:pt x="0" y="1517364"/>
                  </a:cubicBezTo>
                  <a:lnTo>
                    <a:pt x="0" y="18025"/>
                  </a:lnTo>
                  <a:cubicBezTo>
                    <a:pt x="0" y="13245"/>
                    <a:pt x="1899" y="8660"/>
                    <a:pt x="5279" y="5279"/>
                  </a:cubicBezTo>
                  <a:cubicBezTo>
                    <a:pt x="8660" y="1899"/>
                    <a:pt x="13245" y="0"/>
                    <a:pt x="18025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2262423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5360" y="3311145"/>
            <a:ext cx="48756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92740" y="3311145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39755" y="3311145"/>
            <a:ext cx="7998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Size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72742" y="3311145"/>
            <a:ext cx="94321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Type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569985" y="3301620"/>
            <a:ext cx="6414975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Acceptance Criteria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1253" y="6694306"/>
            <a:ext cx="95577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GP-9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37694" y="5724661"/>
            <a:ext cx="3092740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“Munir” user, I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want to add a person’s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face and name, so that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the system can later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recogn</a:t>
            </a: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ize and identify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them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4693316" y="6506981"/>
            <a:ext cx="309274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97978" y="6506981"/>
            <a:ext cx="309274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Feature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88893" y="4352807"/>
            <a:ext cx="8185162" cy="5654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6"/>
              </a:lnSpc>
            </a:pPr>
            <a:r>
              <a:rPr lang="en-US" sz="17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1. As a “Munir” user, if I navigate to “Face Recognition” from the Homepage, then I should have access to two options: “Face Management” and “Identify Person”</a:t>
            </a:r>
          </a:p>
          <a:p>
            <a:pPr algn="l">
              <a:lnSpc>
                <a:spcPts val="2516"/>
              </a:lnSpc>
            </a:pPr>
            <a:r>
              <a:rPr lang="en-US" sz="17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2. As a “Munir” user, if I select “Face Management,” then a list of all previously added persons should be available</a:t>
            </a:r>
          </a:p>
          <a:p>
            <a:pPr algn="l">
              <a:lnSpc>
                <a:spcPts val="2516"/>
              </a:lnSpc>
            </a:pPr>
            <a:r>
              <a:rPr lang="en-US" sz="17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3. As a “Munir” user, if I click on the Add button, I should be redirected to the “Add Person” page where I can enter the person’s name and either upload a face photo or take a new photo</a:t>
            </a:r>
          </a:p>
          <a:p>
            <a:pPr algn="l">
              <a:lnSpc>
                <a:spcPts val="2516"/>
              </a:lnSpc>
            </a:pPr>
            <a:r>
              <a:rPr lang="en-US" sz="17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4. As a “Munir” user, if I choose to </a:t>
            </a:r>
            <a:r>
              <a:rPr lang="en-US" sz="17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upload a photo, I should be able to upload images for all required face orientations (front, left, right) so that the system can recognize the person correctly</a:t>
            </a:r>
          </a:p>
          <a:p>
            <a:pPr algn="l">
              <a:lnSpc>
                <a:spcPts val="2516"/>
              </a:lnSpc>
            </a:pPr>
            <a:r>
              <a:rPr lang="en-US" sz="17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5. As a "Munir" user, if a required face image is uploaded with the wrong direction (e.g., a left-facing image is provided instead of the required right-facing image), I should receive an error message</a:t>
            </a:r>
          </a:p>
          <a:p>
            <a:pPr algn="l">
              <a:lnSpc>
                <a:spcPts val="2516"/>
              </a:lnSpc>
            </a:pPr>
            <a:r>
              <a:rPr lang="en-US" sz="17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6. As a "Munir" user, if the three uploaded orientation photos (front, left, right) contain different people (e.g., the front photo is a different person than the left and right photos), I should receive an error message indicating that the faces do not belong to the same person and must be retaken</a:t>
            </a:r>
          </a:p>
          <a:p>
            <a:pPr algn="l">
              <a:lnSpc>
                <a:spcPts val="2516"/>
              </a:lnSpc>
            </a:pP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51807" y="4293816"/>
            <a:ext cx="1314666" cy="5829680"/>
            <a:chOff x="0" y="0"/>
            <a:chExt cx="346250" cy="153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6250" cy="1535389"/>
            </a:xfrm>
            <a:custGeom>
              <a:avLst/>
              <a:gdLst/>
              <a:ahLst/>
              <a:cxnLst/>
              <a:rect r="r" b="b" t="t" l="l"/>
              <a:pathLst>
                <a:path h="1535389" w="346250">
                  <a:moveTo>
                    <a:pt x="117778" y="0"/>
                  </a:moveTo>
                  <a:lnTo>
                    <a:pt x="228472" y="0"/>
                  </a:lnTo>
                  <a:cubicBezTo>
                    <a:pt x="293519" y="0"/>
                    <a:pt x="346250" y="52731"/>
                    <a:pt x="346250" y="117778"/>
                  </a:cubicBezTo>
                  <a:lnTo>
                    <a:pt x="346250" y="1417611"/>
                  </a:lnTo>
                  <a:cubicBezTo>
                    <a:pt x="346250" y="1482658"/>
                    <a:pt x="293519" y="1535389"/>
                    <a:pt x="228472" y="1535389"/>
                  </a:cubicBezTo>
                  <a:lnTo>
                    <a:pt x="117778" y="1535389"/>
                  </a:lnTo>
                  <a:cubicBezTo>
                    <a:pt x="52731" y="1535389"/>
                    <a:pt x="0" y="1482658"/>
                    <a:pt x="0" y="1417611"/>
                  </a:cubicBezTo>
                  <a:lnTo>
                    <a:pt x="0" y="117778"/>
                  </a:lnTo>
                  <a:cubicBezTo>
                    <a:pt x="0" y="52731"/>
                    <a:pt x="52731" y="0"/>
                    <a:pt x="117778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46250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1807" y="3091791"/>
            <a:ext cx="1314666" cy="1019733"/>
            <a:chOff x="0" y="0"/>
            <a:chExt cx="346250" cy="2685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6250" cy="268572"/>
            </a:xfrm>
            <a:custGeom>
              <a:avLst/>
              <a:gdLst/>
              <a:ahLst/>
              <a:cxnLst/>
              <a:rect r="r" b="b" t="t" l="l"/>
              <a:pathLst>
                <a:path h="268572" w="346250">
                  <a:moveTo>
                    <a:pt x="117778" y="0"/>
                  </a:moveTo>
                  <a:lnTo>
                    <a:pt x="228472" y="0"/>
                  </a:lnTo>
                  <a:cubicBezTo>
                    <a:pt x="293519" y="0"/>
                    <a:pt x="346250" y="52731"/>
                    <a:pt x="346250" y="117778"/>
                  </a:cubicBezTo>
                  <a:lnTo>
                    <a:pt x="346250" y="150794"/>
                  </a:lnTo>
                  <a:cubicBezTo>
                    <a:pt x="346250" y="215841"/>
                    <a:pt x="293519" y="268572"/>
                    <a:pt x="228472" y="268572"/>
                  </a:cubicBezTo>
                  <a:lnTo>
                    <a:pt x="117778" y="268572"/>
                  </a:lnTo>
                  <a:cubicBezTo>
                    <a:pt x="52731" y="268572"/>
                    <a:pt x="0" y="215841"/>
                    <a:pt x="0" y="150794"/>
                  </a:cubicBezTo>
                  <a:lnTo>
                    <a:pt x="0" y="117778"/>
                  </a:lnTo>
                  <a:cubicBezTo>
                    <a:pt x="0" y="52731"/>
                    <a:pt x="52731" y="0"/>
                    <a:pt x="117778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46250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37635" y="3091791"/>
            <a:ext cx="3235420" cy="1019733"/>
            <a:chOff x="0" y="0"/>
            <a:chExt cx="852127" cy="2685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2127" cy="268572"/>
            </a:xfrm>
            <a:custGeom>
              <a:avLst/>
              <a:gdLst/>
              <a:ahLst/>
              <a:cxnLst/>
              <a:rect r="r" b="b" t="t" l="l"/>
              <a:pathLst>
                <a:path h="268572" w="852127">
                  <a:moveTo>
                    <a:pt x="47857" y="0"/>
                  </a:moveTo>
                  <a:lnTo>
                    <a:pt x="804270" y="0"/>
                  </a:lnTo>
                  <a:cubicBezTo>
                    <a:pt x="830701" y="0"/>
                    <a:pt x="852127" y="21426"/>
                    <a:pt x="852127" y="47857"/>
                  </a:cubicBezTo>
                  <a:lnTo>
                    <a:pt x="852127" y="220714"/>
                  </a:lnTo>
                  <a:cubicBezTo>
                    <a:pt x="852127" y="233407"/>
                    <a:pt x="847085" y="245580"/>
                    <a:pt x="838110" y="254555"/>
                  </a:cubicBezTo>
                  <a:cubicBezTo>
                    <a:pt x="829135" y="263530"/>
                    <a:pt x="816962" y="268572"/>
                    <a:pt x="804270" y="268572"/>
                  </a:cubicBezTo>
                  <a:lnTo>
                    <a:pt x="47857" y="268572"/>
                  </a:lnTo>
                  <a:cubicBezTo>
                    <a:pt x="21426" y="268572"/>
                    <a:pt x="0" y="247145"/>
                    <a:pt x="0" y="220714"/>
                  </a:cubicBezTo>
                  <a:lnTo>
                    <a:pt x="0" y="47857"/>
                  </a:lnTo>
                  <a:cubicBezTo>
                    <a:pt x="0" y="21426"/>
                    <a:pt x="21426" y="0"/>
                    <a:pt x="47857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52127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44505" y="3091791"/>
            <a:ext cx="1933212" cy="1019733"/>
            <a:chOff x="0" y="0"/>
            <a:chExt cx="509159" cy="2685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9159" cy="268572"/>
            </a:xfrm>
            <a:custGeom>
              <a:avLst/>
              <a:gdLst/>
              <a:ahLst/>
              <a:cxnLst/>
              <a:rect r="r" b="b" t="t" l="l"/>
              <a:pathLst>
                <a:path h="268572" w="509159">
                  <a:moveTo>
                    <a:pt x="80094" y="0"/>
                  </a:moveTo>
                  <a:lnTo>
                    <a:pt x="429065" y="0"/>
                  </a:lnTo>
                  <a:cubicBezTo>
                    <a:pt x="473299" y="0"/>
                    <a:pt x="509159" y="35859"/>
                    <a:pt x="509159" y="80094"/>
                  </a:cubicBezTo>
                  <a:lnTo>
                    <a:pt x="509159" y="188478"/>
                  </a:lnTo>
                  <a:cubicBezTo>
                    <a:pt x="509159" y="209720"/>
                    <a:pt x="500720" y="230092"/>
                    <a:pt x="485700" y="245113"/>
                  </a:cubicBezTo>
                  <a:cubicBezTo>
                    <a:pt x="470679" y="260133"/>
                    <a:pt x="450307" y="268572"/>
                    <a:pt x="429065" y="268572"/>
                  </a:cubicBezTo>
                  <a:lnTo>
                    <a:pt x="80094" y="268572"/>
                  </a:lnTo>
                  <a:cubicBezTo>
                    <a:pt x="58852" y="268572"/>
                    <a:pt x="38479" y="260133"/>
                    <a:pt x="23459" y="245113"/>
                  </a:cubicBezTo>
                  <a:cubicBezTo>
                    <a:pt x="8438" y="230092"/>
                    <a:pt x="0" y="209720"/>
                    <a:pt x="0" y="188478"/>
                  </a:cubicBezTo>
                  <a:lnTo>
                    <a:pt x="0" y="80094"/>
                  </a:lnTo>
                  <a:cubicBezTo>
                    <a:pt x="0" y="58852"/>
                    <a:pt x="8438" y="38479"/>
                    <a:pt x="23459" y="23459"/>
                  </a:cubicBezTo>
                  <a:cubicBezTo>
                    <a:pt x="38479" y="8438"/>
                    <a:pt x="58852" y="0"/>
                    <a:pt x="80094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09159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49167" y="3091791"/>
            <a:ext cx="1933212" cy="1019733"/>
            <a:chOff x="0" y="0"/>
            <a:chExt cx="509159" cy="2685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9159" cy="268572"/>
            </a:xfrm>
            <a:custGeom>
              <a:avLst/>
              <a:gdLst/>
              <a:ahLst/>
              <a:cxnLst/>
              <a:rect r="r" b="b" t="t" l="l"/>
              <a:pathLst>
                <a:path h="268572" w="509159">
                  <a:moveTo>
                    <a:pt x="80094" y="0"/>
                  </a:moveTo>
                  <a:lnTo>
                    <a:pt x="429065" y="0"/>
                  </a:lnTo>
                  <a:cubicBezTo>
                    <a:pt x="473299" y="0"/>
                    <a:pt x="509159" y="35859"/>
                    <a:pt x="509159" y="80094"/>
                  </a:cubicBezTo>
                  <a:lnTo>
                    <a:pt x="509159" y="188478"/>
                  </a:lnTo>
                  <a:cubicBezTo>
                    <a:pt x="509159" y="209720"/>
                    <a:pt x="500720" y="230092"/>
                    <a:pt x="485700" y="245113"/>
                  </a:cubicBezTo>
                  <a:cubicBezTo>
                    <a:pt x="470679" y="260133"/>
                    <a:pt x="450307" y="268572"/>
                    <a:pt x="429065" y="268572"/>
                  </a:cubicBezTo>
                  <a:lnTo>
                    <a:pt x="80094" y="268572"/>
                  </a:lnTo>
                  <a:cubicBezTo>
                    <a:pt x="58852" y="268572"/>
                    <a:pt x="38479" y="260133"/>
                    <a:pt x="23459" y="245113"/>
                  </a:cubicBezTo>
                  <a:cubicBezTo>
                    <a:pt x="8438" y="230092"/>
                    <a:pt x="0" y="209720"/>
                    <a:pt x="0" y="188478"/>
                  </a:cubicBezTo>
                  <a:lnTo>
                    <a:pt x="0" y="80094"/>
                  </a:lnTo>
                  <a:cubicBezTo>
                    <a:pt x="0" y="58852"/>
                    <a:pt x="8438" y="38479"/>
                    <a:pt x="23459" y="23459"/>
                  </a:cubicBezTo>
                  <a:cubicBezTo>
                    <a:pt x="38479" y="8438"/>
                    <a:pt x="58852" y="0"/>
                    <a:pt x="80094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09159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53829" y="3091791"/>
            <a:ext cx="8647287" cy="1019733"/>
            <a:chOff x="0" y="0"/>
            <a:chExt cx="2277475" cy="2685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7475" cy="268572"/>
            </a:xfrm>
            <a:custGeom>
              <a:avLst/>
              <a:gdLst/>
              <a:ahLst/>
              <a:cxnLst/>
              <a:rect r="r" b="b" t="t" l="l"/>
              <a:pathLst>
                <a:path h="268572" w="2277475">
                  <a:moveTo>
                    <a:pt x="17906" y="0"/>
                  </a:moveTo>
                  <a:lnTo>
                    <a:pt x="2259569" y="0"/>
                  </a:lnTo>
                  <a:cubicBezTo>
                    <a:pt x="2264318" y="0"/>
                    <a:pt x="2268872" y="1887"/>
                    <a:pt x="2272230" y="5245"/>
                  </a:cubicBezTo>
                  <a:cubicBezTo>
                    <a:pt x="2275588" y="8603"/>
                    <a:pt x="2277475" y="13157"/>
                    <a:pt x="2277475" y="17906"/>
                  </a:cubicBezTo>
                  <a:lnTo>
                    <a:pt x="2277475" y="250666"/>
                  </a:lnTo>
                  <a:cubicBezTo>
                    <a:pt x="2277475" y="255415"/>
                    <a:pt x="2275588" y="259969"/>
                    <a:pt x="2272230" y="263327"/>
                  </a:cubicBezTo>
                  <a:cubicBezTo>
                    <a:pt x="2268872" y="266685"/>
                    <a:pt x="2264318" y="268572"/>
                    <a:pt x="2259569" y="268572"/>
                  </a:cubicBezTo>
                  <a:lnTo>
                    <a:pt x="17906" y="268572"/>
                  </a:lnTo>
                  <a:cubicBezTo>
                    <a:pt x="13157" y="268572"/>
                    <a:pt x="8603" y="266685"/>
                    <a:pt x="5245" y="263327"/>
                  </a:cubicBezTo>
                  <a:cubicBezTo>
                    <a:pt x="1887" y="259969"/>
                    <a:pt x="0" y="255415"/>
                    <a:pt x="0" y="250666"/>
                  </a:cubicBezTo>
                  <a:lnTo>
                    <a:pt x="0" y="17906"/>
                  </a:lnTo>
                  <a:cubicBezTo>
                    <a:pt x="0" y="13157"/>
                    <a:pt x="1887" y="8603"/>
                    <a:pt x="5245" y="5245"/>
                  </a:cubicBezTo>
                  <a:cubicBezTo>
                    <a:pt x="8603" y="1887"/>
                    <a:pt x="13157" y="0"/>
                    <a:pt x="17906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277475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99396" y="4293816"/>
            <a:ext cx="3173659" cy="5829680"/>
            <a:chOff x="0" y="0"/>
            <a:chExt cx="835861" cy="15353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5861" cy="1535389"/>
            </a:xfrm>
            <a:custGeom>
              <a:avLst/>
              <a:gdLst/>
              <a:ahLst/>
              <a:cxnLst/>
              <a:rect r="r" b="b" t="t" l="l"/>
              <a:pathLst>
                <a:path h="1535389" w="835861">
                  <a:moveTo>
                    <a:pt x="48789" y="0"/>
                  </a:moveTo>
                  <a:lnTo>
                    <a:pt x="787072" y="0"/>
                  </a:lnTo>
                  <a:cubicBezTo>
                    <a:pt x="800012" y="0"/>
                    <a:pt x="812421" y="5140"/>
                    <a:pt x="821571" y="14290"/>
                  </a:cubicBezTo>
                  <a:cubicBezTo>
                    <a:pt x="830721" y="23439"/>
                    <a:pt x="835861" y="35849"/>
                    <a:pt x="835861" y="48789"/>
                  </a:cubicBezTo>
                  <a:lnTo>
                    <a:pt x="835861" y="1486600"/>
                  </a:lnTo>
                  <a:cubicBezTo>
                    <a:pt x="835861" y="1499540"/>
                    <a:pt x="830721" y="1511949"/>
                    <a:pt x="821571" y="1521099"/>
                  </a:cubicBezTo>
                  <a:cubicBezTo>
                    <a:pt x="812421" y="1530249"/>
                    <a:pt x="800012" y="1535389"/>
                    <a:pt x="787072" y="1535389"/>
                  </a:cubicBezTo>
                  <a:lnTo>
                    <a:pt x="48789" y="1535389"/>
                  </a:lnTo>
                  <a:cubicBezTo>
                    <a:pt x="35849" y="1535389"/>
                    <a:pt x="23439" y="1530249"/>
                    <a:pt x="14290" y="1521099"/>
                  </a:cubicBezTo>
                  <a:cubicBezTo>
                    <a:pt x="5140" y="1511949"/>
                    <a:pt x="0" y="1499540"/>
                    <a:pt x="0" y="1486600"/>
                  </a:cubicBezTo>
                  <a:lnTo>
                    <a:pt x="0" y="48789"/>
                  </a:lnTo>
                  <a:cubicBezTo>
                    <a:pt x="0" y="35849"/>
                    <a:pt x="5140" y="23439"/>
                    <a:pt x="14290" y="14290"/>
                  </a:cubicBezTo>
                  <a:cubicBezTo>
                    <a:pt x="23439" y="5140"/>
                    <a:pt x="35849" y="0"/>
                    <a:pt x="48789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35861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01655" y="4293816"/>
            <a:ext cx="1876062" cy="5829680"/>
            <a:chOff x="0" y="0"/>
            <a:chExt cx="494107" cy="15353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4107" cy="1535389"/>
            </a:xfrm>
            <a:custGeom>
              <a:avLst/>
              <a:gdLst/>
              <a:ahLst/>
              <a:cxnLst/>
              <a:rect r="r" b="b" t="t" l="l"/>
              <a:pathLst>
                <a:path h="1535389" w="494107">
                  <a:moveTo>
                    <a:pt x="82534" y="0"/>
                  </a:moveTo>
                  <a:lnTo>
                    <a:pt x="411573" y="0"/>
                  </a:lnTo>
                  <a:cubicBezTo>
                    <a:pt x="433462" y="0"/>
                    <a:pt x="454455" y="8695"/>
                    <a:pt x="469933" y="24174"/>
                  </a:cubicBezTo>
                  <a:cubicBezTo>
                    <a:pt x="485411" y="39652"/>
                    <a:pt x="494107" y="60644"/>
                    <a:pt x="494107" y="82534"/>
                  </a:cubicBezTo>
                  <a:lnTo>
                    <a:pt x="494107" y="1452855"/>
                  </a:lnTo>
                  <a:cubicBezTo>
                    <a:pt x="494107" y="1498437"/>
                    <a:pt x="457155" y="1535389"/>
                    <a:pt x="411573" y="1535389"/>
                  </a:cubicBezTo>
                  <a:lnTo>
                    <a:pt x="82534" y="1535389"/>
                  </a:lnTo>
                  <a:cubicBezTo>
                    <a:pt x="60644" y="1535389"/>
                    <a:pt x="39652" y="1526693"/>
                    <a:pt x="24174" y="1511215"/>
                  </a:cubicBezTo>
                  <a:cubicBezTo>
                    <a:pt x="8695" y="1495737"/>
                    <a:pt x="0" y="1474744"/>
                    <a:pt x="0" y="1452855"/>
                  </a:cubicBezTo>
                  <a:lnTo>
                    <a:pt x="0" y="82534"/>
                  </a:lnTo>
                  <a:cubicBezTo>
                    <a:pt x="0" y="36952"/>
                    <a:pt x="36952" y="0"/>
                    <a:pt x="82534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494107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06317" y="4293816"/>
            <a:ext cx="1876062" cy="5829680"/>
            <a:chOff x="0" y="0"/>
            <a:chExt cx="494107" cy="15353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4107" cy="1535389"/>
            </a:xfrm>
            <a:custGeom>
              <a:avLst/>
              <a:gdLst/>
              <a:ahLst/>
              <a:cxnLst/>
              <a:rect r="r" b="b" t="t" l="l"/>
              <a:pathLst>
                <a:path h="1535389" w="494107">
                  <a:moveTo>
                    <a:pt x="82534" y="0"/>
                  </a:moveTo>
                  <a:lnTo>
                    <a:pt x="411573" y="0"/>
                  </a:lnTo>
                  <a:cubicBezTo>
                    <a:pt x="433462" y="0"/>
                    <a:pt x="454455" y="8695"/>
                    <a:pt x="469933" y="24174"/>
                  </a:cubicBezTo>
                  <a:cubicBezTo>
                    <a:pt x="485411" y="39652"/>
                    <a:pt x="494107" y="60644"/>
                    <a:pt x="494107" y="82534"/>
                  </a:cubicBezTo>
                  <a:lnTo>
                    <a:pt x="494107" y="1452855"/>
                  </a:lnTo>
                  <a:cubicBezTo>
                    <a:pt x="494107" y="1498437"/>
                    <a:pt x="457155" y="1535389"/>
                    <a:pt x="411573" y="1535389"/>
                  </a:cubicBezTo>
                  <a:lnTo>
                    <a:pt x="82534" y="1535389"/>
                  </a:lnTo>
                  <a:cubicBezTo>
                    <a:pt x="60644" y="1535389"/>
                    <a:pt x="39652" y="1526693"/>
                    <a:pt x="24174" y="1511215"/>
                  </a:cubicBezTo>
                  <a:cubicBezTo>
                    <a:pt x="8695" y="1495737"/>
                    <a:pt x="0" y="1474744"/>
                    <a:pt x="0" y="1452855"/>
                  </a:cubicBezTo>
                  <a:lnTo>
                    <a:pt x="0" y="82534"/>
                  </a:lnTo>
                  <a:cubicBezTo>
                    <a:pt x="0" y="36952"/>
                    <a:pt x="36952" y="0"/>
                    <a:pt x="82534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494107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10979" y="4293816"/>
            <a:ext cx="8590137" cy="5829680"/>
            <a:chOff x="0" y="0"/>
            <a:chExt cx="2262423" cy="15353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62423" cy="1535389"/>
            </a:xfrm>
            <a:custGeom>
              <a:avLst/>
              <a:gdLst/>
              <a:ahLst/>
              <a:cxnLst/>
              <a:rect r="r" b="b" t="t" l="l"/>
              <a:pathLst>
                <a:path h="1535389" w="2262423">
                  <a:moveTo>
                    <a:pt x="18025" y="0"/>
                  </a:moveTo>
                  <a:lnTo>
                    <a:pt x="2244398" y="0"/>
                  </a:lnTo>
                  <a:cubicBezTo>
                    <a:pt x="2249178" y="0"/>
                    <a:pt x="2253763" y="1899"/>
                    <a:pt x="2257143" y="5279"/>
                  </a:cubicBezTo>
                  <a:cubicBezTo>
                    <a:pt x="2260524" y="8660"/>
                    <a:pt x="2262423" y="13245"/>
                    <a:pt x="2262423" y="18025"/>
                  </a:cubicBezTo>
                  <a:lnTo>
                    <a:pt x="2262423" y="1517364"/>
                  </a:lnTo>
                  <a:cubicBezTo>
                    <a:pt x="2262423" y="1522144"/>
                    <a:pt x="2260524" y="1526729"/>
                    <a:pt x="2257143" y="1530110"/>
                  </a:cubicBezTo>
                  <a:cubicBezTo>
                    <a:pt x="2253763" y="1533490"/>
                    <a:pt x="2249178" y="1535389"/>
                    <a:pt x="2244398" y="1535389"/>
                  </a:cubicBezTo>
                  <a:lnTo>
                    <a:pt x="18025" y="1535389"/>
                  </a:lnTo>
                  <a:cubicBezTo>
                    <a:pt x="13245" y="1535389"/>
                    <a:pt x="8660" y="1533490"/>
                    <a:pt x="5279" y="1530110"/>
                  </a:cubicBezTo>
                  <a:cubicBezTo>
                    <a:pt x="1899" y="1526729"/>
                    <a:pt x="0" y="1522144"/>
                    <a:pt x="0" y="1517364"/>
                  </a:cubicBezTo>
                  <a:lnTo>
                    <a:pt x="0" y="18025"/>
                  </a:lnTo>
                  <a:cubicBezTo>
                    <a:pt x="0" y="13245"/>
                    <a:pt x="1899" y="8660"/>
                    <a:pt x="5279" y="5279"/>
                  </a:cubicBezTo>
                  <a:cubicBezTo>
                    <a:pt x="8660" y="1899"/>
                    <a:pt x="13245" y="0"/>
                    <a:pt x="18025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2262423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5360" y="3311145"/>
            <a:ext cx="48756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92740" y="3311145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39755" y="3311145"/>
            <a:ext cx="7998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Size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72742" y="3311145"/>
            <a:ext cx="94321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Type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22984" y="3301620"/>
            <a:ext cx="610897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Acceptance Criteria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07280" y="6694306"/>
            <a:ext cx="120372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GP-10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37694" y="5045211"/>
            <a:ext cx="3092740" cy="37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he-IL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  <a:rtl val="true"/>
              </a:rPr>
              <a:t>‏</a:t>
            </a:r>
          </a:p>
          <a:p>
            <a:pPr algn="ctr">
              <a:lnSpc>
                <a:spcPts val="3360"/>
              </a:lnSpc>
            </a:pP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“Munir” user, I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want to edit the details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of stored faces (e.g.,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name or photo), so that I can keep the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inf</a:t>
            </a:r>
            <a:r>
              <a:rPr lang="en-US" sz="24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ormation updated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4693316" y="6506981"/>
            <a:ext cx="309274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97978" y="6506981"/>
            <a:ext cx="309274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Feature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30054" y="4377056"/>
            <a:ext cx="8371062" cy="5659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1. As a “Munir” user, if I navigate to “Face Recognition” from the Homepage, then I should have access to two options: “Face Management” and “Identify Person”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2. As a “Munir” user, if I select “Face Management,” then a list of all previously added persons should be available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3. As a "Munir" user, if I click the edit button, I should be redirected to the "Edit Person" page where I can update the name and/or modify the face images by uploading a new photo or take a new one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4. As a "Munir" user, if I replace any face image during editing, the same validation rules should apply, incorrect face orientation, mismatched identities across the three photos, or multiple faces in a single photo should each trigger an appropriate error message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5. As a “Munir” user, if I save the changes, then the updated details should be stored in the database, and I should receive a confirmation message indicating the update was successful, with the new details immediately reflected in the Face Management list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6. As a “Munir” user, if I cancel the edit action, then no changes should occur, and the person’s details should remain as they were in</a:t>
            </a:r>
            <a:r>
              <a:rPr lang="en-US" sz="18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the Face Management list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51807" y="4293816"/>
            <a:ext cx="1314666" cy="5829680"/>
            <a:chOff x="0" y="0"/>
            <a:chExt cx="346250" cy="153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6250" cy="1535389"/>
            </a:xfrm>
            <a:custGeom>
              <a:avLst/>
              <a:gdLst/>
              <a:ahLst/>
              <a:cxnLst/>
              <a:rect r="r" b="b" t="t" l="l"/>
              <a:pathLst>
                <a:path h="1535389" w="346250">
                  <a:moveTo>
                    <a:pt x="117778" y="0"/>
                  </a:moveTo>
                  <a:lnTo>
                    <a:pt x="228472" y="0"/>
                  </a:lnTo>
                  <a:cubicBezTo>
                    <a:pt x="293519" y="0"/>
                    <a:pt x="346250" y="52731"/>
                    <a:pt x="346250" y="117778"/>
                  </a:cubicBezTo>
                  <a:lnTo>
                    <a:pt x="346250" y="1417611"/>
                  </a:lnTo>
                  <a:cubicBezTo>
                    <a:pt x="346250" y="1482658"/>
                    <a:pt x="293519" y="1535389"/>
                    <a:pt x="228472" y="1535389"/>
                  </a:cubicBezTo>
                  <a:lnTo>
                    <a:pt x="117778" y="1535389"/>
                  </a:lnTo>
                  <a:cubicBezTo>
                    <a:pt x="52731" y="1535389"/>
                    <a:pt x="0" y="1482658"/>
                    <a:pt x="0" y="1417611"/>
                  </a:cubicBezTo>
                  <a:lnTo>
                    <a:pt x="0" y="117778"/>
                  </a:lnTo>
                  <a:cubicBezTo>
                    <a:pt x="0" y="52731"/>
                    <a:pt x="52731" y="0"/>
                    <a:pt x="117778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46250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1807" y="3091791"/>
            <a:ext cx="1314666" cy="1019733"/>
            <a:chOff x="0" y="0"/>
            <a:chExt cx="346250" cy="2685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6250" cy="268572"/>
            </a:xfrm>
            <a:custGeom>
              <a:avLst/>
              <a:gdLst/>
              <a:ahLst/>
              <a:cxnLst/>
              <a:rect r="r" b="b" t="t" l="l"/>
              <a:pathLst>
                <a:path h="268572" w="346250">
                  <a:moveTo>
                    <a:pt x="117778" y="0"/>
                  </a:moveTo>
                  <a:lnTo>
                    <a:pt x="228472" y="0"/>
                  </a:lnTo>
                  <a:cubicBezTo>
                    <a:pt x="293519" y="0"/>
                    <a:pt x="346250" y="52731"/>
                    <a:pt x="346250" y="117778"/>
                  </a:cubicBezTo>
                  <a:lnTo>
                    <a:pt x="346250" y="150794"/>
                  </a:lnTo>
                  <a:cubicBezTo>
                    <a:pt x="346250" y="215841"/>
                    <a:pt x="293519" y="268572"/>
                    <a:pt x="228472" y="268572"/>
                  </a:cubicBezTo>
                  <a:lnTo>
                    <a:pt x="117778" y="268572"/>
                  </a:lnTo>
                  <a:cubicBezTo>
                    <a:pt x="52731" y="268572"/>
                    <a:pt x="0" y="215841"/>
                    <a:pt x="0" y="150794"/>
                  </a:cubicBezTo>
                  <a:lnTo>
                    <a:pt x="0" y="117778"/>
                  </a:lnTo>
                  <a:cubicBezTo>
                    <a:pt x="0" y="52731"/>
                    <a:pt x="52731" y="0"/>
                    <a:pt x="117778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46250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37635" y="3091791"/>
            <a:ext cx="3235420" cy="1019733"/>
            <a:chOff x="0" y="0"/>
            <a:chExt cx="852127" cy="2685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2127" cy="268572"/>
            </a:xfrm>
            <a:custGeom>
              <a:avLst/>
              <a:gdLst/>
              <a:ahLst/>
              <a:cxnLst/>
              <a:rect r="r" b="b" t="t" l="l"/>
              <a:pathLst>
                <a:path h="268572" w="852127">
                  <a:moveTo>
                    <a:pt x="47857" y="0"/>
                  </a:moveTo>
                  <a:lnTo>
                    <a:pt x="804270" y="0"/>
                  </a:lnTo>
                  <a:cubicBezTo>
                    <a:pt x="830701" y="0"/>
                    <a:pt x="852127" y="21426"/>
                    <a:pt x="852127" y="47857"/>
                  </a:cubicBezTo>
                  <a:lnTo>
                    <a:pt x="852127" y="220714"/>
                  </a:lnTo>
                  <a:cubicBezTo>
                    <a:pt x="852127" y="233407"/>
                    <a:pt x="847085" y="245580"/>
                    <a:pt x="838110" y="254555"/>
                  </a:cubicBezTo>
                  <a:cubicBezTo>
                    <a:pt x="829135" y="263530"/>
                    <a:pt x="816962" y="268572"/>
                    <a:pt x="804270" y="268572"/>
                  </a:cubicBezTo>
                  <a:lnTo>
                    <a:pt x="47857" y="268572"/>
                  </a:lnTo>
                  <a:cubicBezTo>
                    <a:pt x="21426" y="268572"/>
                    <a:pt x="0" y="247145"/>
                    <a:pt x="0" y="220714"/>
                  </a:cubicBezTo>
                  <a:lnTo>
                    <a:pt x="0" y="47857"/>
                  </a:lnTo>
                  <a:cubicBezTo>
                    <a:pt x="0" y="21426"/>
                    <a:pt x="21426" y="0"/>
                    <a:pt x="47857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52127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44505" y="3091791"/>
            <a:ext cx="1933212" cy="1019733"/>
            <a:chOff x="0" y="0"/>
            <a:chExt cx="509159" cy="2685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9159" cy="268572"/>
            </a:xfrm>
            <a:custGeom>
              <a:avLst/>
              <a:gdLst/>
              <a:ahLst/>
              <a:cxnLst/>
              <a:rect r="r" b="b" t="t" l="l"/>
              <a:pathLst>
                <a:path h="268572" w="509159">
                  <a:moveTo>
                    <a:pt x="80094" y="0"/>
                  </a:moveTo>
                  <a:lnTo>
                    <a:pt x="429065" y="0"/>
                  </a:lnTo>
                  <a:cubicBezTo>
                    <a:pt x="473299" y="0"/>
                    <a:pt x="509159" y="35859"/>
                    <a:pt x="509159" y="80094"/>
                  </a:cubicBezTo>
                  <a:lnTo>
                    <a:pt x="509159" y="188478"/>
                  </a:lnTo>
                  <a:cubicBezTo>
                    <a:pt x="509159" y="209720"/>
                    <a:pt x="500720" y="230092"/>
                    <a:pt x="485700" y="245113"/>
                  </a:cubicBezTo>
                  <a:cubicBezTo>
                    <a:pt x="470679" y="260133"/>
                    <a:pt x="450307" y="268572"/>
                    <a:pt x="429065" y="268572"/>
                  </a:cubicBezTo>
                  <a:lnTo>
                    <a:pt x="80094" y="268572"/>
                  </a:lnTo>
                  <a:cubicBezTo>
                    <a:pt x="58852" y="268572"/>
                    <a:pt x="38479" y="260133"/>
                    <a:pt x="23459" y="245113"/>
                  </a:cubicBezTo>
                  <a:cubicBezTo>
                    <a:pt x="8438" y="230092"/>
                    <a:pt x="0" y="209720"/>
                    <a:pt x="0" y="188478"/>
                  </a:cubicBezTo>
                  <a:lnTo>
                    <a:pt x="0" y="80094"/>
                  </a:lnTo>
                  <a:cubicBezTo>
                    <a:pt x="0" y="58852"/>
                    <a:pt x="8438" y="38479"/>
                    <a:pt x="23459" y="23459"/>
                  </a:cubicBezTo>
                  <a:cubicBezTo>
                    <a:pt x="38479" y="8438"/>
                    <a:pt x="58852" y="0"/>
                    <a:pt x="80094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09159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49167" y="3091791"/>
            <a:ext cx="1933212" cy="1019733"/>
            <a:chOff x="0" y="0"/>
            <a:chExt cx="509159" cy="2685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9159" cy="268572"/>
            </a:xfrm>
            <a:custGeom>
              <a:avLst/>
              <a:gdLst/>
              <a:ahLst/>
              <a:cxnLst/>
              <a:rect r="r" b="b" t="t" l="l"/>
              <a:pathLst>
                <a:path h="268572" w="509159">
                  <a:moveTo>
                    <a:pt x="80094" y="0"/>
                  </a:moveTo>
                  <a:lnTo>
                    <a:pt x="429065" y="0"/>
                  </a:lnTo>
                  <a:cubicBezTo>
                    <a:pt x="473299" y="0"/>
                    <a:pt x="509159" y="35859"/>
                    <a:pt x="509159" y="80094"/>
                  </a:cubicBezTo>
                  <a:lnTo>
                    <a:pt x="509159" y="188478"/>
                  </a:lnTo>
                  <a:cubicBezTo>
                    <a:pt x="509159" y="209720"/>
                    <a:pt x="500720" y="230092"/>
                    <a:pt x="485700" y="245113"/>
                  </a:cubicBezTo>
                  <a:cubicBezTo>
                    <a:pt x="470679" y="260133"/>
                    <a:pt x="450307" y="268572"/>
                    <a:pt x="429065" y="268572"/>
                  </a:cubicBezTo>
                  <a:lnTo>
                    <a:pt x="80094" y="268572"/>
                  </a:lnTo>
                  <a:cubicBezTo>
                    <a:pt x="58852" y="268572"/>
                    <a:pt x="38479" y="260133"/>
                    <a:pt x="23459" y="245113"/>
                  </a:cubicBezTo>
                  <a:cubicBezTo>
                    <a:pt x="8438" y="230092"/>
                    <a:pt x="0" y="209720"/>
                    <a:pt x="0" y="188478"/>
                  </a:cubicBezTo>
                  <a:lnTo>
                    <a:pt x="0" y="80094"/>
                  </a:lnTo>
                  <a:cubicBezTo>
                    <a:pt x="0" y="58852"/>
                    <a:pt x="8438" y="38479"/>
                    <a:pt x="23459" y="23459"/>
                  </a:cubicBezTo>
                  <a:cubicBezTo>
                    <a:pt x="38479" y="8438"/>
                    <a:pt x="58852" y="0"/>
                    <a:pt x="80094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09159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53829" y="3091791"/>
            <a:ext cx="8647287" cy="1019733"/>
            <a:chOff x="0" y="0"/>
            <a:chExt cx="2277475" cy="2685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7475" cy="268572"/>
            </a:xfrm>
            <a:custGeom>
              <a:avLst/>
              <a:gdLst/>
              <a:ahLst/>
              <a:cxnLst/>
              <a:rect r="r" b="b" t="t" l="l"/>
              <a:pathLst>
                <a:path h="268572" w="2277475">
                  <a:moveTo>
                    <a:pt x="17906" y="0"/>
                  </a:moveTo>
                  <a:lnTo>
                    <a:pt x="2259569" y="0"/>
                  </a:lnTo>
                  <a:cubicBezTo>
                    <a:pt x="2264318" y="0"/>
                    <a:pt x="2268872" y="1887"/>
                    <a:pt x="2272230" y="5245"/>
                  </a:cubicBezTo>
                  <a:cubicBezTo>
                    <a:pt x="2275588" y="8603"/>
                    <a:pt x="2277475" y="13157"/>
                    <a:pt x="2277475" y="17906"/>
                  </a:cubicBezTo>
                  <a:lnTo>
                    <a:pt x="2277475" y="250666"/>
                  </a:lnTo>
                  <a:cubicBezTo>
                    <a:pt x="2277475" y="255415"/>
                    <a:pt x="2275588" y="259969"/>
                    <a:pt x="2272230" y="263327"/>
                  </a:cubicBezTo>
                  <a:cubicBezTo>
                    <a:pt x="2268872" y="266685"/>
                    <a:pt x="2264318" y="268572"/>
                    <a:pt x="2259569" y="268572"/>
                  </a:cubicBezTo>
                  <a:lnTo>
                    <a:pt x="17906" y="268572"/>
                  </a:lnTo>
                  <a:cubicBezTo>
                    <a:pt x="13157" y="268572"/>
                    <a:pt x="8603" y="266685"/>
                    <a:pt x="5245" y="263327"/>
                  </a:cubicBezTo>
                  <a:cubicBezTo>
                    <a:pt x="1887" y="259969"/>
                    <a:pt x="0" y="255415"/>
                    <a:pt x="0" y="250666"/>
                  </a:cubicBezTo>
                  <a:lnTo>
                    <a:pt x="0" y="17906"/>
                  </a:lnTo>
                  <a:cubicBezTo>
                    <a:pt x="0" y="13157"/>
                    <a:pt x="1887" y="8603"/>
                    <a:pt x="5245" y="5245"/>
                  </a:cubicBezTo>
                  <a:cubicBezTo>
                    <a:pt x="8603" y="1887"/>
                    <a:pt x="13157" y="0"/>
                    <a:pt x="17906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277475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99396" y="4293816"/>
            <a:ext cx="3173659" cy="5829680"/>
            <a:chOff x="0" y="0"/>
            <a:chExt cx="835861" cy="15353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5861" cy="1535389"/>
            </a:xfrm>
            <a:custGeom>
              <a:avLst/>
              <a:gdLst/>
              <a:ahLst/>
              <a:cxnLst/>
              <a:rect r="r" b="b" t="t" l="l"/>
              <a:pathLst>
                <a:path h="1535389" w="835861">
                  <a:moveTo>
                    <a:pt x="48789" y="0"/>
                  </a:moveTo>
                  <a:lnTo>
                    <a:pt x="787072" y="0"/>
                  </a:lnTo>
                  <a:cubicBezTo>
                    <a:pt x="800012" y="0"/>
                    <a:pt x="812421" y="5140"/>
                    <a:pt x="821571" y="14290"/>
                  </a:cubicBezTo>
                  <a:cubicBezTo>
                    <a:pt x="830721" y="23439"/>
                    <a:pt x="835861" y="35849"/>
                    <a:pt x="835861" y="48789"/>
                  </a:cubicBezTo>
                  <a:lnTo>
                    <a:pt x="835861" y="1486600"/>
                  </a:lnTo>
                  <a:cubicBezTo>
                    <a:pt x="835861" y="1499540"/>
                    <a:pt x="830721" y="1511949"/>
                    <a:pt x="821571" y="1521099"/>
                  </a:cubicBezTo>
                  <a:cubicBezTo>
                    <a:pt x="812421" y="1530249"/>
                    <a:pt x="800012" y="1535389"/>
                    <a:pt x="787072" y="1535389"/>
                  </a:cubicBezTo>
                  <a:lnTo>
                    <a:pt x="48789" y="1535389"/>
                  </a:lnTo>
                  <a:cubicBezTo>
                    <a:pt x="35849" y="1535389"/>
                    <a:pt x="23439" y="1530249"/>
                    <a:pt x="14290" y="1521099"/>
                  </a:cubicBezTo>
                  <a:cubicBezTo>
                    <a:pt x="5140" y="1511949"/>
                    <a:pt x="0" y="1499540"/>
                    <a:pt x="0" y="1486600"/>
                  </a:cubicBezTo>
                  <a:lnTo>
                    <a:pt x="0" y="48789"/>
                  </a:lnTo>
                  <a:cubicBezTo>
                    <a:pt x="0" y="35849"/>
                    <a:pt x="5140" y="23439"/>
                    <a:pt x="14290" y="14290"/>
                  </a:cubicBezTo>
                  <a:cubicBezTo>
                    <a:pt x="23439" y="5140"/>
                    <a:pt x="35849" y="0"/>
                    <a:pt x="48789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35861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01655" y="4293816"/>
            <a:ext cx="1876062" cy="5829680"/>
            <a:chOff x="0" y="0"/>
            <a:chExt cx="494107" cy="15353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4107" cy="1535389"/>
            </a:xfrm>
            <a:custGeom>
              <a:avLst/>
              <a:gdLst/>
              <a:ahLst/>
              <a:cxnLst/>
              <a:rect r="r" b="b" t="t" l="l"/>
              <a:pathLst>
                <a:path h="1535389" w="494107">
                  <a:moveTo>
                    <a:pt x="82534" y="0"/>
                  </a:moveTo>
                  <a:lnTo>
                    <a:pt x="411573" y="0"/>
                  </a:lnTo>
                  <a:cubicBezTo>
                    <a:pt x="433462" y="0"/>
                    <a:pt x="454455" y="8695"/>
                    <a:pt x="469933" y="24174"/>
                  </a:cubicBezTo>
                  <a:cubicBezTo>
                    <a:pt x="485411" y="39652"/>
                    <a:pt x="494107" y="60644"/>
                    <a:pt x="494107" y="82534"/>
                  </a:cubicBezTo>
                  <a:lnTo>
                    <a:pt x="494107" y="1452855"/>
                  </a:lnTo>
                  <a:cubicBezTo>
                    <a:pt x="494107" y="1498437"/>
                    <a:pt x="457155" y="1535389"/>
                    <a:pt x="411573" y="1535389"/>
                  </a:cubicBezTo>
                  <a:lnTo>
                    <a:pt x="82534" y="1535389"/>
                  </a:lnTo>
                  <a:cubicBezTo>
                    <a:pt x="60644" y="1535389"/>
                    <a:pt x="39652" y="1526693"/>
                    <a:pt x="24174" y="1511215"/>
                  </a:cubicBezTo>
                  <a:cubicBezTo>
                    <a:pt x="8695" y="1495737"/>
                    <a:pt x="0" y="1474744"/>
                    <a:pt x="0" y="1452855"/>
                  </a:cubicBezTo>
                  <a:lnTo>
                    <a:pt x="0" y="82534"/>
                  </a:lnTo>
                  <a:cubicBezTo>
                    <a:pt x="0" y="36952"/>
                    <a:pt x="36952" y="0"/>
                    <a:pt x="82534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494107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06317" y="4293816"/>
            <a:ext cx="1876062" cy="5829680"/>
            <a:chOff x="0" y="0"/>
            <a:chExt cx="494107" cy="15353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4107" cy="1535389"/>
            </a:xfrm>
            <a:custGeom>
              <a:avLst/>
              <a:gdLst/>
              <a:ahLst/>
              <a:cxnLst/>
              <a:rect r="r" b="b" t="t" l="l"/>
              <a:pathLst>
                <a:path h="1535389" w="494107">
                  <a:moveTo>
                    <a:pt x="82534" y="0"/>
                  </a:moveTo>
                  <a:lnTo>
                    <a:pt x="411573" y="0"/>
                  </a:lnTo>
                  <a:cubicBezTo>
                    <a:pt x="433462" y="0"/>
                    <a:pt x="454455" y="8695"/>
                    <a:pt x="469933" y="24174"/>
                  </a:cubicBezTo>
                  <a:cubicBezTo>
                    <a:pt x="485411" y="39652"/>
                    <a:pt x="494107" y="60644"/>
                    <a:pt x="494107" y="82534"/>
                  </a:cubicBezTo>
                  <a:lnTo>
                    <a:pt x="494107" y="1452855"/>
                  </a:lnTo>
                  <a:cubicBezTo>
                    <a:pt x="494107" y="1498437"/>
                    <a:pt x="457155" y="1535389"/>
                    <a:pt x="411573" y="1535389"/>
                  </a:cubicBezTo>
                  <a:lnTo>
                    <a:pt x="82534" y="1535389"/>
                  </a:lnTo>
                  <a:cubicBezTo>
                    <a:pt x="60644" y="1535389"/>
                    <a:pt x="39652" y="1526693"/>
                    <a:pt x="24174" y="1511215"/>
                  </a:cubicBezTo>
                  <a:cubicBezTo>
                    <a:pt x="8695" y="1495737"/>
                    <a:pt x="0" y="1474744"/>
                    <a:pt x="0" y="1452855"/>
                  </a:cubicBezTo>
                  <a:lnTo>
                    <a:pt x="0" y="82534"/>
                  </a:lnTo>
                  <a:cubicBezTo>
                    <a:pt x="0" y="36952"/>
                    <a:pt x="36952" y="0"/>
                    <a:pt x="82534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494107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10979" y="4293816"/>
            <a:ext cx="8590137" cy="5829680"/>
            <a:chOff x="0" y="0"/>
            <a:chExt cx="2262423" cy="15353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62423" cy="1535389"/>
            </a:xfrm>
            <a:custGeom>
              <a:avLst/>
              <a:gdLst/>
              <a:ahLst/>
              <a:cxnLst/>
              <a:rect r="r" b="b" t="t" l="l"/>
              <a:pathLst>
                <a:path h="1535389" w="2262423">
                  <a:moveTo>
                    <a:pt x="18025" y="0"/>
                  </a:moveTo>
                  <a:lnTo>
                    <a:pt x="2244398" y="0"/>
                  </a:lnTo>
                  <a:cubicBezTo>
                    <a:pt x="2249178" y="0"/>
                    <a:pt x="2253763" y="1899"/>
                    <a:pt x="2257143" y="5279"/>
                  </a:cubicBezTo>
                  <a:cubicBezTo>
                    <a:pt x="2260524" y="8660"/>
                    <a:pt x="2262423" y="13245"/>
                    <a:pt x="2262423" y="18025"/>
                  </a:cubicBezTo>
                  <a:lnTo>
                    <a:pt x="2262423" y="1517364"/>
                  </a:lnTo>
                  <a:cubicBezTo>
                    <a:pt x="2262423" y="1522144"/>
                    <a:pt x="2260524" y="1526729"/>
                    <a:pt x="2257143" y="1530110"/>
                  </a:cubicBezTo>
                  <a:cubicBezTo>
                    <a:pt x="2253763" y="1533490"/>
                    <a:pt x="2249178" y="1535389"/>
                    <a:pt x="2244398" y="1535389"/>
                  </a:cubicBezTo>
                  <a:lnTo>
                    <a:pt x="18025" y="1535389"/>
                  </a:lnTo>
                  <a:cubicBezTo>
                    <a:pt x="13245" y="1535389"/>
                    <a:pt x="8660" y="1533490"/>
                    <a:pt x="5279" y="1530110"/>
                  </a:cubicBezTo>
                  <a:cubicBezTo>
                    <a:pt x="1899" y="1526729"/>
                    <a:pt x="0" y="1522144"/>
                    <a:pt x="0" y="1517364"/>
                  </a:cubicBezTo>
                  <a:lnTo>
                    <a:pt x="0" y="18025"/>
                  </a:lnTo>
                  <a:cubicBezTo>
                    <a:pt x="0" y="13245"/>
                    <a:pt x="1899" y="8660"/>
                    <a:pt x="5279" y="5279"/>
                  </a:cubicBezTo>
                  <a:cubicBezTo>
                    <a:pt x="8660" y="1899"/>
                    <a:pt x="13245" y="0"/>
                    <a:pt x="18025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2262423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5360" y="3311145"/>
            <a:ext cx="48756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92740" y="3311145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39755" y="3311145"/>
            <a:ext cx="7998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Size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72742" y="3311145"/>
            <a:ext cx="94321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Type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22984" y="3301620"/>
            <a:ext cx="610897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Acceptance Criteria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07280" y="6694306"/>
            <a:ext cx="120372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GP-11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37694" y="5192531"/>
            <a:ext cx="3092740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‘Munir’ user, I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want to delete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previously registered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faces, so that the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database remains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accurate and up to date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4693316" y="6506981"/>
            <a:ext cx="309274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97978" y="6506981"/>
            <a:ext cx="309274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Feature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20517" y="4456757"/>
            <a:ext cx="8371062" cy="563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1. As a “Munir” user, if I navigate to “Face Recognition” from the Homepage, then I should have access to two options: “Face Management” and “Identify Person”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2. As a “Munir” user, if I select “Face Management,” then a list of all previously added persons should be available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3. As a “Munir” user, if I click the delete button, then I should be prompted with a confirmation dialog asking me to confirm or cancel the deletion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4. As a “Munir” user, if I confirm the deletion, then the person’s details should be permanently removed from the database, and I should receive a confirmation message indicating the deletion was successful, with the updated list immediately reflected in the Face Management list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5. As a “Munir” user, if I cancel the deletion,</a:t>
            </a:r>
            <a:r>
              <a:rPr lang="en-US" sz="20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then no changes should occur, and the person’s details should remain as they were in the Face Management list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889536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Product Backlog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51807" y="4293816"/>
            <a:ext cx="1314666" cy="5829680"/>
            <a:chOff x="0" y="0"/>
            <a:chExt cx="346250" cy="15353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6250" cy="1535389"/>
            </a:xfrm>
            <a:custGeom>
              <a:avLst/>
              <a:gdLst/>
              <a:ahLst/>
              <a:cxnLst/>
              <a:rect r="r" b="b" t="t" l="l"/>
              <a:pathLst>
                <a:path h="1535389" w="346250">
                  <a:moveTo>
                    <a:pt x="117778" y="0"/>
                  </a:moveTo>
                  <a:lnTo>
                    <a:pt x="228472" y="0"/>
                  </a:lnTo>
                  <a:cubicBezTo>
                    <a:pt x="293519" y="0"/>
                    <a:pt x="346250" y="52731"/>
                    <a:pt x="346250" y="117778"/>
                  </a:cubicBezTo>
                  <a:lnTo>
                    <a:pt x="346250" y="1417611"/>
                  </a:lnTo>
                  <a:cubicBezTo>
                    <a:pt x="346250" y="1482658"/>
                    <a:pt x="293519" y="1535389"/>
                    <a:pt x="228472" y="1535389"/>
                  </a:cubicBezTo>
                  <a:lnTo>
                    <a:pt x="117778" y="1535389"/>
                  </a:lnTo>
                  <a:cubicBezTo>
                    <a:pt x="52731" y="1535389"/>
                    <a:pt x="0" y="1482658"/>
                    <a:pt x="0" y="1417611"/>
                  </a:cubicBezTo>
                  <a:lnTo>
                    <a:pt x="0" y="117778"/>
                  </a:lnTo>
                  <a:cubicBezTo>
                    <a:pt x="0" y="52731"/>
                    <a:pt x="52731" y="0"/>
                    <a:pt x="117778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46250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51807" y="3091791"/>
            <a:ext cx="1314666" cy="1019733"/>
            <a:chOff x="0" y="0"/>
            <a:chExt cx="346250" cy="2685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6250" cy="268572"/>
            </a:xfrm>
            <a:custGeom>
              <a:avLst/>
              <a:gdLst/>
              <a:ahLst/>
              <a:cxnLst/>
              <a:rect r="r" b="b" t="t" l="l"/>
              <a:pathLst>
                <a:path h="268572" w="346250">
                  <a:moveTo>
                    <a:pt x="117778" y="0"/>
                  </a:moveTo>
                  <a:lnTo>
                    <a:pt x="228472" y="0"/>
                  </a:lnTo>
                  <a:cubicBezTo>
                    <a:pt x="293519" y="0"/>
                    <a:pt x="346250" y="52731"/>
                    <a:pt x="346250" y="117778"/>
                  </a:cubicBezTo>
                  <a:lnTo>
                    <a:pt x="346250" y="150794"/>
                  </a:lnTo>
                  <a:cubicBezTo>
                    <a:pt x="346250" y="215841"/>
                    <a:pt x="293519" y="268572"/>
                    <a:pt x="228472" y="268572"/>
                  </a:cubicBezTo>
                  <a:lnTo>
                    <a:pt x="117778" y="268572"/>
                  </a:lnTo>
                  <a:cubicBezTo>
                    <a:pt x="52731" y="268572"/>
                    <a:pt x="0" y="215841"/>
                    <a:pt x="0" y="150794"/>
                  </a:cubicBezTo>
                  <a:lnTo>
                    <a:pt x="0" y="117778"/>
                  </a:lnTo>
                  <a:cubicBezTo>
                    <a:pt x="0" y="52731"/>
                    <a:pt x="52731" y="0"/>
                    <a:pt x="117778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46250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37635" y="3091791"/>
            <a:ext cx="3235420" cy="1019733"/>
            <a:chOff x="0" y="0"/>
            <a:chExt cx="852127" cy="2685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2127" cy="268572"/>
            </a:xfrm>
            <a:custGeom>
              <a:avLst/>
              <a:gdLst/>
              <a:ahLst/>
              <a:cxnLst/>
              <a:rect r="r" b="b" t="t" l="l"/>
              <a:pathLst>
                <a:path h="268572" w="852127">
                  <a:moveTo>
                    <a:pt x="47857" y="0"/>
                  </a:moveTo>
                  <a:lnTo>
                    <a:pt x="804270" y="0"/>
                  </a:lnTo>
                  <a:cubicBezTo>
                    <a:pt x="830701" y="0"/>
                    <a:pt x="852127" y="21426"/>
                    <a:pt x="852127" y="47857"/>
                  </a:cubicBezTo>
                  <a:lnTo>
                    <a:pt x="852127" y="220714"/>
                  </a:lnTo>
                  <a:cubicBezTo>
                    <a:pt x="852127" y="233407"/>
                    <a:pt x="847085" y="245580"/>
                    <a:pt x="838110" y="254555"/>
                  </a:cubicBezTo>
                  <a:cubicBezTo>
                    <a:pt x="829135" y="263530"/>
                    <a:pt x="816962" y="268572"/>
                    <a:pt x="804270" y="268572"/>
                  </a:cubicBezTo>
                  <a:lnTo>
                    <a:pt x="47857" y="268572"/>
                  </a:lnTo>
                  <a:cubicBezTo>
                    <a:pt x="21426" y="268572"/>
                    <a:pt x="0" y="247145"/>
                    <a:pt x="0" y="220714"/>
                  </a:cubicBezTo>
                  <a:lnTo>
                    <a:pt x="0" y="47857"/>
                  </a:lnTo>
                  <a:cubicBezTo>
                    <a:pt x="0" y="21426"/>
                    <a:pt x="21426" y="0"/>
                    <a:pt x="47857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52127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244505" y="3091791"/>
            <a:ext cx="1933212" cy="1019733"/>
            <a:chOff x="0" y="0"/>
            <a:chExt cx="509159" cy="2685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9159" cy="268572"/>
            </a:xfrm>
            <a:custGeom>
              <a:avLst/>
              <a:gdLst/>
              <a:ahLst/>
              <a:cxnLst/>
              <a:rect r="r" b="b" t="t" l="l"/>
              <a:pathLst>
                <a:path h="268572" w="509159">
                  <a:moveTo>
                    <a:pt x="80094" y="0"/>
                  </a:moveTo>
                  <a:lnTo>
                    <a:pt x="429065" y="0"/>
                  </a:lnTo>
                  <a:cubicBezTo>
                    <a:pt x="473299" y="0"/>
                    <a:pt x="509159" y="35859"/>
                    <a:pt x="509159" y="80094"/>
                  </a:cubicBezTo>
                  <a:lnTo>
                    <a:pt x="509159" y="188478"/>
                  </a:lnTo>
                  <a:cubicBezTo>
                    <a:pt x="509159" y="209720"/>
                    <a:pt x="500720" y="230092"/>
                    <a:pt x="485700" y="245113"/>
                  </a:cubicBezTo>
                  <a:cubicBezTo>
                    <a:pt x="470679" y="260133"/>
                    <a:pt x="450307" y="268572"/>
                    <a:pt x="429065" y="268572"/>
                  </a:cubicBezTo>
                  <a:lnTo>
                    <a:pt x="80094" y="268572"/>
                  </a:lnTo>
                  <a:cubicBezTo>
                    <a:pt x="58852" y="268572"/>
                    <a:pt x="38479" y="260133"/>
                    <a:pt x="23459" y="245113"/>
                  </a:cubicBezTo>
                  <a:cubicBezTo>
                    <a:pt x="8438" y="230092"/>
                    <a:pt x="0" y="209720"/>
                    <a:pt x="0" y="188478"/>
                  </a:cubicBezTo>
                  <a:lnTo>
                    <a:pt x="0" y="80094"/>
                  </a:lnTo>
                  <a:cubicBezTo>
                    <a:pt x="0" y="58852"/>
                    <a:pt x="8438" y="38479"/>
                    <a:pt x="23459" y="23459"/>
                  </a:cubicBezTo>
                  <a:cubicBezTo>
                    <a:pt x="38479" y="8438"/>
                    <a:pt x="58852" y="0"/>
                    <a:pt x="80094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09159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49167" y="3091791"/>
            <a:ext cx="1933212" cy="1019733"/>
            <a:chOff x="0" y="0"/>
            <a:chExt cx="509159" cy="2685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9159" cy="268572"/>
            </a:xfrm>
            <a:custGeom>
              <a:avLst/>
              <a:gdLst/>
              <a:ahLst/>
              <a:cxnLst/>
              <a:rect r="r" b="b" t="t" l="l"/>
              <a:pathLst>
                <a:path h="268572" w="509159">
                  <a:moveTo>
                    <a:pt x="80094" y="0"/>
                  </a:moveTo>
                  <a:lnTo>
                    <a:pt x="429065" y="0"/>
                  </a:lnTo>
                  <a:cubicBezTo>
                    <a:pt x="473299" y="0"/>
                    <a:pt x="509159" y="35859"/>
                    <a:pt x="509159" y="80094"/>
                  </a:cubicBezTo>
                  <a:lnTo>
                    <a:pt x="509159" y="188478"/>
                  </a:lnTo>
                  <a:cubicBezTo>
                    <a:pt x="509159" y="209720"/>
                    <a:pt x="500720" y="230092"/>
                    <a:pt x="485700" y="245113"/>
                  </a:cubicBezTo>
                  <a:cubicBezTo>
                    <a:pt x="470679" y="260133"/>
                    <a:pt x="450307" y="268572"/>
                    <a:pt x="429065" y="268572"/>
                  </a:cubicBezTo>
                  <a:lnTo>
                    <a:pt x="80094" y="268572"/>
                  </a:lnTo>
                  <a:cubicBezTo>
                    <a:pt x="58852" y="268572"/>
                    <a:pt x="38479" y="260133"/>
                    <a:pt x="23459" y="245113"/>
                  </a:cubicBezTo>
                  <a:cubicBezTo>
                    <a:pt x="8438" y="230092"/>
                    <a:pt x="0" y="209720"/>
                    <a:pt x="0" y="188478"/>
                  </a:cubicBezTo>
                  <a:lnTo>
                    <a:pt x="0" y="80094"/>
                  </a:lnTo>
                  <a:cubicBezTo>
                    <a:pt x="0" y="58852"/>
                    <a:pt x="8438" y="38479"/>
                    <a:pt x="23459" y="23459"/>
                  </a:cubicBezTo>
                  <a:cubicBezTo>
                    <a:pt x="38479" y="8438"/>
                    <a:pt x="58852" y="0"/>
                    <a:pt x="80094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09159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53829" y="3091791"/>
            <a:ext cx="8647287" cy="1019733"/>
            <a:chOff x="0" y="0"/>
            <a:chExt cx="2277475" cy="2685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77475" cy="268572"/>
            </a:xfrm>
            <a:custGeom>
              <a:avLst/>
              <a:gdLst/>
              <a:ahLst/>
              <a:cxnLst/>
              <a:rect r="r" b="b" t="t" l="l"/>
              <a:pathLst>
                <a:path h="268572" w="2277475">
                  <a:moveTo>
                    <a:pt x="17906" y="0"/>
                  </a:moveTo>
                  <a:lnTo>
                    <a:pt x="2259569" y="0"/>
                  </a:lnTo>
                  <a:cubicBezTo>
                    <a:pt x="2264318" y="0"/>
                    <a:pt x="2268872" y="1887"/>
                    <a:pt x="2272230" y="5245"/>
                  </a:cubicBezTo>
                  <a:cubicBezTo>
                    <a:pt x="2275588" y="8603"/>
                    <a:pt x="2277475" y="13157"/>
                    <a:pt x="2277475" y="17906"/>
                  </a:cubicBezTo>
                  <a:lnTo>
                    <a:pt x="2277475" y="250666"/>
                  </a:lnTo>
                  <a:cubicBezTo>
                    <a:pt x="2277475" y="255415"/>
                    <a:pt x="2275588" y="259969"/>
                    <a:pt x="2272230" y="263327"/>
                  </a:cubicBezTo>
                  <a:cubicBezTo>
                    <a:pt x="2268872" y="266685"/>
                    <a:pt x="2264318" y="268572"/>
                    <a:pt x="2259569" y="268572"/>
                  </a:cubicBezTo>
                  <a:lnTo>
                    <a:pt x="17906" y="268572"/>
                  </a:lnTo>
                  <a:cubicBezTo>
                    <a:pt x="13157" y="268572"/>
                    <a:pt x="8603" y="266685"/>
                    <a:pt x="5245" y="263327"/>
                  </a:cubicBezTo>
                  <a:cubicBezTo>
                    <a:pt x="1887" y="259969"/>
                    <a:pt x="0" y="255415"/>
                    <a:pt x="0" y="250666"/>
                  </a:cubicBezTo>
                  <a:lnTo>
                    <a:pt x="0" y="17906"/>
                  </a:lnTo>
                  <a:cubicBezTo>
                    <a:pt x="0" y="13157"/>
                    <a:pt x="1887" y="8603"/>
                    <a:pt x="5245" y="5245"/>
                  </a:cubicBezTo>
                  <a:cubicBezTo>
                    <a:pt x="8603" y="1887"/>
                    <a:pt x="13157" y="0"/>
                    <a:pt x="17906" y="0"/>
                  </a:cubicBezTo>
                  <a:close/>
                </a:path>
              </a:pathLst>
            </a:custGeom>
            <a:solidFill>
              <a:srgbClr val="681D6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277475" cy="325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899396" y="4293816"/>
            <a:ext cx="3173659" cy="5829680"/>
            <a:chOff x="0" y="0"/>
            <a:chExt cx="835861" cy="15353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35861" cy="1535389"/>
            </a:xfrm>
            <a:custGeom>
              <a:avLst/>
              <a:gdLst/>
              <a:ahLst/>
              <a:cxnLst/>
              <a:rect r="r" b="b" t="t" l="l"/>
              <a:pathLst>
                <a:path h="1535389" w="835861">
                  <a:moveTo>
                    <a:pt x="48789" y="0"/>
                  </a:moveTo>
                  <a:lnTo>
                    <a:pt x="787072" y="0"/>
                  </a:lnTo>
                  <a:cubicBezTo>
                    <a:pt x="800012" y="0"/>
                    <a:pt x="812421" y="5140"/>
                    <a:pt x="821571" y="14290"/>
                  </a:cubicBezTo>
                  <a:cubicBezTo>
                    <a:pt x="830721" y="23439"/>
                    <a:pt x="835861" y="35849"/>
                    <a:pt x="835861" y="48789"/>
                  </a:cubicBezTo>
                  <a:lnTo>
                    <a:pt x="835861" y="1486600"/>
                  </a:lnTo>
                  <a:cubicBezTo>
                    <a:pt x="835861" y="1499540"/>
                    <a:pt x="830721" y="1511949"/>
                    <a:pt x="821571" y="1521099"/>
                  </a:cubicBezTo>
                  <a:cubicBezTo>
                    <a:pt x="812421" y="1530249"/>
                    <a:pt x="800012" y="1535389"/>
                    <a:pt x="787072" y="1535389"/>
                  </a:cubicBezTo>
                  <a:lnTo>
                    <a:pt x="48789" y="1535389"/>
                  </a:lnTo>
                  <a:cubicBezTo>
                    <a:pt x="35849" y="1535389"/>
                    <a:pt x="23439" y="1530249"/>
                    <a:pt x="14290" y="1521099"/>
                  </a:cubicBezTo>
                  <a:cubicBezTo>
                    <a:pt x="5140" y="1511949"/>
                    <a:pt x="0" y="1499540"/>
                    <a:pt x="0" y="1486600"/>
                  </a:cubicBezTo>
                  <a:lnTo>
                    <a:pt x="0" y="48789"/>
                  </a:lnTo>
                  <a:cubicBezTo>
                    <a:pt x="0" y="35849"/>
                    <a:pt x="5140" y="23439"/>
                    <a:pt x="14290" y="14290"/>
                  </a:cubicBezTo>
                  <a:cubicBezTo>
                    <a:pt x="23439" y="5140"/>
                    <a:pt x="35849" y="0"/>
                    <a:pt x="48789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35861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01655" y="4293816"/>
            <a:ext cx="1876062" cy="5829680"/>
            <a:chOff x="0" y="0"/>
            <a:chExt cx="494107" cy="15353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4107" cy="1535389"/>
            </a:xfrm>
            <a:custGeom>
              <a:avLst/>
              <a:gdLst/>
              <a:ahLst/>
              <a:cxnLst/>
              <a:rect r="r" b="b" t="t" l="l"/>
              <a:pathLst>
                <a:path h="1535389" w="494107">
                  <a:moveTo>
                    <a:pt x="82534" y="0"/>
                  </a:moveTo>
                  <a:lnTo>
                    <a:pt x="411573" y="0"/>
                  </a:lnTo>
                  <a:cubicBezTo>
                    <a:pt x="433462" y="0"/>
                    <a:pt x="454455" y="8695"/>
                    <a:pt x="469933" y="24174"/>
                  </a:cubicBezTo>
                  <a:cubicBezTo>
                    <a:pt x="485411" y="39652"/>
                    <a:pt x="494107" y="60644"/>
                    <a:pt x="494107" y="82534"/>
                  </a:cubicBezTo>
                  <a:lnTo>
                    <a:pt x="494107" y="1452855"/>
                  </a:lnTo>
                  <a:cubicBezTo>
                    <a:pt x="494107" y="1498437"/>
                    <a:pt x="457155" y="1535389"/>
                    <a:pt x="411573" y="1535389"/>
                  </a:cubicBezTo>
                  <a:lnTo>
                    <a:pt x="82534" y="1535389"/>
                  </a:lnTo>
                  <a:cubicBezTo>
                    <a:pt x="60644" y="1535389"/>
                    <a:pt x="39652" y="1526693"/>
                    <a:pt x="24174" y="1511215"/>
                  </a:cubicBezTo>
                  <a:cubicBezTo>
                    <a:pt x="8695" y="1495737"/>
                    <a:pt x="0" y="1474744"/>
                    <a:pt x="0" y="1452855"/>
                  </a:cubicBezTo>
                  <a:lnTo>
                    <a:pt x="0" y="82534"/>
                  </a:lnTo>
                  <a:cubicBezTo>
                    <a:pt x="0" y="36952"/>
                    <a:pt x="36952" y="0"/>
                    <a:pt x="82534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494107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06317" y="4293816"/>
            <a:ext cx="1876062" cy="5829680"/>
            <a:chOff x="0" y="0"/>
            <a:chExt cx="494107" cy="15353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4107" cy="1535389"/>
            </a:xfrm>
            <a:custGeom>
              <a:avLst/>
              <a:gdLst/>
              <a:ahLst/>
              <a:cxnLst/>
              <a:rect r="r" b="b" t="t" l="l"/>
              <a:pathLst>
                <a:path h="1535389" w="494107">
                  <a:moveTo>
                    <a:pt x="82534" y="0"/>
                  </a:moveTo>
                  <a:lnTo>
                    <a:pt x="411573" y="0"/>
                  </a:lnTo>
                  <a:cubicBezTo>
                    <a:pt x="433462" y="0"/>
                    <a:pt x="454455" y="8695"/>
                    <a:pt x="469933" y="24174"/>
                  </a:cubicBezTo>
                  <a:cubicBezTo>
                    <a:pt x="485411" y="39652"/>
                    <a:pt x="494107" y="60644"/>
                    <a:pt x="494107" y="82534"/>
                  </a:cubicBezTo>
                  <a:lnTo>
                    <a:pt x="494107" y="1452855"/>
                  </a:lnTo>
                  <a:cubicBezTo>
                    <a:pt x="494107" y="1498437"/>
                    <a:pt x="457155" y="1535389"/>
                    <a:pt x="411573" y="1535389"/>
                  </a:cubicBezTo>
                  <a:lnTo>
                    <a:pt x="82534" y="1535389"/>
                  </a:lnTo>
                  <a:cubicBezTo>
                    <a:pt x="60644" y="1535389"/>
                    <a:pt x="39652" y="1526693"/>
                    <a:pt x="24174" y="1511215"/>
                  </a:cubicBezTo>
                  <a:cubicBezTo>
                    <a:pt x="8695" y="1495737"/>
                    <a:pt x="0" y="1474744"/>
                    <a:pt x="0" y="1452855"/>
                  </a:cubicBezTo>
                  <a:lnTo>
                    <a:pt x="0" y="82534"/>
                  </a:lnTo>
                  <a:cubicBezTo>
                    <a:pt x="0" y="36952"/>
                    <a:pt x="36952" y="0"/>
                    <a:pt x="82534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494107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10979" y="4293816"/>
            <a:ext cx="8590137" cy="5829680"/>
            <a:chOff x="0" y="0"/>
            <a:chExt cx="2262423" cy="153538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62423" cy="1535389"/>
            </a:xfrm>
            <a:custGeom>
              <a:avLst/>
              <a:gdLst/>
              <a:ahLst/>
              <a:cxnLst/>
              <a:rect r="r" b="b" t="t" l="l"/>
              <a:pathLst>
                <a:path h="1535389" w="2262423">
                  <a:moveTo>
                    <a:pt x="18025" y="0"/>
                  </a:moveTo>
                  <a:lnTo>
                    <a:pt x="2244398" y="0"/>
                  </a:lnTo>
                  <a:cubicBezTo>
                    <a:pt x="2249178" y="0"/>
                    <a:pt x="2253763" y="1899"/>
                    <a:pt x="2257143" y="5279"/>
                  </a:cubicBezTo>
                  <a:cubicBezTo>
                    <a:pt x="2260524" y="8660"/>
                    <a:pt x="2262423" y="13245"/>
                    <a:pt x="2262423" y="18025"/>
                  </a:cubicBezTo>
                  <a:lnTo>
                    <a:pt x="2262423" y="1517364"/>
                  </a:lnTo>
                  <a:cubicBezTo>
                    <a:pt x="2262423" y="1522144"/>
                    <a:pt x="2260524" y="1526729"/>
                    <a:pt x="2257143" y="1530110"/>
                  </a:cubicBezTo>
                  <a:cubicBezTo>
                    <a:pt x="2253763" y="1533490"/>
                    <a:pt x="2249178" y="1535389"/>
                    <a:pt x="2244398" y="1535389"/>
                  </a:cubicBezTo>
                  <a:lnTo>
                    <a:pt x="18025" y="1535389"/>
                  </a:lnTo>
                  <a:cubicBezTo>
                    <a:pt x="13245" y="1535389"/>
                    <a:pt x="8660" y="1533490"/>
                    <a:pt x="5279" y="1530110"/>
                  </a:cubicBezTo>
                  <a:cubicBezTo>
                    <a:pt x="1899" y="1526729"/>
                    <a:pt x="0" y="1522144"/>
                    <a:pt x="0" y="1517364"/>
                  </a:cubicBezTo>
                  <a:lnTo>
                    <a:pt x="0" y="18025"/>
                  </a:lnTo>
                  <a:cubicBezTo>
                    <a:pt x="0" y="13245"/>
                    <a:pt x="1899" y="8660"/>
                    <a:pt x="5279" y="5279"/>
                  </a:cubicBezTo>
                  <a:cubicBezTo>
                    <a:pt x="8660" y="1899"/>
                    <a:pt x="13245" y="0"/>
                    <a:pt x="18025" y="0"/>
                  </a:cubicBezTo>
                  <a:close/>
                </a:path>
              </a:pathLst>
            </a:custGeom>
            <a:solidFill>
              <a:srgbClr val="F6E3F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2262423" cy="1592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765360" y="3311145"/>
            <a:ext cx="48756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92740" y="3311145"/>
            <a:ext cx="7252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PB</a:t>
            </a: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39755" y="3311145"/>
            <a:ext cx="7998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Size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72742" y="3311145"/>
            <a:ext cx="94321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Type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22984" y="3301620"/>
            <a:ext cx="610897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Acceptance Criteria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07280" y="6694306"/>
            <a:ext cx="120372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DFEF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GP-12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37694" y="4316231"/>
            <a:ext cx="3092740" cy="438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As a “Munir” user, I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want to search for a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stored person by name, so that I can easily find and manage them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4693316" y="6506981"/>
            <a:ext cx="309274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97978" y="6506981"/>
            <a:ext cx="309274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Feature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30054" y="4421113"/>
            <a:ext cx="8371062" cy="5978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1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1. As a “Munir” user, if I navigate to “Face Recognition” from the</a:t>
            </a:r>
          </a:p>
          <a:p>
            <a:pPr algn="l">
              <a:lnSpc>
                <a:spcPts val="3444"/>
              </a:lnSpc>
            </a:pPr>
            <a:r>
              <a:rPr lang="en-US" sz="21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Homepage, then I should have access to two options: “Face Management” and “Identify Person”</a:t>
            </a:r>
          </a:p>
          <a:p>
            <a:pPr algn="l">
              <a:lnSpc>
                <a:spcPts val="3444"/>
              </a:lnSpc>
            </a:pPr>
            <a:r>
              <a:rPr lang="en-US" sz="21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2. As a “Munir” user, if I select “Face Management,” then a list of all previously added persons should be available</a:t>
            </a:r>
          </a:p>
          <a:p>
            <a:pPr algn="l">
              <a:lnSpc>
                <a:spcPts val="3444"/>
              </a:lnSpc>
            </a:pPr>
            <a:r>
              <a:rPr lang="en-US" sz="21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3. As a “Munir” user, if I type a name in the search bar, then the list should dynamically</a:t>
            </a:r>
            <a:r>
              <a:rPr lang="en-US" sz="21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filter to show only the persons whose names match my input</a:t>
            </a:r>
          </a:p>
          <a:p>
            <a:pPr algn="l">
              <a:lnSpc>
                <a:spcPts val="3444"/>
              </a:lnSpc>
            </a:pPr>
            <a:r>
              <a:rPr lang="en-US" sz="21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4. As a “Munir” user, if there are no matches for my search, then I should receive a message indicating that no persons were found</a:t>
            </a:r>
          </a:p>
          <a:p>
            <a:pPr algn="l">
              <a:lnSpc>
                <a:spcPts val="3444"/>
              </a:lnSpc>
            </a:pPr>
            <a:r>
              <a:rPr lang="en-US" sz="210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5. As a “Munir” user, if I clear the search input, then the full list of stored persons should be displayed again</a:t>
            </a:r>
          </a:p>
          <a:p>
            <a:pPr algn="l">
              <a:lnSpc>
                <a:spcPts val="3444"/>
              </a:lnSpc>
            </a:pPr>
          </a:p>
          <a:p>
            <a:pPr algn="l">
              <a:lnSpc>
                <a:spcPts val="3444"/>
              </a:lnSpc>
            </a:pP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192586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Model Development Pipeline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1528393" y="7727819"/>
            <a:ext cx="0" cy="1840852"/>
          </a:xfrm>
          <a:prstGeom prst="line">
            <a:avLst/>
          </a:prstGeom>
          <a:ln cap="flat" w="28575">
            <a:solidFill>
              <a:srgbClr val="DEB8E4"/>
            </a:solidFill>
            <a:prstDash val="lgDash"/>
            <a:headEnd type="none" len="sm" w="sm"/>
            <a:tailEnd type="triangle" len="med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12533280" y="5183051"/>
            <a:ext cx="4431835" cy="2921709"/>
            <a:chOff x="0" y="0"/>
            <a:chExt cx="606574" cy="3998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6574" cy="399887"/>
            </a:xfrm>
            <a:custGeom>
              <a:avLst/>
              <a:gdLst/>
              <a:ahLst/>
              <a:cxnLst/>
              <a:rect r="r" b="b" t="t" l="l"/>
              <a:pathLst>
                <a:path h="399887" w="606574">
                  <a:moveTo>
                    <a:pt x="403374" y="0"/>
                  </a:moveTo>
                  <a:lnTo>
                    <a:pt x="0" y="0"/>
                  </a:lnTo>
                  <a:lnTo>
                    <a:pt x="0" y="399887"/>
                  </a:lnTo>
                  <a:lnTo>
                    <a:pt x="403374" y="399887"/>
                  </a:lnTo>
                  <a:lnTo>
                    <a:pt x="606574" y="199943"/>
                  </a:lnTo>
                  <a:lnTo>
                    <a:pt x="403374" y="0"/>
                  </a:lnTo>
                  <a:close/>
                </a:path>
              </a:pathLst>
            </a:custGeom>
            <a:solidFill>
              <a:srgbClr val="621F5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92274" cy="437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99435" y="5175497"/>
            <a:ext cx="4400589" cy="2936816"/>
            <a:chOff x="0" y="0"/>
            <a:chExt cx="606574" cy="4048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6574" cy="404809"/>
            </a:xfrm>
            <a:custGeom>
              <a:avLst/>
              <a:gdLst/>
              <a:ahLst/>
              <a:cxnLst/>
              <a:rect r="r" b="b" t="t" l="l"/>
              <a:pathLst>
                <a:path h="404809" w="606574">
                  <a:moveTo>
                    <a:pt x="403374" y="0"/>
                  </a:moveTo>
                  <a:lnTo>
                    <a:pt x="0" y="0"/>
                  </a:lnTo>
                  <a:lnTo>
                    <a:pt x="0" y="404809"/>
                  </a:lnTo>
                  <a:lnTo>
                    <a:pt x="403374" y="404809"/>
                  </a:lnTo>
                  <a:lnTo>
                    <a:pt x="606574" y="202404"/>
                  </a:lnTo>
                  <a:lnTo>
                    <a:pt x="403374" y="0"/>
                  </a:lnTo>
                  <a:close/>
                </a:path>
              </a:pathLst>
            </a:custGeom>
            <a:solidFill>
              <a:srgbClr val="DEB8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92274" cy="442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56315" y="5175497"/>
            <a:ext cx="4400589" cy="2936816"/>
            <a:chOff x="0" y="0"/>
            <a:chExt cx="606574" cy="4048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6574" cy="404809"/>
            </a:xfrm>
            <a:custGeom>
              <a:avLst/>
              <a:gdLst/>
              <a:ahLst/>
              <a:cxnLst/>
              <a:rect r="r" b="b" t="t" l="l"/>
              <a:pathLst>
                <a:path h="404809" w="606574">
                  <a:moveTo>
                    <a:pt x="403374" y="0"/>
                  </a:moveTo>
                  <a:lnTo>
                    <a:pt x="0" y="0"/>
                  </a:lnTo>
                  <a:lnTo>
                    <a:pt x="0" y="404809"/>
                  </a:lnTo>
                  <a:lnTo>
                    <a:pt x="403374" y="404809"/>
                  </a:lnTo>
                  <a:lnTo>
                    <a:pt x="606574" y="202404"/>
                  </a:lnTo>
                  <a:lnTo>
                    <a:pt x="403374" y="0"/>
                  </a:lnTo>
                  <a:close/>
                </a:path>
              </a:pathLst>
            </a:custGeom>
            <a:solidFill>
              <a:srgbClr val="8A408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92274" cy="442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334072" y="5163952"/>
            <a:ext cx="4400589" cy="2948361"/>
            <a:chOff x="0" y="0"/>
            <a:chExt cx="606574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6574" cy="406400"/>
            </a:xfrm>
            <a:custGeom>
              <a:avLst/>
              <a:gdLst/>
              <a:ahLst/>
              <a:cxnLst/>
              <a:rect r="r" b="b" t="t" l="l"/>
              <a:pathLst>
                <a:path h="406400" w="606574">
                  <a:moveTo>
                    <a:pt x="40337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403374" y="406400"/>
                  </a:lnTo>
                  <a:lnTo>
                    <a:pt x="606574" y="203200"/>
                  </a:lnTo>
                  <a:lnTo>
                    <a:pt x="403374" y="0"/>
                  </a:lnTo>
                  <a:close/>
                </a:path>
              </a:pathLst>
            </a:custGeom>
            <a:solidFill>
              <a:srgbClr val="D2A3D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9227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280181" y="5826758"/>
            <a:ext cx="1622750" cy="1622750"/>
          </a:xfrm>
          <a:custGeom>
            <a:avLst/>
            <a:gdLst/>
            <a:ahLst/>
            <a:cxnLst/>
            <a:rect r="r" b="b" t="t" l="l"/>
            <a:pathLst>
              <a:path h="1622750" w="1622750">
                <a:moveTo>
                  <a:pt x="0" y="0"/>
                </a:moveTo>
                <a:lnTo>
                  <a:pt x="1622750" y="0"/>
                </a:lnTo>
                <a:lnTo>
                  <a:pt x="1622750" y="1622750"/>
                </a:lnTo>
                <a:lnTo>
                  <a:pt x="0" y="1622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724040" y="5163952"/>
            <a:ext cx="4400589" cy="2948361"/>
            <a:chOff x="0" y="0"/>
            <a:chExt cx="606574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6574" cy="406400"/>
            </a:xfrm>
            <a:custGeom>
              <a:avLst/>
              <a:gdLst/>
              <a:ahLst/>
              <a:cxnLst/>
              <a:rect r="r" b="b" t="t" l="l"/>
              <a:pathLst>
                <a:path h="406400" w="606574">
                  <a:moveTo>
                    <a:pt x="40337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403374" y="406400"/>
                  </a:lnTo>
                  <a:lnTo>
                    <a:pt x="606574" y="203200"/>
                  </a:lnTo>
                  <a:lnTo>
                    <a:pt x="403374" y="0"/>
                  </a:lnTo>
                  <a:close/>
                </a:path>
              </a:pathLst>
            </a:custGeom>
            <a:solidFill>
              <a:srgbClr val="68226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9227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-1038688" y="5163952"/>
            <a:ext cx="4400589" cy="2948361"/>
            <a:chOff x="0" y="0"/>
            <a:chExt cx="606574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6574" cy="406400"/>
            </a:xfrm>
            <a:custGeom>
              <a:avLst/>
              <a:gdLst/>
              <a:ahLst/>
              <a:cxnLst/>
              <a:rect r="r" b="b" t="t" l="l"/>
              <a:pathLst>
                <a:path h="406400" w="606574">
                  <a:moveTo>
                    <a:pt x="40337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403374" y="406400"/>
                  </a:lnTo>
                  <a:lnTo>
                    <a:pt x="606574" y="203200"/>
                  </a:lnTo>
                  <a:lnTo>
                    <a:pt x="40337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9227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5" id="25"/>
          <p:cNvSpPr/>
          <p:nvPr/>
        </p:nvSpPr>
        <p:spPr>
          <a:xfrm flipH="true" flipV="true">
            <a:off x="3710642" y="3468131"/>
            <a:ext cx="0" cy="1840852"/>
          </a:xfrm>
          <a:prstGeom prst="line">
            <a:avLst/>
          </a:prstGeom>
          <a:ln cap="flat" w="28575">
            <a:solidFill>
              <a:srgbClr val="682261"/>
            </a:solidFill>
            <a:prstDash val="lgDash"/>
            <a:headEnd type="none" len="sm" w="sm"/>
            <a:tailEnd type="triangle" len="med" w="lg"/>
          </a:ln>
        </p:spPr>
      </p:sp>
      <p:grpSp>
        <p:nvGrpSpPr>
          <p:cNvPr name="Group 26" id="26"/>
          <p:cNvGrpSpPr/>
          <p:nvPr/>
        </p:nvGrpSpPr>
        <p:grpSpPr>
          <a:xfrm rot="0">
            <a:off x="1570502" y="3146887"/>
            <a:ext cx="4028394" cy="699927"/>
            <a:chOff x="0" y="0"/>
            <a:chExt cx="937255" cy="1628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7255" cy="162847"/>
            </a:xfrm>
            <a:custGeom>
              <a:avLst/>
              <a:gdLst/>
              <a:ahLst/>
              <a:cxnLst/>
              <a:rect r="r" b="b" t="t" l="l"/>
              <a:pathLst>
                <a:path h="162847" w="937255">
                  <a:moveTo>
                    <a:pt x="69186" y="0"/>
                  </a:moveTo>
                  <a:lnTo>
                    <a:pt x="868069" y="0"/>
                  </a:lnTo>
                  <a:cubicBezTo>
                    <a:pt x="886418" y="0"/>
                    <a:pt x="904016" y="7289"/>
                    <a:pt x="916991" y="20264"/>
                  </a:cubicBezTo>
                  <a:cubicBezTo>
                    <a:pt x="929966" y="33239"/>
                    <a:pt x="937255" y="50837"/>
                    <a:pt x="937255" y="69186"/>
                  </a:cubicBezTo>
                  <a:lnTo>
                    <a:pt x="937255" y="93660"/>
                  </a:lnTo>
                  <a:cubicBezTo>
                    <a:pt x="937255" y="112010"/>
                    <a:pt x="929966" y="129607"/>
                    <a:pt x="916991" y="142582"/>
                  </a:cubicBezTo>
                  <a:cubicBezTo>
                    <a:pt x="904016" y="155557"/>
                    <a:pt x="886418" y="162847"/>
                    <a:pt x="868069" y="162847"/>
                  </a:cubicBezTo>
                  <a:lnTo>
                    <a:pt x="69186" y="162847"/>
                  </a:lnTo>
                  <a:cubicBezTo>
                    <a:pt x="50837" y="162847"/>
                    <a:pt x="33239" y="155557"/>
                    <a:pt x="20264" y="142582"/>
                  </a:cubicBezTo>
                  <a:cubicBezTo>
                    <a:pt x="7289" y="129607"/>
                    <a:pt x="0" y="112010"/>
                    <a:pt x="0" y="93660"/>
                  </a:cubicBezTo>
                  <a:lnTo>
                    <a:pt x="0" y="69186"/>
                  </a:lnTo>
                  <a:cubicBezTo>
                    <a:pt x="0" y="50837"/>
                    <a:pt x="7289" y="33239"/>
                    <a:pt x="20264" y="20264"/>
                  </a:cubicBezTo>
                  <a:cubicBezTo>
                    <a:pt x="33239" y="7289"/>
                    <a:pt x="50837" y="0"/>
                    <a:pt x="69186" y="0"/>
                  </a:cubicBezTo>
                  <a:close/>
                </a:path>
              </a:pathLst>
            </a:custGeom>
            <a:solidFill>
              <a:srgbClr val="681D60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37255" cy="200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1. DATA COLLECTION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3522697" y="5826758"/>
            <a:ext cx="1622750" cy="1622750"/>
          </a:xfrm>
          <a:custGeom>
            <a:avLst/>
            <a:gdLst/>
            <a:ahLst/>
            <a:cxnLst/>
            <a:rect r="r" b="b" t="t" l="l"/>
            <a:pathLst>
              <a:path h="1622750" w="1622750">
                <a:moveTo>
                  <a:pt x="0" y="0"/>
                </a:moveTo>
                <a:lnTo>
                  <a:pt x="1622750" y="0"/>
                </a:lnTo>
                <a:lnTo>
                  <a:pt x="1622750" y="1622750"/>
                </a:lnTo>
                <a:lnTo>
                  <a:pt x="0" y="1622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>
            <a:off x="6294468" y="7727819"/>
            <a:ext cx="0" cy="1840852"/>
          </a:xfrm>
          <a:prstGeom prst="line">
            <a:avLst/>
          </a:prstGeom>
          <a:ln cap="flat" w="28575">
            <a:solidFill>
              <a:srgbClr val="D2A3D9"/>
            </a:solidFill>
            <a:prstDash val="lgDash"/>
            <a:headEnd type="none" len="sm" w="sm"/>
            <a:tailEnd type="triangle" len="med" w="lg"/>
          </a:ln>
        </p:spPr>
      </p:sp>
      <p:grpSp>
        <p:nvGrpSpPr>
          <p:cNvPr name="Group 31" id="31"/>
          <p:cNvGrpSpPr/>
          <p:nvPr/>
        </p:nvGrpSpPr>
        <p:grpSpPr>
          <a:xfrm rot="0">
            <a:off x="3522697" y="9452596"/>
            <a:ext cx="4811278" cy="679548"/>
            <a:chOff x="0" y="0"/>
            <a:chExt cx="1119402" cy="1581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19402" cy="158105"/>
            </a:xfrm>
            <a:custGeom>
              <a:avLst/>
              <a:gdLst/>
              <a:ahLst/>
              <a:cxnLst/>
              <a:rect r="r" b="b" t="t" l="l"/>
              <a:pathLst>
                <a:path h="158105" w="1119402">
                  <a:moveTo>
                    <a:pt x="57928" y="0"/>
                  </a:moveTo>
                  <a:lnTo>
                    <a:pt x="1061474" y="0"/>
                  </a:lnTo>
                  <a:cubicBezTo>
                    <a:pt x="1093467" y="0"/>
                    <a:pt x="1119402" y="25935"/>
                    <a:pt x="1119402" y="57928"/>
                  </a:cubicBezTo>
                  <a:lnTo>
                    <a:pt x="1119402" y="100177"/>
                  </a:lnTo>
                  <a:cubicBezTo>
                    <a:pt x="1119402" y="132170"/>
                    <a:pt x="1093467" y="158105"/>
                    <a:pt x="1061474" y="158105"/>
                  </a:cubicBezTo>
                  <a:lnTo>
                    <a:pt x="57928" y="158105"/>
                  </a:lnTo>
                  <a:cubicBezTo>
                    <a:pt x="25935" y="158105"/>
                    <a:pt x="0" y="132170"/>
                    <a:pt x="0" y="100177"/>
                  </a:cubicBezTo>
                  <a:lnTo>
                    <a:pt x="0" y="57928"/>
                  </a:lnTo>
                  <a:cubicBezTo>
                    <a:pt x="0" y="25935"/>
                    <a:pt x="25935" y="0"/>
                    <a:pt x="57928" y="0"/>
                  </a:cubicBezTo>
                  <a:close/>
                </a:path>
              </a:pathLst>
            </a:custGeom>
            <a:solidFill>
              <a:srgbClr val="D2A3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119402" cy="196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 spc="311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2. DATA PREPROCESSING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8891863" y="5736333"/>
            <a:ext cx="1815144" cy="1815144"/>
          </a:xfrm>
          <a:custGeom>
            <a:avLst/>
            <a:gdLst/>
            <a:ahLst/>
            <a:cxnLst/>
            <a:rect r="r" b="b" t="t" l="l"/>
            <a:pathLst>
              <a:path h="1815144" w="1815144">
                <a:moveTo>
                  <a:pt x="0" y="0"/>
                </a:moveTo>
                <a:lnTo>
                  <a:pt x="1815144" y="0"/>
                </a:lnTo>
                <a:lnTo>
                  <a:pt x="1815144" y="1815144"/>
                </a:lnTo>
                <a:lnTo>
                  <a:pt x="0" y="18151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5" id="35"/>
          <p:cNvSpPr/>
          <p:nvPr/>
        </p:nvSpPr>
        <p:spPr>
          <a:xfrm flipV="true">
            <a:off x="8968830" y="3468131"/>
            <a:ext cx="0" cy="1840852"/>
          </a:xfrm>
          <a:prstGeom prst="line">
            <a:avLst/>
          </a:prstGeom>
          <a:ln cap="flat" w="28575">
            <a:solidFill>
              <a:srgbClr val="8A408A"/>
            </a:solidFill>
            <a:prstDash val="lgDash"/>
            <a:headEnd type="none" len="sm" w="sm"/>
            <a:tailEnd type="triangle" len="med" w="lg"/>
          </a:ln>
        </p:spPr>
      </p:sp>
      <p:grpSp>
        <p:nvGrpSpPr>
          <p:cNvPr name="Group 36" id="36"/>
          <p:cNvGrpSpPr/>
          <p:nvPr/>
        </p:nvGrpSpPr>
        <p:grpSpPr>
          <a:xfrm rot="0">
            <a:off x="6956315" y="3146887"/>
            <a:ext cx="4557790" cy="674040"/>
            <a:chOff x="0" y="0"/>
            <a:chExt cx="1060425" cy="156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0425" cy="156824"/>
            </a:xfrm>
            <a:custGeom>
              <a:avLst/>
              <a:gdLst/>
              <a:ahLst/>
              <a:cxnLst/>
              <a:rect r="r" b="b" t="t" l="l"/>
              <a:pathLst>
                <a:path h="156824" w="1060425">
                  <a:moveTo>
                    <a:pt x="61150" y="0"/>
                  </a:moveTo>
                  <a:lnTo>
                    <a:pt x="999275" y="0"/>
                  </a:lnTo>
                  <a:cubicBezTo>
                    <a:pt x="1033048" y="0"/>
                    <a:pt x="1060425" y="27378"/>
                    <a:pt x="1060425" y="61150"/>
                  </a:cubicBezTo>
                  <a:lnTo>
                    <a:pt x="1060425" y="95674"/>
                  </a:lnTo>
                  <a:cubicBezTo>
                    <a:pt x="1060425" y="111892"/>
                    <a:pt x="1053983" y="127445"/>
                    <a:pt x="1042515" y="138913"/>
                  </a:cubicBezTo>
                  <a:cubicBezTo>
                    <a:pt x="1031047" y="150381"/>
                    <a:pt x="1015493" y="156824"/>
                    <a:pt x="999275" y="156824"/>
                  </a:cubicBezTo>
                  <a:lnTo>
                    <a:pt x="61150" y="156824"/>
                  </a:lnTo>
                  <a:cubicBezTo>
                    <a:pt x="44932" y="156824"/>
                    <a:pt x="29378" y="150381"/>
                    <a:pt x="17910" y="138913"/>
                  </a:cubicBezTo>
                  <a:cubicBezTo>
                    <a:pt x="6443" y="127445"/>
                    <a:pt x="0" y="111892"/>
                    <a:pt x="0" y="95674"/>
                  </a:cubicBezTo>
                  <a:lnTo>
                    <a:pt x="0" y="61150"/>
                  </a:lnTo>
                  <a:cubicBezTo>
                    <a:pt x="0" y="44932"/>
                    <a:pt x="6443" y="29378"/>
                    <a:pt x="17910" y="17910"/>
                  </a:cubicBezTo>
                  <a:cubicBezTo>
                    <a:pt x="29378" y="6443"/>
                    <a:pt x="44932" y="0"/>
                    <a:pt x="61150" y="0"/>
                  </a:cubicBezTo>
                  <a:close/>
                </a:path>
              </a:pathLst>
            </a:custGeom>
            <a:solidFill>
              <a:srgbClr val="8A408A"/>
            </a:solidFill>
            <a:ln cap="rnd">
              <a:noFill/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60425" cy="194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11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3. FEATURE EXTRACTION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1514105" y="5826758"/>
            <a:ext cx="1393384" cy="1673735"/>
          </a:xfrm>
          <a:custGeom>
            <a:avLst/>
            <a:gdLst/>
            <a:ahLst/>
            <a:cxnLst/>
            <a:rect r="r" b="b" t="t" l="l"/>
            <a:pathLst>
              <a:path h="1673735" w="1393384">
                <a:moveTo>
                  <a:pt x="0" y="0"/>
                </a:moveTo>
                <a:lnTo>
                  <a:pt x="1393384" y="0"/>
                </a:lnTo>
                <a:lnTo>
                  <a:pt x="1393384" y="1673734"/>
                </a:lnTo>
                <a:lnTo>
                  <a:pt x="0" y="16737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144000" y="9557373"/>
            <a:ext cx="6231922" cy="574770"/>
            <a:chOff x="0" y="0"/>
            <a:chExt cx="1449933" cy="13372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49933" cy="133727"/>
            </a:xfrm>
            <a:custGeom>
              <a:avLst/>
              <a:gdLst/>
              <a:ahLst/>
              <a:cxnLst/>
              <a:rect r="r" b="b" t="t" l="l"/>
              <a:pathLst>
                <a:path h="133727" w="1449933">
                  <a:moveTo>
                    <a:pt x="44723" y="0"/>
                  </a:moveTo>
                  <a:lnTo>
                    <a:pt x="1405210" y="0"/>
                  </a:lnTo>
                  <a:cubicBezTo>
                    <a:pt x="1417071" y="0"/>
                    <a:pt x="1428447" y="4712"/>
                    <a:pt x="1436834" y="13099"/>
                  </a:cubicBezTo>
                  <a:cubicBezTo>
                    <a:pt x="1445221" y="21486"/>
                    <a:pt x="1449933" y="32862"/>
                    <a:pt x="1449933" y="44723"/>
                  </a:cubicBezTo>
                  <a:lnTo>
                    <a:pt x="1449933" y="89005"/>
                  </a:lnTo>
                  <a:cubicBezTo>
                    <a:pt x="1449933" y="100866"/>
                    <a:pt x="1445221" y="112241"/>
                    <a:pt x="1436834" y="120628"/>
                  </a:cubicBezTo>
                  <a:cubicBezTo>
                    <a:pt x="1428447" y="129015"/>
                    <a:pt x="1417071" y="133727"/>
                    <a:pt x="1405210" y="133727"/>
                  </a:cubicBezTo>
                  <a:lnTo>
                    <a:pt x="44723" y="133727"/>
                  </a:lnTo>
                  <a:cubicBezTo>
                    <a:pt x="32862" y="133727"/>
                    <a:pt x="21486" y="129015"/>
                    <a:pt x="13099" y="120628"/>
                  </a:cubicBezTo>
                  <a:cubicBezTo>
                    <a:pt x="4712" y="112241"/>
                    <a:pt x="0" y="100866"/>
                    <a:pt x="0" y="89005"/>
                  </a:cubicBezTo>
                  <a:lnTo>
                    <a:pt x="0" y="44723"/>
                  </a:lnTo>
                  <a:cubicBezTo>
                    <a:pt x="0" y="32862"/>
                    <a:pt x="4712" y="21486"/>
                    <a:pt x="13099" y="13099"/>
                  </a:cubicBezTo>
                  <a:cubicBezTo>
                    <a:pt x="21486" y="4712"/>
                    <a:pt x="32862" y="0"/>
                    <a:pt x="44723" y="0"/>
                  </a:cubicBezTo>
                  <a:close/>
                </a:path>
              </a:pathLst>
            </a:custGeom>
            <a:solidFill>
              <a:srgbClr val="DEB8E4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449933" cy="171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b="true" sz="1999" spc="311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4.MODEL TRAINING &amp; VALIDATION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4200024" y="5736333"/>
            <a:ext cx="1781539" cy="1853357"/>
          </a:xfrm>
          <a:custGeom>
            <a:avLst/>
            <a:gdLst/>
            <a:ahLst/>
            <a:cxnLst/>
            <a:rect r="r" b="b" t="t" l="l"/>
            <a:pathLst>
              <a:path h="1853357" w="1781539">
                <a:moveTo>
                  <a:pt x="0" y="0"/>
                </a:moveTo>
                <a:lnTo>
                  <a:pt x="1781539" y="0"/>
                </a:lnTo>
                <a:lnTo>
                  <a:pt x="1781539" y="1853357"/>
                </a:lnTo>
                <a:lnTo>
                  <a:pt x="0" y="18533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4" id="44"/>
          <p:cNvSpPr/>
          <p:nvPr/>
        </p:nvSpPr>
        <p:spPr>
          <a:xfrm flipH="true" flipV="true">
            <a:off x="14214312" y="3342199"/>
            <a:ext cx="0" cy="1840852"/>
          </a:xfrm>
          <a:prstGeom prst="line">
            <a:avLst/>
          </a:prstGeom>
          <a:ln cap="flat" w="28575">
            <a:solidFill>
              <a:srgbClr val="621F5B"/>
            </a:solidFill>
            <a:prstDash val="lgDash"/>
            <a:headEnd type="none" len="sm" w="sm"/>
            <a:tailEnd type="triangle" len="med" w="lg"/>
          </a:ln>
        </p:spPr>
      </p:sp>
      <p:grpSp>
        <p:nvGrpSpPr>
          <p:cNvPr name="Group 45" id="45"/>
          <p:cNvGrpSpPr/>
          <p:nvPr/>
        </p:nvGrpSpPr>
        <p:grpSpPr>
          <a:xfrm rot="0">
            <a:off x="12124422" y="3146887"/>
            <a:ext cx="4537922" cy="674040"/>
            <a:chOff x="0" y="0"/>
            <a:chExt cx="1055803" cy="1568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55803" cy="156824"/>
            </a:xfrm>
            <a:custGeom>
              <a:avLst/>
              <a:gdLst/>
              <a:ahLst/>
              <a:cxnLst/>
              <a:rect r="r" b="b" t="t" l="l"/>
              <a:pathLst>
                <a:path h="156824" w="1055803">
                  <a:moveTo>
                    <a:pt x="61418" y="0"/>
                  </a:moveTo>
                  <a:lnTo>
                    <a:pt x="994385" y="0"/>
                  </a:lnTo>
                  <a:cubicBezTo>
                    <a:pt x="1010674" y="0"/>
                    <a:pt x="1026296" y="6471"/>
                    <a:pt x="1037814" y="17989"/>
                  </a:cubicBezTo>
                  <a:cubicBezTo>
                    <a:pt x="1049332" y="29507"/>
                    <a:pt x="1055803" y="45129"/>
                    <a:pt x="1055803" y="61418"/>
                  </a:cubicBezTo>
                  <a:lnTo>
                    <a:pt x="1055803" y="95406"/>
                  </a:lnTo>
                  <a:cubicBezTo>
                    <a:pt x="1055803" y="111695"/>
                    <a:pt x="1049332" y="127317"/>
                    <a:pt x="1037814" y="138835"/>
                  </a:cubicBezTo>
                  <a:cubicBezTo>
                    <a:pt x="1026296" y="150353"/>
                    <a:pt x="1010674" y="156824"/>
                    <a:pt x="994385" y="156824"/>
                  </a:cubicBezTo>
                  <a:lnTo>
                    <a:pt x="61418" y="156824"/>
                  </a:lnTo>
                  <a:cubicBezTo>
                    <a:pt x="45129" y="156824"/>
                    <a:pt x="29507" y="150353"/>
                    <a:pt x="17989" y="138835"/>
                  </a:cubicBezTo>
                  <a:cubicBezTo>
                    <a:pt x="6471" y="127317"/>
                    <a:pt x="0" y="111695"/>
                    <a:pt x="0" y="95406"/>
                  </a:cubicBezTo>
                  <a:lnTo>
                    <a:pt x="0" y="61418"/>
                  </a:lnTo>
                  <a:cubicBezTo>
                    <a:pt x="0" y="45129"/>
                    <a:pt x="6471" y="29507"/>
                    <a:pt x="17989" y="17989"/>
                  </a:cubicBezTo>
                  <a:cubicBezTo>
                    <a:pt x="29507" y="6471"/>
                    <a:pt x="45129" y="0"/>
                    <a:pt x="61418" y="0"/>
                  </a:cubicBezTo>
                  <a:close/>
                </a:path>
              </a:pathLst>
            </a:custGeom>
            <a:solidFill>
              <a:srgbClr val="621F5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055803" cy="194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5.MODEL EVALUATION </a:t>
              </a:r>
            </a:p>
          </p:txBody>
        </p:sp>
      </p:grp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192586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Face Recognition Integration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038688" y="5163952"/>
            <a:ext cx="4400589" cy="2948361"/>
            <a:chOff x="0" y="0"/>
            <a:chExt cx="606574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6574" cy="406400"/>
            </a:xfrm>
            <a:custGeom>
              <a:avLst/>
              <a:gdLst/>
              <a:ahLst/>
              <a:cxnLst/>
              <a:rect r="r" b="b" t="t" l="l"/>
              <a:pathLst>
                <a:path h="406400" w="606574">
                  <a:moveTo>
                    <a:pt x="403374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403374" y="406400"/>
                  </a:lnTo>
                  <a:lnTo>
                    <a:pt x="606574" y="203200"/>
                  </a:lnTo>
                  <a:lnTo>
                    <a:pt x="40337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92274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010040" y="3570848"/>
            <a:ext cx="1605248" cy="1617378"/>
          </a:xfrm>
          <a:custGeom>
            <a:avLst/>
            <a:gdLst/>
            <a:ahLst/>
            <a:cxnLst/>
            <a:rect r="r" b="b" t="t" l="l"/>
            <a:pathLst>
              <a:path h="1617378" w="1605248">
                <a:moveTo>
                  <a:pt x="0" y="0"/>
                </a:moveTo>
                <a:lnTo>
                  <a:pt x="1605248" y="0"/>
                </a:lnTo>
                <a:lnTo>
                  <a:pt x="1605248" y="1617379"/>
                </a:lnTo>
                <a:lnTo>
                  <a:pt x="0" y="16173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27581" y="6564734"/>
            <a:ext cx="1021635" cy="1681703"/>
          </a:xfrm>
          <a:custGeom>
            <a:avLst/>
            <a:gdLst/>
            <a:ahLst/>
            <a:cxnLst/>
            <a:rect r="r" b="b" t="t" l="l"/>
            <a:pathLst>
              <a:path h="1681703" w="1021635">
                <a:moveTo>
                  <a:pt x="0" y="0"/>
                </a:moveTo>
                <a:lnTo>
                  <a:pt x="1021635" y="0"/>
                </a:lnTo>
                <a:lnTo>
                  <a:pt x="1021635" y="1681704"/>
                </a:lnTo>
                <a:lnTo>
                  <a:pt x="0" y="1681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634761" y="4791712"/>
            <a:ext cx="2332970" cy="2436522"/>
          </a:xfrm>
          <a:custGeom>
            <a:avLst/>
            <a:gdLst/>
            <a:ahLst/>
            <a:cxnLst/>
            <a:rect r="r" b="b" t="t" l="l"/>
            <a:pathLst>
              <a:path h="2436522" w="2332970">
                <a:moveTo>
                  <a:pt x="0" y="0"/>
                </a:moveTo>
                <a:lnTo>
                  <a:pt x="2332970" y="0"/>
                </a:lnTo>
                <a:lnTo>
                  <a:pt x="2332970" y="2436522"/>
                </a:lnTo>
                <a:lnTo>
                  <a:pt x="0" y="24365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05490" y="5340186"/>
            <a:ext cx="1656650" cy="1656650"/>
          </a:xfrm>
          <a:custGeom>
            <a:avLst/>
            <a:gdLst/>
            <a:ahLst/>
            <a:cxnLst/>
            <a:rect r="r" b="b" t="t" l="l"/>
            <a:pathLst>
              <a:path h="1656650" w="1656650">
                <a:moveTo>
                  <a:pt x="0" y="0"/>
                </a:moveTo>
                <a:lnTo>
                  <a:pt x="1656649" y="0"/>
                </a:lnTo>
                <a:lnTo>
                  <a:pt x="1656649" y="1656650"/>
                </a:lnTo>
                <a:lnTo>
                  <a:pt x="0" y="16566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20359" y="5202682"/>
            <a:ext cx="2984610" cy="99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2"/>
              </a:lnSpc>
              <a:spcBef>
                <a:spcPct val="0"/>
              </a:spcBef>
            </a:pPr>
            <a:r>
              <a:rPr lang="en-US" b="true" sz="275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Capture / Upload 3-angle facial images</a:t>
            </a:r>
          </a:p>
        </p:txBody>
      </p:sp>
      <p:sp>
        <p:nvSpPr>
          <p:cNvPr name="Freeform 13" id="13"/>
          <p:cNvSpPr/>
          <p:nvPr/>
        </p:nvSpPr>
        <p:spPr>
          <a:xfrm>
            <a:off x="4903389" y="4462868"/>
            <a:ext cx="1731372" cy="1352979"/>
          </a:xfrm>
          <a:custGeom>
            <a:avLst/>
            <a:gdLst/>
            <a:ahLst/>
            <a:cxnLst/>
            <a:rect r="r" b="b" t="t" l="l"/>
            <a:pathLst>
              <a:path h="1352979" w="1731372">
                <a:moveTo>
                  <a:pt x="0" y="0"/>
                </a:moveTo>
                <a:lnTo>
                  <a:pt x="620614" y="0"/>
                </a:lnTo>
                <a:cubicBezTo>
                  <a:pt x="804732" y="0"/>
                  <a:pt x="953989" y="149257"/>
                  <a:pt x="953989" y="333375"/>
                </a:cubicBezTo>
                <a:lnTo>
                  <a:pt x="953989" y="1019604"/>
                </a:lnTo>
                <a:cubicBezTo>
                  <a:pt x="953989" y="1203722"/>
                  <a:pt x="1103246" y="1352979"/>
                  <a:pt x="1287364" y="1352979"/>
                </a:cubicBezTo>
                <a:lnTo>
                  <a:pt x="1731372" y="1352979"/>
                </a:lnTo>
              </a:path>
            </a:pathLst>
          </a:custGeom>
          <a:ln cap="flat" w="57150">
            <a:solidFill>
              <a:srgbClr val="12100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4" id="14"/>
          <p:cNvSpPr/>
          <p:nvPr/>
        </p:nvSpPr>
        <p:spPr>
          <a:xfrm>
            <a:off x="4903389" y="6442596"/>
            <a:ext cx="1731372" cy="1086956"/>
          </a:xfrm>
          <a:custGeom>
            <a:avLst/>
            <a:gdLst/>
            <a:ahLst/>
            <a:cxnLst/>
            <a:rect r="r" b="b" t="t" l="l"/>
            <a:pathLst>
              <a:path h="1086956" w="1731372">
                <a:moveTo>
                  <a:pt x="0" y="1086956"/>
                </a:moveTo>
                <a:lnTo>
                  <a:pt x="620614" y="1086956"/>
                </a:lnTo>
                <a:cubicBezTo>
                  <a:pt x="804732" y="1086956"/>
                  <a:pt x="953989" y="937699"/>
                  <a:pt x="953989" y="753581"/>
                </a:cubicBezTo>
                <a:lnTo>
                  <a:pt x="953989" y="333376"/>
                </a:lnTo>
                <a:cubicBezTo>
                  <a:pt x="953989" y="149257"/>
                  <a:pt x="1103246" y="0"/>
                  <a:pt x="1287364" y="0"/>
                </a:cubicBezTo>
                <a:lnTo>
                  <a:pt x="1731372" y="0"/>
                </a:lnTo>
              </a:path>
            </a:pathLst>
          </a:custGeom>
          <a:ln cap="flat" w="57150">
            <a:solidFill>
              <a:srgbClr val="12100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5" id="15"/>
          <p:cNvSpPr txBox="true"/>
          <p:nvPr/>
        </p:nvSpPr>
        <p:spPr>
          <a:xfrm rot="0">
            <a:off x="5959793" y="7274103"/>
            <a:ext cx="3548042" cy="89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42"/>
              </a:lnSpc>
              <a:spcBef>
                <a:spcPct val="0"/>
              </a:spcBef>
            </a:pPr>
            <a:r>
              <a:rPr lang="en-US" b="true" sz="2458" strike="noStrike" u="non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InsightFace 512-dimensional embeddings</a:t>
            </a:r>
          </a:p>
        </p:txBody>
      </p:sp>
      <p:sp>
        <p:nvSpPr>
          <p:cNvPr name="Freeform 16" id="16"/>
          <p:cNvSpPr/>
          <p:nvPr/>
        </p:nvSpPr>
        <p:spPr>
          <a:xfrm>
            <a:off x="8941939" y="4462868"/>
            <a:ext cx="1454786" cy="1187696"/>
          </a:xfrm>
          <a:custGeom>
            <a:avLst/>
            <a:gdLst/>
            <a:ahLst/>
            <a:cxnLst/>
            <a:rect r="r" b="b" t="t" l="l"/>
            <a:pathLst>
              <a:path h="1187696" w="1454786">
                <a:moveTo>
                  <a:pt x="0" y="1187696"/>
                </a:moveTo>
                <a:lnTo>
                  <a:pt x="318381" y="1187696"/>
                </a:lnTo>
                <a:cubicBezTo>
                  <a:pt x="494217" y="1187696"/>
                  <a:pt x="636761" y="1045153"/>
                  <a:pt x="636761" y="869316"/>
                </a:cubicBezTo>
                <a:lnTo>
                  <a:pt x="636761" y="333375"/>
                </a:lnTo>
                <a:cubicBezTo>
                  <a:pt x="636761" y="244959"/>
                  <a:pt x="671884" y="160163"/>
                  <a:pt x="734404" y="97644"/>
                </a:cubicBezTo>
                <a:cubicBezTo>
                  <a:pt x="796924" y="35124"/>
                  <a:pt x="881720" y="0"/>
                  <a:pt x="970136" y="0"/>
                </a:cubicBezTo>
                <a:lnTo>
                  <a:pt x="1454786" y="0"/>
                </a:lnTo>
              </a:path>
            </a:pathLst>
          </a:custGeom>
          <a:ln cap="flat" w="57150">
            <a:solidFill>
              <a:srgbClr val="12100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0492788" y="3257835"/>
            <a:ext cx="1549083" cy="1549083"/>
          </a:xfrm>
          <a:custGeom>
            <a:avLst/>
            <a:gdLst/>
            <a:ahLst/>
            <a:cxnLst/>
            <a:rect r="r" b="b" t="t" l="l"/>
            <a:pathLst>
              <a:path h="1549083" w="1549083">
                <a:moveTo>
                  <a:pt x="0" y="0"/>
                </a:moveTo>
                <a:lnTo>
                  <a:pt x="1549083" y="0"/>
                </a:lnTo>
                <a:lnTo>
                  <a:pt x="1549083" y="1549083"/>
                </a:lnTo>
                <a:lnTo>
                  <a:pt x="0" y="15490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>
            <a:off x="13010490" y="4167450"/>
            <a:ext cx="582271" cy="0"/>
          </a:xfrm>
          <a:custGeom>
            <a:avLst/>
            <a:gdLst/>
            <a:ahLst/>
            <a:cxnLst/>
            <a:rect r="r" b="b" t="t" l="l"/>
            <a:pathLst>
              <a:path h="0" w="582271">
                <a:moveTo>
                  <a:pt x="0" y="0"/>
                </a:moveTo>
                <a:lnTo>
                  <a:pt x="582271" y="0"/>
                </a:lnTo>
              </a:path>
            </a:pathLst>
          </a:custGeom>
          <a:ln cap="flat" w="57150">
            <a:solidFill>
              <a:srgbClr val="12100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4389633" y="3317941"/>
            <a:ext cx="1417331" cy="1417331"/>
          </a:xfrm>
          <a:custGeom>
            <a:avLst/>
            <a:gdLst/>
            <a:ahLst/>
            <a:cxnLst/>
            <a:rect r="r" b="b" t="t" l="l"/>
            <a:pathLst>
              <a:path h="1417331" w="1417331">
                <a:moveTo>
                  <a:pt x="0" y="0"/>
                </a:moveTo>
                <a:lnTo>
                  <a:pt x="1417330" y="0"/>
                </a:lnTo>
                <a:lnTo>
                  <a:pt x="1417330" y="1417331"/>
                </a:lnTo>
                <a:lnTo>
                  <a:pt x="0" y="141733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>
            <a:off x="8967731" y="6464047"/>
            <a:ext cx="1380965" cy="1065505"/>
          </a:xfrm>
          <a:custGeom>
            <a:avLst/>
            <a:gdLst/>
            <a:ahLst/>
            <a:cxnLst/>
            <a:rect r="r" b="b" t="t" l="l"/>
            <a:pathLst>
              <a:path h="1065505" w="1380965">
                <a:moveTo>
                  <a:pt x="0" y="0"/>
                </a:moveTo>
                <a:lnTo>
                  <a:pt x="305484" y="0"/>
                </a:lnTo>
                <a:cubicBezTo>
                  <a:pt x="386504" y="0"/>
                  <a:pt x="464205" y="32185"/>
                  <a:pt x="521494" y="89474"/>
                </a:cubicBezTo>
                <a:cubicBezTo>
                  <a:pt x="578784" y="146763"/>
                  <a:pt x="610969" y="224465"/>
                  <a:pt x="610969" y="305485"/>
                </a:cubicBezTo>
                <a:lnTo>
                  <a:pt x="610969" y="732130"/>
                </a:lnTo>
                <a:cubicBezTo>
                  <a:pt x="610969" y="916248"/>
                  <a:pt x="760226" y="1065505"/>
                  <a:pt x="944344" y="1065505"/>
                </a:cubicBezTo>
                <a:lnTo>
                  <a:pt x="1380964" y="1065505"/>
                </a:lnTo>
              </a:path>
            </a:pathLst>
          </a:custGeom>
          <a:ln cap="flat" w="57150">
            <a:solidFill>
              <a:srgbClr val="12100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0795104" y="6694304"/>
            <a:ext cx="1339114" cy="1428389"/>
          </a:xfrm>
          <a:custGeom>
            <a:avLst/>
            <a:gdLst/>
            <a:ahLst/>
            <a:cxnLst/>
            <a:rect r="r" b="b" t="t" l="l"/>
            <a:pathLst>
              <a:path h="1428389" w="1339114">
                <a:moveTo>
                  <a:pt x="0" y="0"/>
                </a:moveTo>
                <a:lnTo>
                  <a:pt x="1339114" y="0"/>
                </a:lnTo>
                <a:lnTo>
                  <a:pt x="1339114" y="1428388"/>
                </a:lnTo>
                <a:lnTo>
                  <a:pt x="0" y="142838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>
            <a:off x="13003966" y="7529552"/>
            <a:ext cx="582273" cy="0"/>
          </a:xfrm>
          <a:custGeom>
            <a:avLst/>
            <a:gdLst/>
            <a:ahLst/>
            <a:cxnLst/>
            <a:rect r="r" b="b" t="t" l="l"/>
            <a:pathLst>
              <a:path h="0" w="582273">
                <a:moveTo>
                  <a:pt x="0" y="0"/>
                </a:moveTo>
                <a:lnTo>
                  <a:pt x="582273" y="0"/>
                </a:lnTo>
              </a:path>
            </a:pathLst>
          </a:custGeom>
          <a:ln cap="flat" w="57150">
            <a:solidFill>
              <a:srgbClr val="12100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4081269" y="6564734"/>
            <a:ext cx="1734884" cy="1734161"/>
          </a:xfrm>
          <a:custGeom>
            <a:avLst/>
            <a:gdLst/>
            <a:ahLst/>
            <a:cxnLst/>
            <a:rect r="r" b="b" t="t" l="l"/>
            <a:pathLst>
              <a:path h="1734161" w="1734884">
                <a:moveTo>
                  <a:pt x="0" y="0"/>
                </a:moveTo>
                <a:lnTo>
                  <a:pt x="1734884" y="0"/>
                </a:lnTo>
                <a:lnTo>
                  <a:pt x="1734884" y="1734161"/>
                </a:lnTo>
                <a:lnTo>
                  <a:pt x="0" y="173416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413606" y="8258597"/>
            <a:ext cx="2668935" cy="99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62"/>
              </a:lnSpc>
              <a:spcBef>
                <a:spcPct val="0"/>
              </a:spcBef>
            </a:pPr>
            <a:r>
              <a:rPr lang="en-US" b="true" sz="2758" strike="noStrike" u="non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Capture / Upload a photo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94465" y="4798387"/>
            <a:ext cx="3366108" cy="99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62"/>
              </a:lnSpc>
              <a:spcBef>
                <a:spcPct val="0"/>
              </a:spcBef>
            </a:pPr>
            <a:r>
              <a:rPr lang="en-US" b="true" sz="2758" strike="noStrike" u="non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Encrypt thumbnails (AES-256-CBC +  IV)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43742" y="4798387"/>
            <a:ext cx="1342787" cy="99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62"/>
              </a:lnSpc>
              <a:spcBef>
                <a:spcPct val="0"/>
              </a:spcBef>
            </a:pPr>
            <a:r>
              <a:rPr lang="en-US" b="true" sz="2758" strike="noStrike" u="non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Saved to</a:t>
            </a:r>
          </a:p>
          <a:p>
            <a:pPr algn="ctr" marL="0" indent="0" lvl="0">
              <a:lnSpc>
                <a:spcPts val="3862"/>
              </a:lnSpc>
              <a:spcBef>
                <a:spcPct val="0"/>
              </a:spcBef>
            </a:pPr>
            <a:r>
              <a:rPr lang="en-US" b="true" sz="2758" strike="noStrike" u="non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DB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94465" y="8132138"/>
            <a:ext cx="3367081" cy="99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62"/>
              </a:lnSpc>
              <a:spcBef>
                <a:spcPct val="0"/>
              </a:spcBef>
            </a:pPr>
            <a:r>
              <a:rPr lang="en-US" b="true" sz="2758" strike="noStrike" u="non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Match against registered embeddings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89687" y="8184595"/>
            <a:ext cx="2837851" cy="99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62"/>
              </a:lnSpc>
              <a:spcBef>
                <a:spcPct val="0"/>
              </a:spcBef>
            </a:pPr>
            <a:r>
              <a:rPr lang="en-US" b="true" sz="2758" strike="noStrike" u="non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Person identified &amp; name announced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152027" y="4025759"/>
            <a:ext cx="3408898" cy="54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9F44A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Registration path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96796" y="8372879"/>
            <a:ext cx="3408898" cy="54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8"/>
              </a:lnSpc>
              <a:spcBef>
                <a:spcPct val="0"/>
              </a:spcBef>
            </a:pPr>
            <a:r>
              <a:rPr lang="en-US" b="true" sz="2906" strike="noStrike" u="none">
                <a:solidFill>
                  <a:srgbClr val="9F44A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Recognition path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08584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 strike="noStrike" u="non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Face Recognition Model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76656" y="3905684"/>
            <a:ext cx="8055305" cy="3725579"/>
          </a:xfrm>
          <a:custGeom>
            <a:avLst/>
            <a:gdLst/>
            <a:ahLst/>
            <a:cxnLst/>
            <a:rect r="r" b="b" t="t" l="l"/>
            <a:pathLst>
              <a:path h="3725579" w="8055305">
                <a:moveTo>
                  <a:pt x="0" y="0"/>
                </a:moveTo>
                <a:lnTo>
                  <a:pt x="8055305" y="0"/>
                </a:lnTo>
                <a:lnTo>
                  <a:pt x="8055305" y="3725578"/>
                </a:lnTo>
                <a:lnTo>
                  <a:pt x="0" y="37255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796692" y="6415308"/>
          <a:ext cx="16230600" cy="6308728"/>
        </p:xfrm>
        <a:graphic>
          <a:graphicData uri="http://schemas.openxmlformats.org/presentationml/2006/ole">
            <p:oleObj imgW="19469100" imgH="95504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502785" y="4124325"/>
            <a:ext cx="7048331" cy="215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4393"/>
              </a:lnSpc>
              <a:buFont typeface="Arial"/>
              <a:buChar char="•"/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540 identities | ~198,000 images</a:t>
            </a:r>
          </a:p>
          <a:p>
            <a:pPr algn="l" marL="496572" indent="-248286" lvl="1">
              <a:lnSpc>
                <a:spcPts val="4393"/>
              </a:lnSpc>
              <a:buFont typeface="Arial"/>
              <a:buChar char="•"/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Available on Kaggle</a:t>
            </a:r>
          </a:p>
          <a:p>
            <a:pPr algn="l" marL="496572" indent="-248286" lvl="1">
              <a:lnSpc>
                <a:spcPts val="4393"/>
              </a:lnSpc>
              <a:buFont typeface="Arial"/>
              <a:buChar char="•"/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Diverse: age, ethnicity, pose, lighting</a:t>
            </a:r>
          </a:p>
          <a:p>
            <a:pPr algn="l">
              <a:lnSpc>
                <a:spcPts val="439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02785" y="2174156"/>
            <a:ext cx="4971306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99578F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1. Data Collection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9894" y="3516429"/>
            <a:ext cx="399705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i="true" strike="noStrike" u="non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VGGFace2 Dataset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1367" y="850181"/>
            <a:ext cx="129946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Face Recognition Model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32871" y="4232242"/>
            <a:ext cx="2229878" cy="2229878"/>
          </a:xfrm>
          <a:custGeom>
            <a:avLst/>
            <a:gdLst/>
            <a:ahLst/>
            <a:cxnLst/>
            <a:rect r="r" b="b" t="t" l="l"/>
            <a:pathLst>
              <a:path h="2229878" w="2229878">
                <a:moveTo>
                  <a:pt x="0" y="0"/>
                </a:moveTo>
                <a:lnTo>
                  <a:pt x="2229878" y="0"/>
                </a:lnTo>
                <a:lnTo>
                  <a:pt x="2229878" y="2229879"/>
                </a:lnTo>
                <a:lnTo>
                  <a:pt x="0" y="22298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81844" y="5347182"/>
            <a:ext cx="1520002" cy="209000"/>
          </a:xfrm>
          <a:custGeom>
            <a:avLst/>
            <a:gdLst/>
            <a:ahLst/>
            <a:cxnLst/>
            <a:rect r="r" b="b" t="t" l="l"/>
            <a:pathLst>
              <a:path h="209000" w="1520002">
                <a:moveTo>
                  <a:pt x="0" y="0"/>
                </a:moveTo>
                <a:lnTo>
                  <a:pt x="1520002" y="0"/>
                </a:lnTo>
                <a:lnTo>
                  <a:pt x="1520002" y="209000"/>
                </a:lnTo>
                <a:lnTo>
                  <a:pt x="0" y="209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78625" y="5451682"/>
            <a:ext cx="1520002" cy="209000"/>
          </a:xfrm>
          <a:custGeom>
            <a:avLst/>
            <a:gdLst/>
            <a:ahLst/>
            <a:cxnLst/>
            <a:rect r="r" b="b" t="t" l="l"/>
            <a:pathLst>
              <a:path h="209000" w="1520002">
                <a:moveTo>
                  <a:pt x="0" y="0"/>
                </a:moveTo>
                <a:lnTo>
                  <a:pt x="1520002" y="0"/>
                </a:lnTo>
                <a:lnTo>
                  <a:pt x="1520002" y="209000"/>
                </a:lnTo>
                <a:lnTo>
                  <a:pt x="0" y="209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447819" y="5451682"/>
            <a:ext cx="1420507" cy="195320"/>
          </a:xfrm>
          <a:custGeom>
            <a:avLst/>
            <a:gdLst/>
            <a:ahLst/>
            <a:cxnLst/>
            <a:rect r="r" b="b" t="t" l="l"/>
            <a:pathLst>
              <a:path h="195320" w="1420507">
                <a:moveTo>
                  <a:pt x="0" y="0"/>
                </a:moveTo>
                <a:lnTo>
                  <a:pt x="1420508" y="0"/>
                </a:lnTo>
                <a:lnTo>
                  <a:pt x="1420508" y="195319"/>
                </a:lnTo>
                <a:lnTo>
                  <a:pt x="0" y="1953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335713" y="9088434"/>
            <a:ext cx="9616575" cy="642488"/>
            <a:chOff x="0" y="0"/>
            <a:chExt cx="2237413" cy="1494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37413" cy="149483"/>
            </a:xfrm>
            <a:custGeom>
              <a:avLst/>
              <a:gdLst/>
              <a:ahLst/>
              <a:cxnLst/>
              <a:rect r="r" b="b" t="t" l="l"/>
              <a:pathLst>
                <a:path h="149483" w="2237413">
                  <a:moveTo>
                    <a:pt x="8051" y="0"/>
                  </a:moveTo>
                  <a:lnTo>
                    <a:pt x="2229363" y="0"/>
                  </a:lnTo>
                  <a:cubicBezTo>
                    <a:pt x="2233809" y="0"/>
                    <a:pt x="2237413" y="3604"/>
                    <a:pt x="2237413" y="8051"/>
                  </a:cubicBezTo>
                  <a:lnTo>
                    <a:pt x="2237413" y="141432"/>
                  </a:lnTo>
                  <a:cubicBezTo>
                    <a:pt x="2237413" y="145878"/>
                    <a:pt x="2233809" y="149483"/>
                    <a:pt x="2229363" y="149483"/>
                  </a:cubicBezTo>
                  <a:lnTo>
                    <a:pt x="8051" y="149483"/>
                  </a:lnTo>
                  <a:cubicBezTo>
                    <a:pt x="3604" y="149483"/>
                    <a:pt x="0" y="145878"/>
                    <a:pt x="0" y="141432"/>
                  </a:cubicBezTo>
                  <a:lnTo>
                    <a:pt x="0" y="8051"/>
                  </a:lnTo>
                  <a:cubicBezTo>
                    <a:pt x="0" y="3604"/>
                    <a:pt x="3604" y="0"/>
                    <a:pt x="8051" y="0"/>
                  </a:cubicBezTo>
                  <a:close/>
                </a:path>
              </a:pathLst>
            </a:custGeom>
            <a:solidFill>
              <a:srgbClr val="99578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37413" cy="187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11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FINAL DATASET: 3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2,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400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 TOTAL IMAGES | 540 CLASSES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308997" y="4478948"/>
            <a:ext cx="1791766" cy="1675301"/>
          </a:xfrm>
          <a:custGeom>
            <a:avLst/>
            <a:gdLst/>
            <a:ahLst/>
            <a:cxnLst/>
            <a:rect r="r" b="b" t="t" l="l"/>
            <a:pathLst>
              <a:path h="1675301" w="1791766">
                <a:moveTo>
                  <a:pt x="0" y="0"/>
                </a:moveTo>
                <a:lnTo>
                  <a:pt x="1791766" y="0"/>
                </a:lnTo>
                <a:lnTo>
                  <a:pt x="1791766" y="1675301"/>
                </a:lnTo>
                <a:lnTo>
                  <a:pt x="0" y="16753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59172" y="4263991"/>
            <a:ext cx="2238478" cy="2238478"/>
          </a:xfrm>
          <a:custGeom>
            <a:avLst/>
            <a:gdLst/>
            <a:ahLst/>
            <a:cxnLst/>
            <a:rect r="r" b="b" t="t" l="l"/>
            <a:pathLst>
              <a:path h="2238478" w="2238478">
                <a:moveTo>
                  <a:pt x="0" y="0"/>
                </a:moveTo>
                <a:lnTo>
                  <a:pt x="2238478" y="0"/>
                </a:lnTo>
                <a:lnTo>
                  <a:pt x="2238478" y="2238478"/>
                </a:lnTo>
                <a:lnTo>
                  <a:pt x="0" y="22384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084352" y="4360436"/>
            <a:ext cx="2182492" cy="2182492"/>
          </a:xfrm>
          <a:custGeom>
            <a:avLst/>
            <a:gdLst/>
            <a:ahLst/>
            <a:cxnLst/>
            <a:rect r="r" b="b" t="t" l="l"/>
            <a:pathLst>
              <a:path h="2182492" w="2182492">
                <a:moveTo>
                  <a:pt x="0" y="0"/>
                </a:moveTo>
                <a:lnTo>
                  <a:pt x="2182492" y="0"/>
                </a:lnTo>
                <a:lnTo>
                  <a:pt x="2182492" y="2182492"/>
                </a:lnTo>
                <a:lnTo>
                  <a:pt x="0" y="21824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35379" y="2174156"/>
            <a:ext cx="614556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99578F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2. Data Preprocessing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20847" y="6524767"/>
            <a:ext cx="3938453" cy="96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9"/>
              </a:lnSpc>
            </a:pPr>
            <a:r>
              <a:rPr lang="en-US" sz="2300" i="true">
                <a:solidFill>
                  <a:srgbClr val="1A1A1A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80% tra</a:t>
            </a:r>
            <a:r>
              <a:rPr lang="en-US" sz="2300" i="true">
                <a:solidFill>
                  <a:srgbClr val="1A1A1A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in (25,920 images)</a:t>
            </a:r>
          </a:p>
          <a:p>
            <a:pPr algn="ctr">
              <a:lnSpc>
                <a:spcPts val="3979"/>
              </a:lnSpc>
            </a:pPr>
            <a:r>
              <a:rPr lang="en-US" sz="2300" i="true">
                <a:solidFill>
                  <a:srgbClr val="1A1A1A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20% test (6,480 images)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8617" y="3336034"/>
            <a:ext cx="3435927" cy="45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  <a:spcBef>
                <a:spcPct val="0"/>
              </a:spcBef>
            </a:pPr>
            <a:r>
              <a:rPr lang="en-US" b="true" sz="2617" i="true">
                <a:solidFill>
                  <a:srgbClr val="00000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Duplicate Detection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46019" y="3336034"/>
            <a:ext cx="2936514" cy="45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  <a:spcBef>
                <a:spcPct val="0"/>
              </a:spcBef>
            </a:pPr>
            <a:r>
              <a:rPr lang="en-US" b="true" sz="2617" i="true">
                <a:solidFill>
                  <a:srgbClr val="00000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Image Collection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50220" y="3336034"/>
            <a:ext cx="2435572" cy="45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  <a:spcBef>
                <a:spcPct val="0"/>
              </a:spcBef>
            </a:pPr>
            <a:r>
              <a:rPr lang="en-US" b="true" sz="2617" i="true">
                <a:solidFill>
                  <a:srgbClr val="00000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Data cleaning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34018" y="6554352"/>
            <a:ext cx="3227584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Removed duplicates files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45664" y="6558205"/>
            <a:ext cx="3299381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Se</a:t>
            </a: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lected 60 images per person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26096" y="6591442"/>
            <a:ext cx="3130312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Remove corrupted files Standardize to RGB &amp; JPEG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63064" y="3321725"/>
            <a:ext cx="2714192" cy="45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  <a:spcBef>
                <a:spcPct val="0"/>
              </a:spcBef>
            </a:pPr>
            <a:r>
              <a:rPr lang="en-US" b="true" sz="2617" i="true">
                <a:solidFill>
                  <a:srgbClr val="00000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Train-Test Split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858802" y="4304339"/>
            <a:ext cx="2122718" cy="2157782"/>
          </a:xfrm>
          <a:custGeom>
            <a:avLst/>
            <a:gdLst/>
            <a:ahLst/>
            <a:cxnLst/>
            <a:rect r="r" b="b" t="t" l="l"/>
            <a:pathLst>
              <a:path h="2157782" w="2122718">
                <a:moveTo>
                  <a:pt x="0" y="0"/>
                </a:moveTo>
                <a:lnTo>
                  <a:pt x="2122717" y="0"/>
                </a:lnTo>
                <a:lnTo>
                  <a:pt x="2122717" y="2157782"/>
                </a:lnTo>
                <a:lnTo>
                  <a:pt x="0" y="215778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08584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Face Recognition Model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58922" y="4609002"/>
            <a:ext cx="1922937" cy="1922937"/>
          </a:xfrm>
          <a:custGeom>
            <a:avLst/>
            <a:gdLst/>
            <a:ahLst/>
            <a:cxnLst/>
            <a:rect r="r" b="b" t="t" l="l"/>
            <a:pathLst>
              <a:path h="1922937" w="1922937">
                <a:moveTo>
                  <a:pt x="0" y="0"/>
                </a:moveTo>
                <a:lnTo>
                  <a:pt x="1922936" y="0"/>
                </a:lnTo>
                <a:lnTo>
                  <a:pt x="1922936" y="1922937"/>
                </a:lnTo>
                <a:lnTo>
                  <a:pt x="0" y="19229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91213" y="5406274"/>
            <a:ext cx="1226938" cy="168704"/>
          </a:xfrm>
          <a:custGeom>
            <a:avLst/>
            <a:gdLst/>
            <a:ahLst/>
            <a:cxnLst/>
            <a:rect r="r" b="b" t="t" l="l"/>
            <a:pathLst>
              <a:path h="168704" w="1226938">
                <a:moveTo>
                  <a:pt x="0" y="0"/>
                </a:moveTo>
                <a:lnTo>
                  <a:pt x="1226938" y="0"/>
                </a:lnTo>
                <a:lnTo>
                  <a:pt x="1226938" y="168703"/>
                </a:lnTo>
                <a:lnTo>
                  <a:pt x="0" y="168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40011" y="4383004"/>
            <a:ext cx="2617388" cy="2617388"/>
            <a:chOff x="0" y="0"/>
            <a:chExt cx="3489851" cy="3489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89851" cy="3489851"/>
            </a:xfrm>
            <a:custGeom>
              <a:avLst/>
              <a:gdLst/>
              <a:ahLst/>
              <a:cxnLst/>
              <a:rect r="r" b="b" t="t" l="l"/>
              <a:pathLst>
                <a:path h="3489851" w="3489851">
                  <a:moveTo>
                    <a:pt x="0" y="0"/>
                  </a:moveTo>
                  <a:lnTo>
                    <a:pt x="3489851" y="0"/>
                  </a:lnTo>
                  <a:lnTo>
                    <a:pt x="3489851" y="3489851"/>
                  </a:lnTo>
                  <a:lnTo>
                    <a:pt x="0" y="3489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95191" y="2715688"/>
              <a:ext cx="3036207" cy="467009"/>
              <a:chOff x="0" y="0"/>
              <a:chExt cx="569506" cy="8759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69506" cy="87598"/>
              </a:xfrm>
              <a:custGeom>
                <a:avLst/>
                <a:gdLst/>
                <a:ahLst/>
                <a:cxnLst/>
                <a:rect r="r" b="b" t="t" l="l"/>
                <a:pathLst>
                  <a:path h="87598" w="569506">
                    <a:moveTo>
                      <a:pt x="43799" y="0"/>
                    </a:moveTo>
                    <a:lnTo>
                      <a:pt x="525707" y="0"/>
                    </a:lnTo>
                    <a:cubicBezTo>
                      <a:pt x="537324" y="0"/>
                      <a:pt x="548464" y="4615"/>
                      <a:pt x="556678" y="12828"/>
                    </a:cubicBezTo>
                    <a:cubicBezTo>
                      <a:pt x="564892" y="21042"/>
                      <a:pt x="569506" y="32183"/>
                      <a:pt x="569506" y="43799"/>
                    </a:cubicBezTo>
                    <a:lnTo>
                      <a:pt x="569506" y="43799"/>
                    </a:lnTo>
                    <a:cubicBezTo>
                      <a:pt x="569506" y="55415"/>
                      <a:pt x="564892" y="66555"/>
                      <a:pt x="556678" y="74769"/>
                    </a:cubicBezTo>
                    <a:cubicBezTo>
                      <a:pt x="548464" y="82983"/>
                      <a:pt x="537324" y="87598"/>
                      <a:pt x="525707" y="87598"/>
                    </a:cubicBezTo>
                    <a:lnTo>
                      <a:pt x="43799" y="87598"/>
                    </a:lnTo>
                    <a:cubicBezTo>
                      <a:pt x="32183" y="87598"/>
                      <a:pt x="21042" y="82983"/>
                      <a:pt x="12828" y="74769"/>
                    </a:cubicBezTo>
                    <a:cubicBezTo>
                      <a:pt x="4615" y="66555"/>
                      <a:pt x="0" y="55415"/>
                      <a:pt x="0" y="43799"/>
                    </a:cubicBezTo>
                    <a:lnTo>
                      <a:pt x="0" y="43799"/>
                    </a:lnTo>
                    <a:cubicBezTo>
                      <a:pt x="0" y="32183"/>
                      <a:pt x="4615" y="21042"/>
                      <a:pt x="12828" y="12828"/>
                    </a:cubicBezTo>
                    <a:cubicBezTo>
                      <a:pt x="21042" y="4615"/>
                      <a:pt x="32183" y="0"/>
                      <a:pt x="43799" y="0"/>
                    </a:cubicBezTo>
                    <a:close/>
                  </a:path>
                </a:pathLst>
              </a:custGeom>
              <a:solidFill>
                <a:srgbClr val="FEFEFE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52400"/>
                <a:ext cx="569506" cy="2399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393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12784753" y="4227789"/>
            <a:ext cx="3447918" cy="2356969"/>
          </a:xfrm>
          <a:custGeom>
            <a:avLst/>
            <a:gdLst/>
            <a:ahLst/>
            <a:cxnLst/>
            <a:rect r="r" b="b" t="t" l="l"/>
            <a:pathLst>
              <a:path h="2356969" w="3447918">
                <a:moveTo>
                  <a:pt x="0" y="0"/>
                </a:moveTo>
                <a:lnTo>
                  <a:pt x="3447918" y="0"/>
                </a:lnTo>
                <a:lnTo>
                  <a:pt x="3447918" y="2356969"/>
                </a:lnTo>
                <a:lnTo>
                  <a:pt x="0" y="23569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4628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69654" y="5406274"/>
            <a:ext cx="1226938" cy="168704"/>
          </a:xfrm>
          <a:custGeom>
            <a:avLst/>
            <a:gdLst/>
            <a:ahLst/>
            <a:cxnLst/>
            <a:rect r="r" b="b" t="t" l="l"/>
            <a:pathLst>
              <a:path h="168704" w="1226938">
                <a:moveTo>
                  <a:pt x="0" y="0"/>
                </a:moveTo>
                <a:lnTo>
                  <a:pt x="1226938" y="0"/>
                </a:lnTo>
                <a:lnTo>
                  <a:pt x="1226938" y="168703"/>
                </a:lnTo>
                <a:lnTo>
                  <a:pt x="0" y="168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736341" y="9007236"/>
            <a:ext cx="11088407" cy="540535"/>
            <a:chOff x="0" y="0"/>
            <a:chExt cx="2579853" cy="1257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79853" cy="125762"/>
            </a:xfrm>
            <a:custGeom>
              <a:avLst/>
              <a:gdLst/>
              <a:ahLst/>
              <a:cxnLst/>
              <a:rect r="r" b="b" t="t" l="l"/>
              <a:pathLst>
                <a:path h="125762" w="2579853">
                  <a:moveTo>
                    <a:pt x="6982" y="0"/>
                  </a:moveTo>
                  <a:lnTo>
                    <a:pt x="2572871" y="0"/>
                  </a:lnTo>
                  <a:cubicBezTo>
                    <a:pt x="2574723" y="0"/>
                    <a:pt x="2576499" y="736"/>
                    <a:pt x="2577808" y="2045"/>
                  </a:cubicBezTo>
                  <a:cubicBezTo>
                    <a:pt x="2579117" y="3354"/>
                    <a:pt x="2579853" y="5130"/>
                    <a:pt x="2579853" y="6982"/>
                  </a:cubicBezTo>
                  <a:lnTo>
                    <a:pt x="2579853" y="118780"/>
                  </a:lnTo>
                  <a:cubicBezTo>
                    <a:pt x="2579853" y="120632"/>
                    <a:pt x="2579117" y="122408"/>
                    <a:pt x="2577808" y="123717"/>
                  </a:cubicBezTo>
                  <a:cubicBezTo>
                    <a:pt x="2576499" y="125026"/>
                    <a:pt x="2574723" y="125762"/>
                    <a:pt x="2572871" y="125762"/>
                  </a:cubicBezTo>
                  <a:lnTo>
                    <a:pt x="6982" y="125762"/>
                  </a:lnTo>
                  <a:cubicBezTo>
                    <a:pt x="5130" y="125762"/>
                    <a:pt x="3354" y="125026"/>
                    <a:pt x="2045" y="123717"/>
                  </a:cubicBezTo>
                  <a:cubicBezTo>
                    <a:pt x="736" y="122408"/>
                    <a:pt x="0" y="120632"/>
                    <a:pt x="0" y="118780"/>
                  </a:cubicBezTo>
                  <a:lnTo>
                    <a:pt x="0" y="6982"/>
                  </a:lnTo>
                  <a:cubicBezTo>
                    <a:pt x="0" y="5130"/>
                    <a:pt x="736" y="3354"/>
                    <a:pt x="2045" y="2045"/>
                  </a:cubicBezTo>
                  <a:cubicBezTo>
                    <a:pt x="3354" y="736"/>
                    <a:pt x="5130" y="0"/>
                    <a:pt x="6982" y="0"/>
                  </a:cubicBezTo>
                  <a:close/>
                </a:path>
              </a:pathLst>
            </a:custGeom>
            <a:solidFill>
              <a:srgbClr val="99578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79853" cy="163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i="true" spc="311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RESULT: 5</a:t>
              </a:r>
              <a:r>
                <a:rPr lang="en-US" b="true" sz="1999" i="true" spc="311" strike="noStrike" u="none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1</a:t>
              </a:r>
              <a:r>
                <a:rPr lang="en-US" b="true" sz="1999" i="true" spc="311" strike="noStrike" u="none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2-D</a:t>
              </a:r>
              <a:r>
                <a:rPr lang="en-US" b="true" sz="1999" i="true" spc="311" strike="noStrike" u="none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 </a:t>
              </a:r>
              <a:r>
                <a:rPr lang="en-US" b="true" sz="1999" i="true" spc="311" strike="noStrike" u="none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FE</a:t>
              </a:r>
              <a:r>
                <a:rPr lang="en-US" b="true" sz="1999" i="true" spc="311" strike="noStrike" u="none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AT</a:t>
              </a:r>
              <a:r>
                <a:rPr lang="en-US" b="true" sz="1999" i="true" spc="311" strike="noStrike" u="none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URE</a:t>
              </a:r>
              <a:r>
                <a:rPr lang="en-US" b="true" sz="1999" i="true" spc="311" strike="noStrike" u="none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 </a:t>
              </a:r>
              <a:r>
                <a:rPr lang="en-US" b="true" sz="1999" i="true" spc="311" strike="noStrike" u="none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V</a:t>
              </a:r>
              <a:r>
                <a:rPr lang="en-US" b="true" sz="1999" i="true" spc="311" strike="noStrike" u="none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ECT</a:t>
              </a:r>
              <a:r>
                <a:rPr lang="en-US" b="true" sz="1999" i="true" spc="311" strike="noStrike" u="none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ORS REPRESENT</a:t>
              </a:r>
              <a:r>
                <a:rPr lang="en-US" b="true" sz="1999" i="true" spc="311" strike="noStrike" u="none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IN</a:t>
              </a:r>
              <a:r>
                <a:rPr lang="en-US" b="true" sz="1999" i="true" spc="311" strike="noStrike" u="none">
                  <a:solidFill>
                    <a:srgbClr val="FFFFFF"/>
                  </a:solidFill>
                  <a:latin typeface="Georgia Pro Bold Italics"/>
                  <a:ea typeface="Georgia Pro Bold Italics"/>
                  <a:cs typeface="Georgia Pro Bold Italics"/>
                  <a:sym typeface="Georgia Pro Bold Italics"/>
                </a:rPr>
                <a:t>G EACH FACE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76859" y="4009349"/>
            <a:ext cx="478559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82261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Face Detection (SCRFD)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73211" y="6670307"/>
            <a:ext cx="4389239" cy="91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4" indent="-215902" lvl="1">
              <a:lnSpc>
                <a:spcPts val="3820"/>
              </a:lnSpc>
              <a:buFont typeface="Arial"/>
              <a:buChar char="•"/>
            </a:pPr>
            <a:r>
              <a:rPr lang="en-US" sz="20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Detec</a:t>
            </a:r>
            <a:r>
              <a:rPr lang="en-US" sz="20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ts faces in 224×224 images</a:t>
            </a:r>
          </a:p>
          <a:p>
            <a:pPr algn="l" marL="431804" indent="-215902" lvl="1">
              <a:lnSpc>
                <a:spcPts val="3820"/>
              </a:lnSpc>
              <a:buFont typeface="Arial"/>
              <a:buChar char="•"/>
            </a:pPr>
            <a:r>
              <a:rPr lang="en-US" sz="20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Identifies 5 key landmarks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0502" y="2174156"/>
            <a:ext cx="1126745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99578F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3. Feature extraction using InsightFace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22183" y="3659739"/>
            <a:ext cx="4347471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i="true" strike="noStrike" u="none">
                <a:solidFill>
                  <a:srgbClr val="691C61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Stage 2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i="true" strike="noStrike" u="none">
                <a:solidFill>
                  <a:srgbClr val="691C61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Face Alignment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31594" y="6670307"/>
            <a:ext cx="2970156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9"/>
              </a:lnSpc>
            </a:pPr>
            <a:r>
              <a:rPr lang="en-US" sz="19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N</a:t>
            </a:r>
            <a:r>
              <a:rPr lang="en-US" sz="19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ormalizes to 112×112 format using landmarks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14626" y="6717932"/>
            <a:ext cx="3514513" cy="1649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3359"/>
              </a:lnSpc>
              <a:buFont typeface="Arial"/>
              <a:buChar char="•"/>
            </a:pPr>
            <a:r>
              <a:rPr lang="en-US" sz="19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Generate</a:t>
            </a:r>
            <a:r>
              <a:rPr lang="en-US" sz="19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s 512-dimensional vectors</a:t>
            </a:r>
          </a:p>
          <a:p>
            <a:pPr algn="l" marL="431799" indent="-215899" lvl="1">
              <a:lnSpc>
                <a:spcPts val="3359"/>
              </a:lnSpc>
              <a:buFont typeface="Arial"/>
              <a:buChar char="•"/>
            </a:pPr>
            <a:r>
              <a:rPr lang="en-US" sz="19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L2-normalized for similarity comparison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40323" y="3628307"/>
            <a:ext cx="1849663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 i="true">
                <a:solidFill>
                  <a:srgbClr val="691C61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Stage 1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83302" y="3628307"/>
            <a:ext cx="505082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i="true" strike="noStrike" u="none">
                <a:solidFill>
                  <a:srgbClr val="691C61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Stage 3</a:t>
            </a:r>
          </a:p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 i="true" strike="noStrike" u="none">
                <a:solidFill>
                  <a:srgbClr val="691C61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Embedding Generation 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08584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Face Recognition Model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0502" y="2170780"/>
            <a:ext cx="8512076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99578F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4.Model Training &amp; Validation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1281" y="3860800"/>
            <a:ext cx="351228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Classifiers Trained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1954" y="4547130"/>
            <a:ext cx="6681676" cy="175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4775"/>
              </a:lnSpc>
              <a:buFont typeface="Arial"/>
              <a:buChar char="•"/>
            </a:pPr>
            <a:r>
              <a:rPr lang="en-US" sz="25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SVM</a:t>
            </a:r>
            <a:r>
              <a:rPr lang="en-US" sz="25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(Linear)</a:t>
            </a:r>
          </a:p>
          <a:p>
            <a:pPr algn="l" marL="539751" indent="-269876" lvl="1">
              <a:lnSpc>
                <a:spcPts val="4775"/>
              </a:lnSpc>
              <a:buFont typeface="Arial"/>
              <a:buChar char="•"/>
            </a:pPr>
            <a:r>
              <a:rPr lang="en-US" sz="25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Logistic Regression</a:t>
            </a:r>
          </a:p>
          <a:p>
            <a:pPr algn="l" marL="539751" indent="-269876" lvl="1">
              <a:lnSpc>
                <a:spcPts val="4775"/>
              </a:lnSpc>
              <a:buFont typeface="Arial"/>
              <a:buChar char="•"/>
            </a:pPr>
            <a:r>
              <a:rPr lang="en-US" sz="25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SVM (RBF)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97837" y="3860800"/>
            <a:ext cx="2945011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Cross-Validation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97837" y="4473575"/>
            <a:ext cx="5608140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5"/>
              </a:lnSpc>
            </a:pPr>
            <a:r>
              <a:rPr lang="en-US" sz="25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5-Fold Stratified CV on training</a:t>
            </a:r>
            <a:r>
              <a:rPr lang="en-US" sz="25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set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89857" y="4533501"/>
            <a:ext cx="8634692" cy="5802741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08584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Face Recognition Model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1806229" y="5737225"/>
          <a:ext cx="9429750" cy="2514600"/>
        </p:xfrm>
        <a:graphic>
          <a:graphicData uri="http://schemas.openxmlformats.org/presentationml/2006/ole">
            <p:oleObj imgW="11315700" imgH="4394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806229" y="3045164"/>
            <a:ext cx="139496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</a:t>
            </a:r>
            <a:r>
              <a:rPr lang="en-US" b="true" sz="25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est Set: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0923" y="2174156"/>
            <a:ext cx="770587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99578F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5.Model testing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7832" y="3686514"/>
            <a:ext cx="7852867" cy="1049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4393"/>
              </a:lnSpc>
              <a:buFont typeface="Arial"/>
              <a:buChar char="•"/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6,436 </a:t>
            </a: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samples (never seen during training/validation)</a:t>
            </a:r>
          </a:p>
          <a:p>
            <a:pPr algn="l" marL="496572" indent="-248286" lvl="1">
              <a:lnSpc>
                <a:spcPts val="4393"/>
              </a:lnSpc>
              <a:buFont typeface="Arial"/>
              <a:buChar char="•"/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Final evaluation on held-out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6229" y="5076825"/>
            <a:ext cx="217958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</a:t>
            </a:r>
            <a:r>
              <a:rPr lang="en-US" b="true" sz="25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est Results: 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29946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Currency Recognition Model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98052" y="3068085"/>
            <a:ext cx="2561248" cy="2253323"/>
          </a:xfrm>
          <a:custGeom>
            <a:avLst/>
            <a:gdLst/>
            <a:ahLst/>
            <a:cxnLst/>
            <a:rect r="r" b="b" t="t" l="l"/>
            <a:pathLst>
              <a:path h="2253323" w="2561248">
                <a:moveTo>
                  <a:pt x="0" y="0"/>
                </a:moveTo>
                <a:lnTo>
                  <a:pt x="2561248" y="0"/>
                </a:lnTo>
                <a:lnTo>
                  <a:pt x="2561248" y="2253323"/>
                </a:lnTo>
                <a:lnTo>
                  <a:pt x="0" y="22533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0005" t="-90393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8786279" y="7329200"/>
            <a:ext cx="1428197" cy="2207970"/>
          </a:xfrm>
          <a:custGeom>
            <a:avLst/>
            <a:gdLst/>
            <a:ahLst/>
            <a:cxnLst/>
            <a:rect r="r" b="b" t="t" l="l"/>
            <a:pathLst>
              <a:path h="2207970" w="1428197">
                <a:moveTo>
                  <a:pt x="0" y="0"/>
                </a:moveTo>
                <a:lnTo>
                  <a:pt x="1428197" y="0"/>
                </a:lnTo>
                <a:lnTo>
                  <a:pt x="1428197" y="2207970"/>
                </a:lnTo>
                <a:lnTo>
                  <a:pt x="0" y="2207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7857" t="-39704" r="-119372" b="-1589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94548" y="7435368"/>
            <a:ext cx="2217371" cy="1995634"/>
          </a:xfrm>
          <a:custGeom>
            <a:avLst/>
            <a:gdLst/>
            <a:ahLst/>
            <a:cxnLst/>
            <a:rect r="r" b="b" t="t" l="l"/>
            <a:pathLst>
              <a:path h="1995634" w="2217371">
                <a:moveTo>
                  <a:pt x="0" y="0"/>
                </a:moveTo>
                <a:lnTo>
                  <a:pt x="2217371" y="0"/>
                </a:lnTo>
                <a:lnTo>
                  <a:pt x="2217371" y="1995634"/>
                </a:lnTo>
                <a:lnTo>
                  <a:pt x="0" y="19956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29187" y="7432270"/>
            <a:ext cx="1998732" cy="1998732"/>
          </a:xfrm>
          <a:custGeom>
            <a:avLst/>
            <a:gdLst/>
            <a:ahLst/>
            <a:cxnLst/>
            <a:rect r="r" b="b" t="t" l="l"/>
            <a:pathLst>
              <a:path h="1998732" w="1998732">
                <a:moveTo>
                  <a:pt x="0" y="0"/>
                </a:moveTo>
                <a:lnTo>
                  <a:pt x="1998732" y="0"/>
                </a:lnTo>
                <a:lnTo>
                  <a:pt x="1998732" y="1998732"/>
                </a:lnTo>
                <a:lnTo>
                  <a:pt x="0" y="19987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87488" y="3079547"/>
            <a:ext cx="1553594" cy="2253323"/>
          </a:xfrm>
          <a:custGeom>
            <a:avLst/>
            <a:gdLst/>
            <a:ahLst/>
            <a:cxnLst/>
            <a:rect r="r" b="b" t="t" l="l"/>
            <a:pathLst>
              <a:path h="2253323" w="1553594">
                <a:moveTo>
                  <a:pt x="0" y="0"/>
                </a:moveTo>
                <a:lnTo>
                  <a:pt x="1553594" y="0"/>
                </a:lnTo>
                <a:lnTo>
                  <a:pt x="1553594" y="2253323"/>
                </a:lnTo>
                <a:lnTo>
                  <a:pt x="0" y="22533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84029" b="-9963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41082" y="3079547"/>
            <a:ext cx="1616173" cy="2253323"/>
          </a:xfrm>
          <a:custGeom>
            <a:avLst/>
            <a:gdLst/>
            <a:ahLst/>
            <a:cxnLst/>
            <a:rect r="r" b="b" t="t" l="l"/>
            <a:pathLst>
              <a:path h="2253323" w="1616173">
                <a:moveTo>
                  <a:pt x="0" y="0"/>
                </a:moveTo>
                <a:lnTo>
                  <a:pt x="1616173" y="0"/>
                </a:lnTo>
                <a:lnTo>
                  <a:pt x="1616173" y="2253323"/>
                </a:lnTo>
                <a:lnTo>
                  <a:pt x="0" y="22533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9630" t="0" r="-195657" b="-99637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330778" y="3079547"/>
            <a:ext cx="1496485" cy="2253323"/>
          </a:xfrm>
          <a:custGeom>
            <a:avLst/>
            <a:gdLst/>
            <a:ahLst/>
            <a:cxnLst/>
            <a:rect r="r" b="b" t="t" l="l"/>
            <a:pathLst>
              <a:path h="2253323" w="1496485">
                <a:moveTo>
                  <a:pt x="0" y="0"/>
                </a:moveTo>
                <a:lnTo>
                  <a:pt x="1496485" y="0"/>
                </a:lnTo>
                <a:lnTo>
                  <a:pt x="1496485" y="2253323"/>
                </a:lnTo>
                <a:lnTo>
                  <a:pt x="0" y="22533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1932" t="0" r="-40568" b="-9963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278861" y="3079547"/>
            <a:ext cx="1396267" cy="2253323"/>
          </a:xfrm>
          <a:custGeom>
            <a:avLst/>
            <a:gdLst/>
            <a:ahLst/>
            <a:cxnLst/>
            <a:rect r="r" b="b" t="t" l="l"/>
            <a:pathLst>
              <a:path h="2253323" w="1396267">
                <a:moveTo>
                  <a:pt x="0" y="0"/>
                </a:moveTo>
                <a:lnTo>
                  <a:pt x="1396266" y="0"/>
                </a:lnTo>
                <a:lnTo>
                  <a:pt x="1396266" y="2253323"/>
                </a:lnTo>
                <a:lnTo>
                  <a:pt x="0" y="22533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7590" t="-90393" r="-226039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50188" y="3068085"/>
            <a:ext cx="1405747" cy="2253323"/>
          </a:xfrm>
          <a:custGeom>
            <a:avLst/>
            <a:gdLst/>
            <a:ahLst/>
            <a:cxnLst/>
            <a:rect r="r" b="b" t="t" l="l"/>
            <a:pathLst>
              <a:path h="2253323" w="1405747">
                <a:moveTo>
                  <a:pt x="0" y="0"/>
                </a:moveTo>
                <a:lnTo>
                  <a:pt x="1405747" y="0"/>
                </a:lnTo>
                <a:lnTo>
                  <a:pt x="1405747" y="2253323"/>
                </a:lnTo>
                <a:lnTo>
                  <a:pt x="0" y="22533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261" t="-90393" r="-406904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396393" y="7719086"/>
            <a:ext cx="2207970" cy="1428197"/>
            <a:chOff x="0" y="0"/>
            <a:chExt cx="581523" cy="3761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1523" cy="376151"/>
            </a:xfrm>
            <a:custGeom>
              <a:avLst/>
              <a:gdLst/>
              <a:ahLst/>
              <a:cxnLst/>
              <a:rect r="r" b="b" t="t" l="l"/>
              <a:pathLst>
                <a:path h="376151" w="581523">
                  <a:moveTo>
                    <a:pt x="0" y="0"/>
                  </a:moveTo>
                  <a:lnTo>
                    <a:pt x="581523" y="0"/>
                  </a:lnTo>
                  <a:lnTo>
                    <a:pt x="581523" y="376151"/>
                  </a:lnTo>
                  <a:lnTo>
                    <a:pt x="0" y="376151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80975"/>
              <a:ext cx="581523" cy="557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7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44615" y="3807666"/>
            <a:ext cx="4747537" cy="175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4"/>
              </a:lnSpc>
            </a:pPr>
            <a:r>
              <a:rPr lang="en-US" b="true" sz="2499" i="true">
                <a:solidFill>
                  <a:srgbClr val="00000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Saudi Riyal</a:t>
            </a:r>
            <a:r>
              <a:rPr lang="en-US" b="true" sz="2499" i="true">
                <a:solidFill>
                  <a:srgbClr val="00000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denominations: </a:t>
            </a: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5, 10, 50, 100, 200, 500 SAR</a:t>
            </a:r>
          </a:p>
          <a:p>
            <a:pPr algn="l">
              <a:lnSpc>
                <a:spcPts val="477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84893" y="3309191"/>
            <a:ext cx="358890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b="true" sz="25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 ALfloos Dataset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00494" y="2174156"/>
            <a:ext cx="4835778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99578F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1.Data Collection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8735" y="6037722"/>
            <a:ext cx="3628998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Balanced</a:t>
            </a: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dataset with real-world diversity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87488" y="6037722"/>
            <a:ext cx="4408106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Added missing 20 SAR manually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26142" y="6009145"/>
            <a:ext cx="5290522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S</a:t>
            </a: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elected polymer 5 SAR only</a:t>
            </a:r>
          </a:p>
          <a:p>
            <a:pPr algn="ctr">
              <a:lnSpc>
                <a:spcPts val="4774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(Excluded cotton - 98.67% similar)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1367" y="850181"/>
            <a:ext cx="129946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Currency Recognition Model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76893" y="4376611"/>
            <a:ext cx="2229878" cy="2229878"/>
          </a:xfrm>
          <a:custGeom>
            <a:avLst/>
            <a:gdLst/>
            <a:ahLst/>
            <a:cxnLst/>
            <a:rect r="r" b="b" t="t" l="l"/>
            <a:pathLst>
              <a:path h="2229878" w="2229878">
                <a:moveTo>
                  <a:pt x="0" y="0"/>
                </a:moveTo>
                <a:lnTo>
                  <a:pt x="2229878" y="0"/>
                </a:lnTo>
                <a:lnTo>
                  <a:pt x="2229878" y="2229878"/>
                </a:lnTo>
                <a:lnTo>
                  <a:pt x="0" y="22298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064964" y="4376611"/>
            <a:ext cx="2182492" cy="2182492"/>
          </a:xfrm>
          <a:custGeom>
            <a:avLst/>
            <a:gdLst/>
            <a:ahLst/>
            <a:cxnLst/>
            <a:rect r="r" b="b" t="t" l="l"/>
            <a:pathLst>
              <a:path h="2182492" w="2182492">
                <a:moveTo>
                  <a:pt x="0" y="0"/>
                </a:moveTo>
                <a:lnTo>
                  <a:pt x="2182492" y="0"/>
                </a:lnTo>
                <a:lnTo>
                  <a:pt x="2182492" y="2182492"/>
                </a:lnTo>
                <a:lnTo>
                  <a:pt x="0" y="21824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07073" y="4401321"/>
            <a:ext cx="2122718" cy="2157782"/>
          </a:xfrm>
          <a:custGeom>
            <a:avLst/>
            <a:gdLst/>
            <a:ahLst/>
            <a:cxnLst/>
            <a:rect r="r" b="b" t="t" l="l"/>
            <a:pathLst>
              <a:path h="2157782" w="2122718">
                <a:moveTo>
                  <a:pt x="0" y="0"/>
                </a:moveTo>
                <a:lnTo>
                  <a:pt x="2122718" y="0"/>
                </a:lnTo>
                <a:lnTo>
                  <a:pt x="2122718" y="2157782"/>
                </a:lnTo>
                <a:lnTo>
                  <a:pt x="0" y="21577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87983" y="4376611"/>
            <a:ext cx="2345415" cy="2157782"/>
          </a:xfrm>
          <a:custGeom>
            <a:avLst/>
            <a:gdLst/>
            <a:ahLst/>
            <a:cxnLst/>
            <a:rect r="r" b="b" t="t" l="l"/>
            <a:pathLst>
              <a:path h="2157782" w="2345415">
                <a:moveTo>
                  <a:pt x="0" y="0"/>
                </a:moveTo>
                <a:lnTo>
                  <a:pt x="2345415" y="0"/>
                </a:lnTo>
                <a:lnTo>
                  <a:pt x="2345415" y="2157781"/>
                </a:lnTo>
                <a:lnTo>
                  <a:pt x="0" y="215778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25866" y="5491550"/>
            <a:ext cx="1520002" cy="209000"/>
          </a:xfrm>
          <a:custGeom>
            <a:avLst/>
            <a:gdLst/>
            <a:ahLst/>
            <a:cxnLst/>
            <a:rect r="r" b="b" t="t" l="l"/>
            <a:pathLst>
              <a:path h="209000" w="1520002">
                <a:moveTo>
                  <a:pt x="0" y="0"/>
                </a:moveTo>
                <a:lnTo>
                  <a:pt x="1520003" y="0"/>
                </a:lnTo>
                <a:lnTo>
                  <a:pt x="1520003" y="209000"/>
                </a:lnTo>
                <a:lnTo>
                  <a:pt x="0" y="209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08372" y="5596050"/>
            <a:ext cx="1520002" cy="209000"/>
          </a:xfrm>
          <a:custGeom>
            <a:avLst/>
            <a:gdLst/>
            <a:ahLst/>
            <a:cxnLst/>
            <a:rect r="r" b="b" t="t" l="l"/>
            <a:pathLst>
              <a:path h="209000" w="1520002">
                <a:moveTo>
                  <a:pt x="0" y="0"/>
                </a:moveTo>
                <a:lnTo>
                  <a:pt x="1520003" y="0"/>
                </a:lnTo>
                <a:lnTo>
                  <a:pt x="1520003" y="209000"/>
                </a:lnTo>
                <a:lnTo>
                  <a:pt x="0" y="209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277741" y="5596050"/>
            <a:ext cx="1520002" cy="209000"/>
          </a:xfrm>
          <a:custGeom>
            <a:avLst/>
            <a:gdLst/>
            <a:ahLst/>
            <a:cxnLst/>
            <a:rect r="r" b="b" t="t" l="l"/>
            <a:pathLst>
              <a:path h="209000" w="1520002">
                <a:moveTo>
                  <a:pt x="0" y="0"/>
                </a:moveTo>
                <a:lnTo>
                  <a:pt x="1520002" y="0"/>
                </a:lnTo>
                <a:lnTo>
                  <a:pt x="1520002" y="209000"/>
                </a:lnTo>
                <a:lnTo>
                  <a:pt x="0" y="209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759348" y="8937056"/>
            <a:ext cx="6769305" cy="642488"/>
            <a:chOff x="0" y="0"/>
            <a:chExt cx="1574961" cy="1494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74961" cy="149483"/>
            </a:xfrm>
            <a:custGeom>
              <a:avLst/>
              <a:gdLst/>
              <a:ahLst/>
              <a:cxnLst/>
              <a:rect r="r" b="b" t="t" l="l"/>
              <a:pathLst>
                <a:path h="149483" w="1574961">
                  <a:moveTo>
                    <a:pt x="11437" y="0"/>
                  </a:moveTo>
                  <a:lnTo>
                    <a:pt x="1563525" y="0"/>
                  </a:lnTo>
                  <a:cubicBezTo>
                    <a:pt x="1566558" y="0"/>
                    <a:pt x="1569467" y="1205"/>
                    <a:pt x="1571612" y="3350"/>
                  </a:cubicBezTo>
                  <a:cubicBezTo>
                    <a:pt x="1573756" y="5495"/>
                    <a:pt x="1574961" y="8404"/>
                    <a:pt x="1574961" y="11437"/>
                  </a:cubicBezTo>
                  <a:lnTo>
                    <a:pt x="1574961" y="138046"/>
                  </a:lnTo>
                  <a:cubicBezTo>
                    <a:pt x="1574961" y="141079"/>
                    <a:pt x="1573756" y="143988"/>
                    <a:pt x="1571612" y="146133"/>
                  </a:cubicBezTo>
                  <a:cubicBezTo>
                    <a:pt x="1569467" y="148278"/>
                    <a:pt x="1566558" y="149483"/>
                    <a:pt x="1563525" y="149483"/>
                  </a:cubicBezTo>
                  <a:lnTo>
                    <a:pt x="11437" y="149483"/>
                  </a:lnTo>
                  <a:cubicBezTo>
                    <a:pt x="8404" y="149483"/>
                    <a:pt x="5495" y="148278"/>
                    <a:pt x="3350" y="146133"/>
                  </a:cubicBezTo>
                  <a:cubicBezTo>
                    <a:pt x="1205" y="143988"/>
                    <a:pt x="0" y="141079"/>
                    <a:pt x="0" y="138046"/>
                  </a:cubicBezTo>
                  <a:lnTo>
                    <a:pt x="0" y="11437"/>
                  </a:lnTo>
                  <a:cubicBezTo>
                    <a:pt x="0" y="8404"/>
                    <a:pt x="1205" y="5495"/>
                    <a:pt x="3350" y="3350"/>
                  </a:cubicBezTo>
                  <a:cubicBezTo>
                    <a:pt x="5495" y="1205"/>
                    <a:pt x="8404" y="0"/>
                    <a:pt x="11437" y="0"/>
                  </a:cubicBezTo>
                  <a:close/>
                </a:path>
              </a:pathLst>
            </a:custGeom>
            <a:solidFill>
              <a:srgbClr val="99578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74961" cy="187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11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FINAL DATASET: 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2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,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8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27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 TOTAL IMAGE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35379" y="2174156"/>
            <a:ext cx="614556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99578F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2. Data Preprocessing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26442" y="7021183"/>
            <a:ext cx="2411281" cy="96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9"/>
              </a:lnSpc>
            </a:pPr>
            <a:r>
              <a:rPr lang="en-US" sz="2300" i="true">
                <a:solidFill>
                  <a:srgbClr val="1A1A1A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350 images per class (balanced)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62639" y="3480402"/>
            <a:ext cx="3435927" cy="45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  <a:spcBef>
                <a:spcPct val="0"/>
              </a:spcBef>
            </a:pPr>
            <a:r>
              <a:rPr lang="en-US" b="true" sz="2617" i="true">
                <a:solidFill>
                  <a:srgbClr val="00000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Duplicate Detection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10848" y="3480402"/>
            <a:ext cx="2494901" cy="45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  <a:spcBef>
                <a:spcPct val="0"/>
              </a:spcBef>
            </a:pPr>
            <a:r>
              <a:rPr lang="en-US" b="true" sz="2617" i="true">
                <a:solidFill>
                  <a:srgbClr val="00000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Data Cleaning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54932" y="3480402"/>
            <a:ext cx="2714192" cy="45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  <a:spcBef>
                <a:spcPct val="0"/>
              </a:spcBef>
            </a:pPr>
            <a:r>
              <a:rPr lang="en-US" b="true" sz="2617" i="true">
                <a:solidFill>
                  <a:srgbClr val="00000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Train-Test Split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84454" y="3480402"/>
            <a:ext cx="3440906" cy="45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  <a:spcBef>
                <a:spcPct val="0"/>
              </a:spcBef>
            </a:pPr>
            <a:r>
              <a:rPr lang="en-US" b="true" sz="2617" i="true">
                <a:solidFill>
                  <a:srgbClr val="00000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Data Augmentation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47009" y="6698720"/>
            <a:ext cx="1689646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Removed 44 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duplicates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33591" y="6698720"/>
            <a:ext cx="2070646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Validated 1,256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images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23421" y="6698720"/>
            <a:ext cx="2153841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70% train (876) 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30% test (380)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99392" y="6593945"/>
            <a:ext cx="2675781" cy="49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3"/>
              </a:lnSpc>
              <a:spcBef>
                <a:spcPct val="0"/>
              </a:spcBef>
            </a:pPr>
            <a:r>
              <a:rPr lang="en-US" sz="23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876 → 2,447 images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29946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Currency Recognition Model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95960" y="4388759"/>
            <a:ext cx="2023802" cy="1946529"/>
          </a:xfrm>
          <a:custGeom>
            <a:avLst/>
            <a:gdLst/>
            <a:ahLst/>
            <a:cxnLst/>
            <a:rect r="r" b="b" t="t" l="l"/>
            <a:pathLst>
              <a:path h="1946529" w="2023802">
                <a:moveTo>
                  <a:pt x="0" y="0"/>
                </a:moveTo>
                <a:lnTo>
                  <a:pt x="2023802" y="0"/>
                </a:lnTo>
                <a:lnTo>
                  <a:pt x="2023802" y="1946529"/>
                </a:lnTo>
                <a:lnTo>
                  <a:pt x="0" y="19465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81081" y="4253990"/>
            <a:ext cx="2066211" cy="2108379"/>
          </a:xfrm>
          <a:custGeom>
            <a:avLst/>
            <a:gdLst/>
            <a:ahLst/>
            <a:cxnLst/>
            <a:rect r="r" b="b" t="t" l="l"/>
            <a:pathLst>
              <a:path h="2108379" w="2066211">
                <a:moveTo>
                  <a:pt x="0" y="0"/>
                </a:moveTo>
                <a:lnTo>
                  <a:pt x="2066211" y="0"/>
                </a:lnTo>
                <a:lnTo>
                  <a:pt x="2066211" y="2108379"/>
                </a:lnTo>
                <a:lnTo>
                  <a:pt x="0" y="21083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058189" y="4253990"/>
            <a:ext cx="1598274" cy="2082442"/>
          </a:xfrm>
          <a:custGeom>
            <a:avLst/>
            <a:gdLst/>
            <a:ahLst/>
            <a:cxnLst/>
            <a:rect r="r" b="b" t="t" l="l"/>
            <a:pathLst>
              <a:path h="2082442" w="1598274">
                <a:moveTo>
                  <a:pt x="0" y="0"/>
                </a:moveTo>
                <a:lnTo>
                  <a:pt x="1598273" y="0"/>
                </a:lnTo>
                <a:lnTo>
                  <a:pt x="1598273" y="2082441"/>
                </a:lnTo>
                <a:lnTo>
                  <a:pt x="0" y="20824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83110" y="4221194"/>
            <a:ext cx="2191391" cy="2191391"/>
          </a:xfrm>
          <a:custGeom>
            <a:avLst/>
            <a:gdLst/>
            <a:ahLst/>
            <a:cxnLst/>
            <a:rect r="r" b="b" t="t" l="l"/>
            <a:pathLst>
              <a:path h="2191391" w="2191391">
                <a:moveTo>
                  <a:pt x="0" y="0"/>
                </a:moveTo>
                <a:lnTo>
                  <a:pt x="2191390" y="0"/>
                </a:lnTo>
                <a:lnTo>
                  <a:pt x="2191390" y="2191391"/>
                </a:lnTo>
                <a:lnTo>
                  <a:pt x="0" y="219139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30934" y="2157730"/>
            <a:ext cx="13067647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99578F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3. Feature extraction using MobileNetV2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948" y="6525788"/>
            <a:ext cx="3862572" cy="97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1"/>
              </a:lnSpc>
              <a:spcBef>
                <a:spcPct val="0"/>
              </a:spcBef>
            </a:pPr>
            <a:r>
              <a:rPr lang="en-US" sz="2100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 </a:t>
            </a: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224×224 RGB currency images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72261" y="6525788"/>
            <a:ext cx="3121758" cy="97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11"/>
              </a:lnSpc>
              <a:spcBef>
                <a:spcPct val="0"/>
              </a:spcBef>
            </a:pP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Pre-trained MobileNetV2 on ImageNet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82694" y="6525788"/>
            <a:ext cx="3546133" cy="97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11"/>
              </a:lnSpc>
              <a:spcBef>
                <a:spcPct val="0"/>
              </a:spcBef>
            </a:pP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ImageNet normalization applied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61829" y="6594374"/>
            <a:ext cx="3546133" cy="97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11"/>
              </a:lnSpc>
              <a:spcBef>
                <a:spcPct val="0"/>
              </a:spcBef>
            </a:pPr>
            <a:r>
              <a:rPr lang="en-US" sz="2100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Generates 1280-dimensional vectors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624562" y="5426923"/>
            <a:ext cx="1164119" cy="160066"/>
          </a:xfrm>
          <a:custGeom>
            <a:avLst/>
            <a:gdLst/>
            <a:ahLst/>
            <a:cxnLst/>
            <a:rect r="r" b="b" t="t" l="l"/>
            <a:pathLst>
              <a:path h="160066" w="1164119">
                <a:moveTo>
                  <a:pt x="0" y="0"/>
                </a:moveTo>
                <a:lnTo>
                  <a:pt x="1164119" y="0"/>
                </a:lnTo>
                <a:lnTo>
                  <a:pt x="1164119" y="160066"/>
                </a:lnTo>
                <a:lnTo>
                  <a:pt x="0" y="1600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559291" y="5426923"/>
            <a:ext cx="1164119" cy="160066"/>
          </a:xfrm>
          <a:custGeom>
            <a:avLst/>
            <a:gdLst/>
            <a:ahLst/>
            <a:cxnLst/>
            <a:rect r="r" b="b" t="t" l="l"/>
            <a:pathLst>
              <a:path h="160066" w="1164119">
                <a:moveTo>
                  <a:pt x="0" y="0"/>
                </a:moveTo>
                <a:lnTo>
                  <a:pt x="1164119" y="0"/>
                </a:lnTo>
                <a:lnTo>
                  <a:pt x="1164119" y="160066"/>
                </a:lnTo>
                <a:lnTo>
                  <a:pt x="0" y="1600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494019" y="5426923"/>
            <a:ext cx="1164119" cy="160066"/>
          </a:xfrm>
          <a:custGeom>
            <a:avLst/>
            <a:gdLst/>
            <a:ahLst/>
            <a:cxnLst/>
            <a:rect r="r" b="b" t="t" l="l"/>
            <a:pathLst>
              <a:path h="160066" w="1164119">
                <a:moveTo>
                  <a:pt x="0" y="0"/>
                </a:moveTo>
                <a:lnTo>
                  <a:pt x="1164120" y="0"/>
                </a:lnTo>
                <a:lnTo>
                  <a:pt x="1164120" y="160066"/>
                </a:lnTo>
                <a:lnTo>
                  <a:pt x="0" y="1600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276102" y="8937056"/>
            <a:ext cx="10507688" cy="642488"/>
            <a:chOff x="0" y="0"/>
            <a:chExt cx="2444742" cy="1494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4742" cy="149483"/>
            </a:xfrm>
            <a:custGeom>
              <a:avLst/>
              <a:gdLst/>
              <a:ahLst/>
              <a:cxnLst/>
              <a:rect r="r" b="b" t="t" l="l"/>
              <a:pathLst>
                <a:path h="149483" w="2444742">
                  <a:moveTo>
                    <a:pt x="7368" y="0"/>
                  </a:moveTo>
                  <a:lnTo>
                    <a:pt x="2437374" y="0"/>
                  </a:lnTo>
                  <a:cubicBezTo>
                    <a:pt x="2441443" y="0"/>
                    <a:pt x="2444742" y="3299"/>
                    <a:pt x="2444742" y="7368"/>
                  </a:cubicBezTo>
                  <a:lnTo>
                    <a:pt x="2444742" y="142115"/>
                  </a:lnTo>
                  <a:cubicBezTo>
                    <a:pt x="2444742" y="144069"/>
                    <a:pt x="2443965" y="145943"/>
                    <a:pt x="2442584" y="147325"/>
                  </a:cubicBezTo>
                  <a:cubicBezTo>
                    <a:pt x="2441202" y="148706"/>
                    <a:pt x="2439328" y="149483"/>
                    <a:pt x="2437374" y="149483"/>
                  </a:cubicBezTo>
                  <a:lnTo>
                    <a:pt x="7368" y="149483"/>
                  </a:lnTo>
                  <a:cubicBezTo>
                    <a:pt x="3299" y="149483"/>
                    <a:pt x="0" y="146184"/>
                    <a:pt x="0" y="142115"/>
                  </a:cubicBezTo>
                  <a:lnTo>
                    <a:pt x="0" y="7368"/>
                  </a:lnTo>
                  <a:cubicBezTo>
                    <a:pt x="0" y="3299"/>
                    <a:pt x="3299" y="0"/>
                    <a:pt x="7368" y="0"/>
                  </a:cubicBezTo>
                  <a:close/>
                </a:path>
              </a:pathLst>
            </a:custGeom>
            <a:solidFill>
              <a:srgbClr val="99578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444742" cy="187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spc="311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RESULT: 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1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280-D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 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FE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AT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URE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 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V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ECT</a:t>
              </a:r>
              <a:r>
                <a:rPr lang="en-US" b="true" sz="1999" spc="311" strike="noStrike" u="none">
                  <a:solidFill>
                    <a:srgbClr val="FFFFF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ORS PER CURRENCY IMAGE 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295960" y="3522816"/>
            <a:ext cx="265522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 i="tru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I</a:t>
            </a:r>
            <a:r>
              <a:rPr lang="en-US" b="true" sz="2500" i="tru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nput Images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70281" y="3531360"/>
            <a:ext cx="354436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 i="tru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Fea</a:t>
            </a:r>
            <a:r>
              <a:rPr lang="en-US" b="true" sz="2500" i="tru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ture Extraction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83110" y="3531527"/>
            <a:ext cx="2434936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 i="tru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Normaliz</a:t>
            </a:r>
            <a:r>
              <a:rPr lang="en-US" b="true" sz="2500" i="tru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58139" y="3522816"/>
            <a:ext cx="3010217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 i="tru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Ou</a:t>
            </a:r>
            <a:r>
              <a:rPr lang="en-US" b="true" sz="2500" i="true">
                <a:solidFill>
                  <a:srgbClr val="1D1D1B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tput Vectors</a:t>
            </a:r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29946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Currency Recognition Model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00494" y="4619865"/>
            <a:ext cx="3893912" cy="1899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5156"/>
              </a:lnSpc>
              <a:buFont typeface="Arial"/>
              <a:buChar char="•"/>
            </a:pPr>
            <a:r>
              <a:rPr lang="en-US" sz="26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SVM</a:t>
            </a:r>
            <a:r>
              <a:rPr lang="en-US" sz="26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(Linear)</a:t>
            </a:r>
          </a:p>
          <a:p>
            <a:pPr algn="l" marL="582928" indent="-291464" lvl="1">
              <a:lnSpc>
                <a:spcPts val="5156"/>
              </a:lnSpc>
              <a:buFont typeface="Arial"/>
              <a:buChar char="•"/>
            </a:pPr>
            <a:r>
              <a:rPr lang="en-US" sz="26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Logistic Regression</a:t>
            </a:r>
          </a:p>
          <a:p>
            <a:pPr algn="l" marL="582928" indent="-291464" lvl="1">
              <a:lnSpc>
                <a:spcPts val="5156"/>
              </a:lnSpc>
              <a:buFont typeface="Arial"/>
              <a:buChar char="•"/>
            </a:pPr>
            <a:r>
              <a:rPr lang="en-US" sz="26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SVM (RBF)</a:t>
            </a:r>
          </a:p>
        </p:txBody>
      </p:sp>
      <p:graphicFrame>
        <p:nvGraphicFramePr>
          <p:cNvPr name="Object 6" id="6"/>
          <p:cNvGraphicFramePr/>
          <p:nvPr/>
        </p:nvGraphicFramePr>
        <p:xfrm>
          <a:off x="8580586" y="5731164"/>
          <a:ext cx="16230600" cy="6308728"/>
        </p:xfrm>
        <a:graphic>
          <a:graphicData uri="http://schemas.openxmlformats.org/presentationml/2006/ole">
            <p:oleObj imgW="19469100" imgH="95504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600494" y="2174156"/>
            <a:ext cx="9277684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99578F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4. Model Training &amp; Validation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0494" y="3935133"/>
            <a:ext cx="3392537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Classifiers Trained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09998" y="3825635"/>
            <a:ext cx="3029099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Cross-Validation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30207" y="4377791"/>
            <a:ext cx="5608140" cy="604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6"/>
              </a:lnSpc>
            </a:pPr>
            <a:r>
              <a:rPr lang="en-US" sz="26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5-Fold Stratified CV on training</a:t>
            </a:r>
            <a:r>
              <a:rPr lang="en-US" sz="26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set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9417" y="867052"/>
            <a:ext cx="1299465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Currency Recognition Model 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375922" y="30104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8" y="0"/>
                </a:lnTo>
                <a:lnTo>
                  <a:pt x="2912078" y="1903250"/>
                </a:lnTo>
                <a:lnTo>
                  <a:pt x="0" y="190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543050" y="-367459"/>
            <a:ext cx="5143500" cy="5143500"/>
          </a:xfrm>
          <a:custGeom>
            <a:avLst/>
            <a:gdLst/>
            <a:ahLst/>
            <a:cxnLst/>
            <a:rect r="r" b="b" t="t" l="l"/>
            <a:pathLst>
              <a:path h="5143500" w="5143500">
                <a:moveTo>
                  <a:pt x="5143500" y="0"/>
                </a:moveTo>
                <a:lnTo>
                  <a:pt x="0" y="0"/>
                </a:lnTo>
                <a:lnTo>
                  <a:pt x="0" y="5143500"/>
                </a:lnTo>
                <a:lnTo>
                  <a:pt x="5143500" y="5143500"/>
                </a:lnTo>
                <a:lnTo>
                  <a:pt x="51435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04867" y="3171811"/>
            <a:ext cx="6440184" cy="5570759"/>
          </a:xfrm>
          <a:custGeom>
            <a:avLst/>
            <a:gdLst/>
            <a:ahLst/>
            <a:cxnLst/>
            <a:rect r="r" b="b" t="t" l="l"/>
            <a:pathLst>
              <a:path h="5570759" w="6440184">
                <a:moveTo>
                  <a:pt x="0" y="0"/>
                </a:moveTo>
                <a:lnTo>
                  <a:pt x="6440184" y="0"/>
                </a:lnTo>
                <a:lnTo>
                  <a:pt x="6440184" y="5570759"/>
                </a:lnTo>
                <a:lnTo>
                  <a:pt x="0" y="55707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2006054" y="6081707"/>
          <a:ext cx="9429750" cy="2514600"/>
        </p:xfrm>
        <a:graphic>
          <a:graphicData uri="http://schemas.openxmlformats.org/presentationml/2006/ole">
            <p:oleObj imgW="11315700" imgH="4394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583198" y="2174156"/>
            <a:ext cx="4712643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 i="true">
                <a:solidFill>
                  <a:srgbClr val="99578F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5. Model Testing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6054" y="3287988"/>
            <a:ext cx="139487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</a:t>
            </a:r>
            <a:r>
              <a:rPr lang="en-US" b="true" sz="2499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est Set: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06054" y="3891238"/>
            <a:ext cx="7852867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774"/>
              </a:lnSpc>
              <a:buFont typeface="Arial"/>
              <a:buChar char="•"/>
            </a:pP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380</a:t>
            </a: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unseen samples </a:t>
            </a:r>
          </a:p>
          <a:p>
            <a:pPr algn="l" marL="539749" indent="-269875" lvl="1">
              <a:lnSpc>
                <a:spcPts val="4774"/>
              </a:lnSpc>
              <a:buFont typeface="Arial"/>
              <a:buChar char="•"/>
            </a:pPr>
            <a:r>
              <a:rPr lang="en-US" sz="2499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Never used during training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06054" y="5525391"/>
            <a:ext cx="217949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T</a:t>
            </a:r>
            <a:r>
              <a:rPr lang="en-US" b="true" sz="2499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est Results: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84259" y="9001791"/>
            <a:ext cx="2348050" cy="3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4"/>
              </a:lnSpc>
              <a:spcBef>
                <a:spcPct val="0"/>
              </a:spcBef>
            </a:pPr>
            <a:r>
              <a:rPr lang="en-US" b="true" sz="2024" i="true">
                <a:solidFill>
                  <a:srgbClr val="6A1C61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Confusion matrix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06054" y="9142391"/>
            <a:ext cx="259036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i="true">
                <a:solidFill>
                  <a:srgbClr val="681D60"/>
                </a:solidFill>
                <a:latin typeface="Georgia Pro Bold Italics"/>
                <a:ea typeface="Georgia Pro Bold Italics"/>
                <a:cs typeface="Georgia Pro Bold Italics"/>
                <a:sym typeface="Georgia Pro Bold Italics"/>
              </a:rPr>
              <a:t>Selected Model: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43482" y="9151916"/>
            <a:ext cx="161957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i="true">
                <a:solidFill>
                  <a:srgbClr val="1A1A1A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SVM (RBF)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DAG54vPyGUM</dc:identifier>
  <dcterms:modified xsi:type="dcterms:W3CDTF">2011-08-01T06:04:30Z</dcterms:modified>
  <cp:revision>1</cp:revision>
  <dc:title>GP Presentation </dc:title>
</cp:coreProperties>
</file>