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Georgia Pro Bold" charset="1" panose="02040802050405020203"/>
      <p:regular r:id="rId19"/>
    </p:embeddedFont>
    <p:embeddedFont>
      <p:font typeface="Georgia Pro" charset="1" panose="02040502050405020303"/>
      <p:regular r:id="rId20"/>
    </p:embeddedFont>
    <p:embeddedFont>
      <p:font typeface="Georgia Pro Italics" charset="1" panose="02040502050405090303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8.png" Type="http://schemas.openxmlformats.org/officeDocument/2006/relationships/image"/><Relationship Id="rId9" Target="../media/image9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Relationship Id="rId6" Target="../media/image13.png" Type="http://schemas.openxmlformats.org/officeDocument/2006/relationships/image"/><Relationship Id="rId7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11" Target="../media/image20.svg" Type="http://schemas.openxmlformats.org/officeDocument/2006/relationships/image"/><Relationship Id="rId12" Target="../media/image2.png" Type="http://schemas.openxmlformats.org/officeDocument/2006/relationships/image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14.png" Type="http://schemas.openxmlformats.org/officeDocument/2006/relationships/image"/><Relationship Id="rId6" Target="../media/image15.png" Type="http://schemas.openxmlformats.org/officeDocument/2006/relationships/image"/><Relationship Id="rId7" Target="../media/image16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2.png" Type="http://schemas.openxmlformats.org/officeDocument/2006/relationships/image"/><Relationship Id="rId5" Target="../media/image21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26.png" Type="http://schemas.openxmlformats.org/officeDocument/2006/relationships/image"/><Relationship Id="rId5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27.png" Type="http://schemas.openxmlformats.org/officeDocument/2006/relationships/image"/><Relationship Id="rId5" Target="../media/image28.svg" Type="http://schemas.openxmlformats.org/officeDocument/2006/relationships/image"/><Relationship Id="rId6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29.png" Type="http://schemas.openxmlformats.org/officeDocument/2006/relationships/image"/><Relationship Id="rId6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2.png" Type="http://schemas.openxmlformats.org/officeDocument/2006/relationships/image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30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36.jpeg" Type="http://schemas.openxmlformats.org/officeDocument/2006/relationships/image"/><Relationship Id="rId5" Target="../media/image37.png" Type="http://schemas.openxmlformats.org/officeDocument/2006/relationships/image"/><Relationship Id="rId6" Target="../media/image38.svg" Type="http://schemas.openxmlformats.org/officeDocument/2006/relationships/image"/><Relationship Id="rId7" Target="../media/image2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3.png" Type="http://schemas.openxmlformats.org/officeDocument/2006/relationships/image"/><Relationship Id="rId4" Target="../media/image5.png" Type="http://schemas.openxmlformats.org/officeDocument/2006/relationships/image"/><Relationship Id="rId5" Target="../media/image2.pn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371939" y="0"/>
            <a:ext cx="12165034" cy="10287000"/>
            <a:chOff x="0" y="0"/>
            <a:chExt cx="3203960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203959" cy="2709333"/>
            </a:xfrm>
            <a:custGeom>
              <a:avLst/>
              <a:gdLst/>
              <a:ahLst/>
              <a:cxnLst/>
              <a:rect r="r" b="b" t="t" l="l"/>
              <a:pathLst>
                <a:path h="2709333" w="3203959">
                  <a:moveTo>
                    <a:pt x="0" y="0"/>
                  </a:moveTo>
                  <a:lnTo>
                    <a:pt x="3203959" y="0"/>
                  </a:lnTo>
                  <a:lnTo>
                    <a:pt x="320395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203960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5996641" y="1310248"/>
            <a:ext cx="6294717" cy="4393456"/>
          </a:xfrm>
          <a:custGeom>
            <a:avLst/>
            <a:gdLst/>
            <a:ahLst/>
            <a:cxnLst/>
            <a:rect r="r" b="b" t="t" l="l"/>
            <a:pathLst>
              <a:path h="4393456" w="6294717">
                <a:moveTo>
                  <a:pt x="0" y="0"/>
                </a:moveTo>
                <a:lnTo>
                  <a:pt x="6294718" y="0"/>
                </a:lnTo>
                <a:lnTo>
                  <a:pt x="6294718" y="4393456"/>
                </a:lnTo>
                <a:lnTo>
                  <a:pt x="0" y="439345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834" t="-71491" r="-100508" b="-681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153468" y="-58861"/>
            <a:ext cx="3295582" cy="2153899"/>
          </a:xfrm>
          <a:custGeom>
            <a:avLst/>
            <a:gdLst/>
            <a:ahLst/>
            <a:cxnLst/>
            <a:rect r="r" b="b" t="t" l="l"/>
            <a:pathLst>
              <a:path h="2153899" w="3295582">
                <a:moveTo>
                  <a:pt x="0" y="0"/>
                </a:moveTo>
                <a:lnTo>
                  <a:pt x="3295582" y="0"/>
                </a:lnTo>
                <a:lnTo>
                  <a:pt x="3295582" y="2153899"/>
                </a:lnTo>
                <a:lnTo>
                  <a:pt x="0" y="21538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873100" y="5656408"/>
            <a:ext cx="12541800" cy="119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99"/>
              </a:lnSpc>
            </a:pPr>
            <a:r>
              <a:rPr lang="en-US" b="true" sz="6999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Yusr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140190" y="7723311"/>
            <a:ext cx="8007620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b="true" sz="25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IT427 - Entrepreneurship and Innovation in IT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5140190" y="8413684"/>
            <a:ext cx="8007620" cy="509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33"/>
              </a:lnSpc>
            </a:pPr>
            <a:r>
              <a:rPr lang="en-US" b="true" sz="25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Supervised By:</a:t>
            </a:r>
            <a:r>
              <a:rPr lang="en-US" sz="2599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 Dr.Nora Alhammad 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40190" y="6716859"/>
            <a:ext cx="8007620" cy="598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8"/>
              </a:lnSpc>
            </a:pPr>
            <a:r>
              <a:rPr lang="en-US" b="true" sz="3099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Pitch Deck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40190" y="7866948"/>
            <a:ext cx="8007620" cy="575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69"/>
              </a:lnSpc>
            </a:pPr>
            <a:r>
              <a:rPr lang="en-US" b="true" sz="2999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324747" y="-58861"/>
            <a:ext cx="13465900" cy="10287000"/>
            <a:chOff x="0" y="0"/>
            <a:chExt cx="3546574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46575" cy="2709333"/>
            </a:xfrm>
            <a:custGeom>
              <a:avLst/>
              <a:gdLst/>
              <a:ahLst/>
              <a:cxnLst/>
              <a:rect r="r" b="b" t="t" l="l"/>
              <a:pathLst>
                <a:path h="2709333" w="3546575">
                  <a:moveTo>
                    <a:pt x="0" y="0"/>
                  </a:moveTo>
                  <a:lnTo>
                    <a:pt x="3546575" y="0"/>
                  </a:lnTo>
                  <a:lnTo>
                    <a:pt x="354657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546574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3049361" y="2555927"/>
            <a:ext cx="842787" cy="842787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223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01</a:t>
              </a: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3049361" y="3816396"/>
            <a:ext cx="842787" cy="842787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5355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03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3049361" y="5078283"/>
            <a:ext cx="842787" cy="842787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223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03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03993" y="2555927"/>
            <a:ext cx="842787" cy="842787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5355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02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9303993" y="3816396"/>
            <a:ext cx="842787" cy="842787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223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05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9303993" y="5084639"/>
            <a:ext cx="842787" cy="842787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5355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06</a:t>
              </a: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2723794" y="841725"/>
            <a:ext cx="12541800" cy="1021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259"/>
              </a:lnSpc>
            </a:pPr>
            <a:r>
              <a:rPr lang="en-US" b="true" sz="5899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Outline 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3049361" y="6340170"/>
            <a:ext cx="842787" cy="842787"/>
            <a:chOff x="0" y="0"/>
            <a:chExt cx="812800" cy="81280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535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07</a:t>
              </a: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4069432" y="2627753"/>
            <a:ext cx="546289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The problem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327755" y="2627753"/>
            <a:ext cx="546289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Solution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043784" y="3920417"/>
            <a:ext cx="546289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Customer Segments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27755" y="3920417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Competitive Landscape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4043784" y="5199181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Market Size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327755" y="5156465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Revenue Model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4069432" y="6470351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Financial Projection 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9303993" y="6356051"/>
            <a:ext cx="842787" cy="842787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223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08</a:t>
              </a: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0327755" y="6427877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Marketing Campaign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3049361" y="7602057"/>
            <a:ext cx="842787" cy="842787"/>
            <a:chOff x="0" y="0"/>
            <a:chExt cx="812800" cy="81280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2C2223"/>
            </a:solidFill>
          </p:spPr>
        </p:sp>
        <p:sp>
          <p:nvSpPr>
            <p:cNvPr name="TextBox 42" id="42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09</a:t>
              </a: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4043784" y="7684613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The Team</a:t>
            </a:r>
          </a:p>
        </p:txBody>
      </p:sp>
      <p:grpSp>
        <p:nvGrpSpPr>
          <p:cNvPr name="Group 44" id="44"/>
          <p:cNvGrpSpPr/>
          <p:nvPr/>
        </p:nvGrpSpPr>
        <p:grpSpPr>
          <a:xfrm rot="0">
            <a:off x="9303993" y="7602057"/>
            <a:ext cx="842787" cy="842787"/>
            <a:chOff x="0" y="0"/>
            <a:chExt cx="812800" cy="812800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695355"/>
            </a:solidFill>
          </p:spPr>
        </p:sp>
        <p:sp>
          <p:nvSpPr>
            <p:cNvPr name="TextBox 46" id="46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20"/>
                </a:lnSpc>
              </a:pPr>
              <a:r>
                <a:rPr lang="en-US" sz="2800">
                  <a:solidFill>
                    <a:srgbClr val="FFFFFF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10</a:t>
              </a:r>
            </a:p>
          </p:txBody>
        </p:sp>
      </p:grpSp>
      <p:sp>
        <p:nvSpPr>
          <p:cNvPr name="TextBox 47" id="47"/>
          <p:cNvSpPr txBox="true"/>
          <p:nvPr/>
        </p:nvSpPr>
        <p:spPr>
          <a:xfrm rot="0">
            <a:off x="10299180" y="7673883"/>
            <a:ext cx="5738831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Our Ask </a:t>
            </a:r>
          </a:p>
        </p:txBody>
      </p:sp>
      <p:sp>
        <p:nvSpPr>
          <p:cNvPr name="Freeform 48" id="48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834" t="-71491" r="-100508" b="-68144"/>
            </a:stretch>
          </a:blipFill>
        </p:spPr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834" t="-71491" r="-100508" b="-68144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1938804" y="3371584"/>
            <a:ext cx="4251938" cy="5294604"/>
            <a:chOff x="0" y="0"/>
            <a:chExt cx="5669250" cy="70594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624744"/>
              <a:ext cx="5669250" cy="6434728"/>
            </a:xfrm>
            <a:custGeom>
              <a:avLst/>
              <a:gdLst/>
              <a:ahLst/>
              <a:cxnLst/>
              <a:rect r="r" b="b" t="t" l="l"/>
              <a:pathLst>
                <a:path h="6434728" w="5669250">
                  <a:moveTo>
                    <a:pt x="0" y="0"/>
                  </a:moveTo>
                  <a:lnTo>
                    <a:pt x="5669250" y="0"/>
                  </a:lnTo>
                  <a:lnTo>
                    <a:pt x="5669250" y="6434728"/>
                  </a:lnTo>
                  <a:lnTo>
                    <a:pt x="0" y="64347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36150" t="-38605" r="-129134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801761" y="0"/>
              <a:ext cx="2229638" cy="1753053"/>
            </a:xfrm>
            <a:custGeom>
              <a:avLst/>
              <a:gdLst/>
              <a:ahLst/>
              <a:cxnLst/>
              <a:rect r="r" b="b" t="t" l="l"/>
              <a:pathLst>
                <a:path h="1753053" w="2229638">
                  <a:moveTo>
                    <a:pt x="0" y="0"/>
                  </a:moveTo>
                  <a:lnTo>
                    <a:pt x="2229638" y="0"/>
                  </a:lnTo>
                  <a:lnTo>
                    <a:pt x="2229638" y="1753053"/>
                  </a:lnTo>
                  <a:lnTo>
                    <a:pt x="0" y="17530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1" id="11"/>
            <p:cNvSpPr txBox="true"/>
            <p:nvPr/>
          </p:nvSpPr>
          <p:spPr>
            <a:xfrm rot="0">
              <a:off x="1351294" y="2124347"/>
              <a:ext cx="3130572" cy="13259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221"/>
                </a:lnSpc>
              </a:pPr>
              <a:r>
                <a:rPr lang="en-US" b="true" sz="4905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1300+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31915" y="3640434"/>
              <a:ext cx="5005421" cy="103434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7"/>
                </a:lnSpc>
              </a:pPr>
              <a:r>
                <a:rPr lang="en-US" sz="3838">
                  <a:solidFill>
                    <a:srgbClr val="000000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Deaths from heat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867356" y="5162268"/>
              <a:ext cx="4098448" cy="10339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217"/>
                </a:lnSpc>
              </a:pPr>
              <a:r>
                <a:rPr lang="en-US" sz="3838">
                  <a:solidFill>
                    <a:srgbClr val="000000"/>
                  </a:solidFill>
                  <a:latin typeface="Georgia Pro"/>
                  <a:ea typeface="Georgia Pro"/>
                  <a:cs typeface="Georgia Pro"/>
                  <a:sym typeface="Georgia Pro"/>
                </a:rPr>
                <a:t>in Hajj 2024</a:t>
              </a: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6987174" y="3836177"/>
            <a:ext cx="4181267" cy="4745833"/>
          </a:xfrm>
          <a:custGeom>
            <a:avLst/>
            <a:gdLst/>
            <a:ahLst/>
            <a:cxnLst/>
            <a:rect r="r" b="b" t="t" l="l"/>
            <a:pathLst>
              <a:path h="4745833" w="4181267">
                <a:moveTo>
                  <a:pt x="0" y="0"/>
                </a:moveTo>
                <a:lnTo>
                  <a:pt x="4181268" y="0"/>
                </a:lnTo>
                <a:lnTo>
                  <a:pt x="4181268" y="4745834"/>
                </a:lnTo>
                <a:lnTo>
                  <a:pt x="0" y="4745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50" t="-38605" r="-129134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092395" y="3118211"/>
            <a:ext cx="1970825" cy="1628394"/>
          </a:xfrm>
          <a:custGeom>
            <a:avLst/>
            <a:gdLst/>
            <a:ahLst/>
            <a:cxnLst/>
            <a:rect r="r" b="b" t="t" l="l"/>
            <a:pathLst>
              <a:path h="1628394" w="1970825">
                <a:moveTo>
                  <a:pt x="0" y="0"/>
                </a:moveTo>
                <a:lnTo>
                  <a:pt x="1970826" y="0"/>
                </a:lnTo>
                <a:lnTo>
                  <a:pt x="1970826" y="1628395"/>
                </a:lnTo>
                <a:lnTo>
                  <a:pt x="0" y="162839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7983800" y="4856472"/>
            <a:ext cx="2308905" cy="107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0"/>
              </a:lnSpc>
            </a:pPr>
            <a:r>
              <a:rPr lang="en-US" b="true" sz="491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77.4%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2333" y="6096178"/>
            <a:ext cx="4078450" cy="83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sz="384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Loses tawaf count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966083" y="7092360"/>
            <a:ext cx="4150950" cy="83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sz="384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in crowd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3073442" y="2975514"/>
            <a:ext cx="2216713" cy="1721326"/>
          </a:xfrm>
          <a:custGeom>
            <a:avLst/>
            <a:gdLst/>
            <a:ahLst/>
            <a:cxnLst/>
            <a:rect r="r" b="b" t="t" l="l"/>
            <a:pathLst>
              <a:path h="1721326" w="2216713">
                <a:moveTo>
                  <a:pt x="0" y="0"/>
                </a:moveTo>
                <a:lnTo>
                  <a:pt x="2216713" y="0"/>
                </a:lnTo>
                <a:lnTo>
                  <a:pt x="2216713" y="1721327"/>
                </a:lnTo>
                <a:lnTo>
                  <a:pt x="0" y="1721327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-243214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1939967" y="3836177"/>
            <a:ext cx="4181267" cy="4745833"/>
          </a:xfrm>
          <a:custGeom>
            <a:avLst/>
            <a:gdLst/>
            <a:ahLst/>
            <a:cxnLst/>
            <a:rect r="r" b="b" t="t" l="l"/>
            <a:pathLst>
              <a:path h="4745833" w="4181267">
                <a:moveTo>
                  <a:pt x="0" y="0"/>
                </a:moveTo>
                <a:lnTo>
                  <a:pt x="4181267" y="0"/>
                </a:lnTo>
                <a:lnTo>
                  <a:pt x="4181267" y="4745834"/>
                </a:lnTo>
                <a:lnTo>
                  <a:pt x="0" y="474583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6150" t="-38605" r="-129134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788396" y="4910055"/>
            <a:ext cx="2332234" cy="10713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30"/>
              </a:lnSpc>
            </a:pPr>
            <a:r>
              <a:rPr lang="en-US" b="true" sz="491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71%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39967" y="6096178"/>
            <a:ext cx="4339534" cy="83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sz="384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Feared losing 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2019829" y="7092360"/>
            <a:ext cx="4101405" cy="839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219"/>
              </a:lnSpc>
            </a:pPr>
            <a:r>
              <a:rPr lang="en-US" sz="3840">
                <a:solidFill>
                  <a:srgbClr val="000000"/>
                </a:solidFill>
                <a:latin typeface="Georgia Pro"/>
                <a:ea typeface="Georgia Pro"/>
                <a:cs typeface="Georgia Pro"/>
                <a:sym typeface="Georgia Pro"/>
              </a:rPr>
              <a:t>family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331271" y="971550"/>
            <a:ext cx="9142911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Millions of Pilgrims Struggle Every Year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The Problem 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4090656" y="3457653"/>
            <a:ext cx="4478114" cy="4478114"/>
          </a:xfrm>
          <a:custGeom>
            <a:avLst/>
            <a:gdLst/>
            <a:ahLst/>
            <a:cxnLst/>
            <a:rect r="r" b="b" t="t" l="l"/>
            <a:pathLst>
              <a:path h="4478114" w="4478114">
                <a:moveTo>
                  <a:pt x="0" y="0"/>
                </a:moveTo>
                <a:lnTo>
                  <a:pt x="4478113" y="0"/>
                </a:lnTo>
                <a:lnTo>
                  <a:pt x="4478113" y="4478113"/>
                </a:lnTo>
                <a:lnTo>
                  <a:pt x="0" y="447811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630848" y="2957291"/>
            <a:ext cx="2766696" cy="5478837"/>
          </a:xfrm>
          <a:custGeom>
            <a:avLst/>
            <a:gdLst/>
            <a:ahLst/>
            <a:cxnLst/>
            <a:rect r="r" b="b" t="t" l="l"/>
            <a:pathLst>
              <a:path h="5478837" w="2766696">
                <a:moveTo>
                  <a:pt x="0" y="0"/>
                </a:moveTo>
                <a:lnTo>
                  <a:pt x="2766696" y="0"/>
                </a:lnTo>
                <a:lnTo>
                  <a:pt x="2766696" y="5478837"/>
                </a:lnTo>
                <a:lnTo>
                  <a:pt x="0" y="547883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8403060" y="4301338"/>
            <a:ext cx="1481881" cy="1684323"/>
          </a:xfrm>
          <a:custGeom>
            <a:avLst/>
            <a:gdLst/>
            <a:ahLst/>
            <a:cxnLst/>
            <a:rect r="r" b="b" t="t" l="l"/>
            <a:pathLst>
              <a:path h="1684323" w="1481881">
                <a:moveTo>
                  <a:pt x="0" y="0"/>
                </a:moveTo>
                <a:lnTo>
                  <a:pt x="1481880" y="0"/>
                </a:lnTo>
                <a:lnTo>
                  <a:pt x="1481880" y="1684324"/>
                </a:lnTo>
                <a:lnTo>
                  <a:pt x="0" y="168432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529123" y="8973967"/>
            <a:ext cx="4970145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  <a:spcBef>
                <a:spcPct val="0"/>
              </a:spcBef>
            </a:pPr>
            <a:r>
              <a:rPr lang="en-US" b="true" sz="384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Mobile Application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844640" y="8953965"/>
            <a:ext cx="4970145" cy="654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76"/>
              </a:lnSpc>
              <a:spcBef>
                <a:spcPct val="0"/>
              </a:spcBef>
            </a:pPr>
            <a:r>
              <a:rPr lang="en-US" b="true" sz="3840">
                <a:solidFill>
                  <a:srgbClr val="21212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Bracelet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6834" t="-71491" r="-100508" b="-68144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2331271" y="971550"/>
            <a:ext cx="8827330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One Wristband, Complete Peace of Mind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Solution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097314" y="3235745"/>
            <a:ext cx="4419339" cy="2479585"/>
          </a:xfrm>
          <a:custGeom>
            <a:avLst/>
            <a:gdLst/>
            <a:ahLst/>
            <a:cxnLst/>
            <a:rect r="r" b="b" t="t" l="l"/>
            <a:pathLst>
              <a:path h="2479585" w="4419339">
                <a:moveTo>
                  <a:pt x="0" y="0"/>
                </a:moveTo>
                <a:lnTo>
                  <a:pt x="4419339" y="0"/>
                </a:lnTo>
                <a:lnTo>
                  <a:pt x="4419339" y="2479585"/>
                </a:lnTo>
                <a:lnTo>
                  <a:pt x="0" y="24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98" t="-44179" r="-44676" b="-1443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097314" y="6096138"/>
            <a:ext cx="4419339" cy="2479585"/>
          </a:xfrm>
          <a:custGeom>
            <a:avLst/>
            <a:gdLst/>
            <a:ahLst/>
            <a:cxnLst/>
            <a:rect r="r" b="b" t="t" l="l"/>
            <a:pathLst>
              <a:path h="2479585" w="4419339">
                <a:moveTo>
                  <a:pt x="0" y="0"/>
                </a:moveTo>
                <a:lnTo>
                  <a:pt x="4419339" y="0"/>
                </a:lnTo>
                <a:lnTo>
                  <a:pt x="4419339" y="2479585"/>
                </a:lnTo>
                <a:lnTo>
                  <a:pt x="0" y="24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98" t="-44179" r="-44676" b="-14439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4259214" y="3235745"/>
            <a:ext cx="4419339" cy="2479585"/>
          </a:xfrm>
          <a:custGeom>
            <a:avLst/>
            <a:gdLst/>
            <a:ahLst/>
            <a:cxnLst/>
            <a:rect r="r" b="b" t="t" l="l"/>
            <a:pathLst>
              <a:path h="2479585" w="4419339">
                <a:moveTo>
                  <a:pt x="0" y="0"/>
                </a:moveTo>
                <a:lnTo>
                  <a:pt x="4419339" y="0"/>
                </a:lnTo>
                <a:lnTo>
                  <a:pt x="4419339" y="2479585"/>
                </a:lnTo>
                <a:lnTo>
                  <a:pt x="0" y="24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98" t="-44179" r="-44676" b="-14439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259214" y="6096138"/>
            <a:ext cx="4419339" cy="2479585"/>
          </a:xfrm>
          <a:custGeom>
            <a:avLst/>
            <a:gdLst/>
            <a:ahLst/>
            <a:cxnLst/>
            <a:rect r="r" b="b" t="t" l="l"/>
            <a:pathLst>
              <a:path h="2479585" w="4419339">
                <a:moveTo>
                  <a:pt x="0" y="0"/>
                </a:moveTo>
                <a:lnTo>
                  <a:pt x="4419339" y="0"/>
                </a:lnTo>
                <a:lnTo>
                  <a:pt x="4419339" y="2479585"/>
                </a:lnTo>
                <a:lnTo>
                  <a:pt x="0" y="247958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5398" t="-44179" r="-44676" b="-14439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9624559" y="6566738"/>
            <a:ext cx="1736418" cy="1686178"/>
          </a:xfrm>
          <a:custGeom>
            <a:avLst/>
            <a:gdLst/>
            <a:ahLst/>
            <a:cxnLst/>
            <a:rect r="r" b="b" t="t" l="l"/>
            <a:pathLst>
              <a:path h="1686178" w="1736418">
                <a:moveTo>
                  <a:pt x="0" y="0"/>
                </a:moveTo>
                <a:lnTo>
                  <a:pt x="1736418" y="0"/>
                </a:lnTo>
                <a:lnTo>
                  <a:pt x="1736418" y="1686178"/>
                </a:lnTo>
                <a:lnTo>
                  <a:pt x="0" y="16861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9624559" y="3599173"/>
            <a:ext cx="1369388" cy="1738906"/>
          </a:xfrm>
          <a:custGeom>
            <a:avLst/>
            <a:gdLst/>
            <a:ahLst/>
            <a:cxnLst/>
            <a:rect r="r" b="b" t="t" l="l"/>
            <a:pathLst>
              <a:path h="1738906" w="1369388">
                <a:moveTo>
                  <a:pt x="0" y="0"/>
                </a:moveTo>
                <a:lnTo>
                  <a:pt x="1369388" y="0"/>
                </a:lnTo>
                <a:lnTo>
                  <a:pt x="1369388" y="1738906"/>
                </a:lnTo>
                <a:lnTo>
                  <a:pt x="0" y="173890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001140" y="3599173"/>
            <a:ext cx="1173685" cy="1751768"/>
          </a:xfrm>
          <a:custGeom>
            <a:avLst/>
            <a:gdLst/>
            <a:ahLst/>
            <a:cxnLst/>
            <a:rect r="r" b="b" t="t" l="l"/>
            <a:pathLst>
              <a:path h="1751768" w="1173685">
                <a:moveTo>
                  <a:pt x="0" y="0"/>
                </a:moveTo>
                <a:lnTo>
                  <a:pt x="1173685" y="0"/>
                </a:lnTo>
                <a:lnTo>
                  <a:pt x="1173685" y="1751768"/>
                </a:lnTo>
                <a:lnTo>
                  <a:pt x="0" y="175176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3771347" y="6697488"/>
            <a:ext cx="1634007" cy="1258185"/>
          </a:xfrm>
          <a:custGeom>
            <a:avLst/>
            <a:gdLst/>
            <a:ahLst/>
            <a:cxnLst/>
            <a:rect r="r" b="b" t="t" l="l"/>
            <a:pathLst>
              <a:path h="1258185" w="1634007">
                <a:moveTo>
                  <a:pt x="0" y="0"/>
                </a:moveTo>
                <a:lnTo>
                  <a:pt x="1634007" y="0"/>
                </a:lnTo>
                <a:lnTo>
                  <a:pt x="1634007" y="1258185"/>
                </a:lnTo>
                <a:lnTo>
                  <a:pt x="0" y="125818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1883173" y="3477571"/>
            <a:ext cx="2088030" cy="17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3"/>
              </a:lnSpc>
              <a:spcBef>
                <a:spcPct val="0"/>
              </a:spcBef>
            </a:pPr>
            <a:r>
              <a:rPr lang="en-US" b="true" sz="3799" strike="noStrike" u="none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Family Groups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26562" y="6337964"/>
            <a:ext cx="3001252" cy="17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3"/>
              </a:lnSpc>
              <a:spcBef>
                <a:spcPct val="0"/>
              </a:spcBef>
            </a:pPr>
            <a:r>
              <a:rPr lang="en-US" b="true" sz="3799" strike="noStrike" u="none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First-time Pilagrims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46121" y="3477091"/>
            <a:ext cx="2720534" cy="17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43"/>
              </a:lnSpc>
            </a:pPr>
            <a:r>
              <a:rPr lang="en-US" b="true" sz="37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Elderly &amp; High-Risk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483426" y="6323345"/>
            <a:ext cx="3116920" cy="17387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143"/>
              </a:lnSpc>
              <a:spcBef>
                <a:spcPct val="0"/>
              </a:spcBef>
            </a:pPr>
            <a:r>
              <a:rPr lang="en-US" b="true" sz="3799" strike="noStrike" u="none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International Pilagrism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-96834" t="-71491" r="-100508" b="-6814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783733" y="1950725"/>
            <a:ext cx="2720534" cy="11320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75"/>
              </a:lnSpc>
            </a:pPr>
            <a:r>
              <a:rPr lang="en-US" b="true" sz="51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B2C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1271" y="971550"/>
            <a:ext cx="8340536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Who We Serve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Customer Segments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834" t="-71491" r="-100508" b="-68144"/>
            </a:stretch>
          </a:blipFill>
        </p:spPr>
      </p:sp>
      <p:sp>
        <p:nvSpPr>
          <p:cNvPr name="AutoShape 8" id="8"/>
          <p:cNvSpPr/>
          <p:nvPr/>
        </p:nvSpPr>
        <p:spPr>
          <a:xfrm>
            <a:off x="4303497" y="5741172"/>
            <a:ext cx="10364362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AutoShape 9" id="9"/>
          <p:cNvSpPr/>
          <p:nvPr/>
        </p:nvSpPr>
        <p:spPr>
          <a:xfrm flipV="true">
            <a:off x="9431594" y="2277256"/>
            <a:ext cx="0" cy="721135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triangle" len="med" w="lg"/>
            <a:tailEnd type="triangle" len="med" w="lg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034000" y="2512716"/>
            <a:ext cx="1688878" cy="1688878"/>
          </a:xfrm>
          <a:custGeom>
            <a:avLst/>
            <a:gdLst/>
            <a:ahLst/>
            <a:cxnLst/>
            <a:rect r="r" b="b" t="t" l="l"/>
            <a:pathLst>
              <a:path h="1688878" w="1688878">
                <a:moveTo>
                  <a:pt x="0" y="0"/>
                </a:moveTo>
                <a:lnTo>
                  <a:pt x="1688878" y="0"/>
                </a:lnTo>
                <a:lnTo>
                  <a:pt x="1688878" y="1688878"/>
                </a:lnTo>
                <a:lnTo>
                  <a:pt x="0" y="168887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7885908" y="4029622"/>
            <a:ext cx="1382657" cy="1345455"/>
          </a:xfrm>
          <a:custGeom>
            <a:avLst/>
            <a:gdLst/>
            <a:ahLst/>
            <a:cxnLst/>
            <a:rect r="r" b="b" t="t" l="l"/>
            <a:pathLst>
              <a:path h="1345455" w="1382657">
                <a:moveTo>
                  <a:pt x="0" y="0"/>
                </a:moveTo>
                <a:lnTo>
                  <a:pt x="1382656" y="0"/>
                </a:lnTo>
                <a:lnTo>
                  <a:pt x="1382656" y="1345455"/>
                </a:lnTo>
                <a:lnTo>
                  <a:pt x="0" y="1345455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5478160" y="6039427"/>
            <a:ext cx="1530787" cy="1487258"/>
          </a:xfrm>
          <a:custGeom>
            <a:avLst/>
            <a:gdLst/>
            <a:ahLst/>
            <a:cxnLst/>
            <a:rect r="r" b="b" t="t" l="l"/>
            <a:pathLst>
              <a:path h="1487258" w="1530787">
                <a:moveTo>
                  <a:pt x="0" y="0"/>
                </a:moveTo>
                <a:lnTo>
                  <a:pt x="1530787" y="0"/>
                </a:lnTo>
                <a:lnTo>
                  <a:pt x="1530787" y="1487257"/>
                </a:lnTo>
                <a:lnTo>
                  <a:pt x="0" y="14872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110821" y="7101714"/>
            <a:ext cx="1418072" cy="1385093"/>
          </a:xfrm>
          <a:custGeom>
            <a:avLst/>
            <a:gdLst/>
            <a:ahLst/>
            <a:cxnLst/>
            <a:rect r="r" b="b" t="t" l="l"/>
            <a:pathLst>
              <a:path h="1385093" w="1418072">
                <a:moveTo>
                  <a:pt x="0" y="0"/>
                </a:moveTo>
                <a:lnTo>
                  <a:pt x="1418071" y="0"/>
                </a:lnTo>
                <a:lnTo>
                  <a:pt x="1418071" y="1385093"/>
                </a:lnTo>
                <a:lnTo>
                  <a:pt x="0" y="1385093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4090197" y="7703314"/>
            <a:ext cx="1535507" cy="1535507"/>
          </a:xfrm>
          <a:custGeom>
            <a:avLst/>
            <a:gdLst/>
            <a:ahLst/>
            <a:cxnLst/>
            <a:rect r="r" b="b" t="t" l="l"/>
            <a:pathLst>
              <a:path h="1535507" w="1535507">
                <a:moveTo>
                  <a:pt x="0" y="0"/>
                </a:moveTo>
                <a:lnTo>
                  <a:pt x="1535507" y="0"/>
                </a:lnTo>
                <a:lnTo>
                  <a:pt x="1535507" y="1535507"/>
                </a:lnTo>
                <a:lnTo>
                  <a:pt x="0" y="153550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712055" y="5285605"/>
            <a:ext cx="2448340" cy="85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b="true" sz="2432">
                <a:solidFill>
                  <a:srgbClr val="39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Low safety &amp; peace of mind 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810960" y="5285605"/>
            <a:ext cx="2448340" cy="853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b="true" sz="2432">
                <a:solidFill>
                  <a:srgbClr val="39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High safety &amp; peace of mind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08947" y="9627042"/>
            <a:ext cx="5399828" cy="42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b="true" sz="2432">
                <a:solidFill>
                  <a:srgbClr val="39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Low ease of performing rituals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110821" y="1787240"/>
            <a:ext cx="5399828" cy="424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5"/>
              </a:lnSpc>
              <a:spcBef>
                <a:spcPct val="0"/>
              </a:spcBef>
            </a:pPr>
            <a:r>
              <a:rPr lang="en-US" b="true" sz="2432">
                <a:solidFill>
                  <a:srgbClr val="39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High ease of performing rituals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2510649" y="3008675"/>
            <a:ext cx="1709153" cy="1192919"/>
          </a:xfrm>
          <a:custGeom>
            <a:avLst/>
            <a:gdLst/>
            <a:ahLst/>
            <a:cxnLst/>
            <a:rect r="r" b="b" t="t" l="l"/>
            <a:pathLst>
              <a:path h="1192919" w="1709153">
                <a:moveTo>
                  <a:pt x="0" y="0"/>
                </a:moveTo>
                <a:lnTo>
                  <a:pt x="1709152" y="0"/>
                </a:lnTo>
                <a:lnTo>
                  <a:pt x="1709152" y="1192919"/>
                </a:lnTo>
                <a:lnTo>
                  <a:pt x="0" y="119291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96834" t="-71491" r="-100508" b="-68144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2331271" y="971550"/>
            <a:ext cx="8340536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The only Wearable Solution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Competitive Landscape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85621" y="3042419"/>
            <a:ext cx="5120215" cy="5871245"/>
          </a:xfrm>
          <a:custGeom>
            <a:avLst/>
            <a:gdLst/>
            <a:ahLst/>
            <a:cxnLst/>
            <a:rect r="r" b="b" t="t" l="l"/>
            <a:pathLst>
              <a:path h="5871245" w="5120215">
                <a:moveTo>
                  <a:pt x="0" y="0"/>
                </a:moveTo>
                <a:lnTo>
                  <a:pt x="5120216" y="0"/>
                </a:lnTo>
                <a:lnTo>
                  <a:pt x="5120216" y="5871246"/>
                </a:lnTo>
                <a:lnTo>
                  <a:pt x="0" y="58712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155052" y="4278452"/>
            <a:ext cx="3424041" cy="59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b="true" sz="3499">
                <a:solidFill>
                  <a:srgbClr val="F1F1F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5,169,929,675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553985" y="8064055"/>
            <a:ext cx="2383487" cy="4578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39"/>
              </a:lnSpc>
              <a:spcBef>
                <a:spcPct val="0"/>
              </a:spcBef>
            </a:pPr>
            <a:r>
              <a:rPr lang="en-US" b="true" sz="2599" strike="noStrike" u="none">
                <a:solidFill>
                  <a:srgbClr val="F1F1F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598,850,187</a:t>
            </a:r>
          </a:p>
        </p:txBody>
      </p:sp>
      <p:sp>
        <p:nvSpPr>
          <p:cNvPr name="AutoShape 10" id="10"/>
          <p:cNvSpPr/>
          <p:nvPr/>
        </p:nvSpPr>
        <p:spPr>
          <a:xfrm>
            <a:off x="8167930" y="4125431"/>
            <a:ext cx="6791403" cy="0"/>
          </a:xfrm>
          <a:prstGeom prst="line">
            <a:avLst/>
          </a:prstGeom>
          <a:ln cap="flat" w="38100">
            <a:solidFill>
              <a:srgbClr val="9C8C82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7579093" y="6253169"/>
            <a:ext cx="6333897" cy="0"/>
          </a:xfrm>
          <a:prstGeom prst="line">
            <a:avLst/>
          </a:prstGeom>
          <a:ln cap="flat" w="38100">
            <a:solidFill>
              <a:srgbClr val="75665D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7031818" y="8130730"/>
            <a:ext cx="5940152" cy="0"/>
          </a:xfrm>
          <a:prstGeom prst="line">
            <a:avLst/>
          </a:prstGeom>
          <a:ln cap="flat" w="38100">
            <a:solidFill>
              <a:srgbClr val="41342D"/>
            </a:solidFill>
            <a:prstDash val="solid"/>
            <a:headEnd type="oval" len="lg" w="lg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4553985" y="3214937"/>
            <a:ext cx="2383487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F1F1F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TAM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558086" y="5256046"/>
            <a:ext cx="2383487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F1F1F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SAM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553985" y="7130287"/>
            <a:ext cx="2383487" cy="7219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9"/>
              </a:lnSpc>
              <a:spcBef>
                <a:spcPct val="0"/>
              </a:spcBef>
            </a:pPr>
            <a:r>
              <a:rPr lang="en-US" b="true" sz="4199">
                <a:solidFill>
                  <a:srgbClr val="F1F1F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SOM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428805" y="2898708"/>
            <a:ext cx="6530528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99"/>
              </a:lnSpc>
              <a:spcBef>
                <a:spcPct val="0"/>
              </a:spcBef>
            </a:pPr>
            <a:r>
              <a:rPr lang="en-US" b="true" sz="2999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Hajj &amp; Umrah market size × Unit price (purchase + rental mix)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428805" y="5107456"/>
            <a:ext cx="4877177" cy="1038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TAM × Wearable health adoption rate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328808" y="7467473"/>
            <a:ext cx="5497926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199"/>
              </a:lnSpc>
              <a:spcBef>
                <a:spcPct val="0"/>
              </a:spcBef>
            </a:pPr>
            <a:r>
              <a:rPr lang="en-US" b="true" sz="2999" strike="noStrike" u="non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SAM / (Competitors + Yusr)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170851" y="6196019"/>
            <a:ext cx="3157957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>
                <a:solidFill>
                  <a:srgbClr val="F1F1F1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3,593,101,124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834" t="-71491" r="-100508" b="-68144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331271" y="971550"/>
            <a:ext cx="8340536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Yusr’s Market Share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Market Size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5400000">
            <a:off x="6899014" y="5612626"/>
            <a:ext cx="4005106" cy="385491"/>
          </a:xfrm>
          <a:custGeom>
            <a:avLst/>
            <a:gdLst/>
            <a:ahLst/>
            <a:cxnLst/>
            <a:rect r="r" b="b" t="t" l="l"/>
            <a:pathLst>
              <a:path h="385491" w="4005106">
                <a:moveTo>
                  <a:pt x="0" y="0"/>
                </a:moveTo>
                <a:lnTo>
                  <a:pt x="4005106" y="0"/>
                </a:lnTo>
                <a:lnTo>
                  <a:pt x="4005106" y="385492"/>
                </a:lnTo>
                <a:lnTo>
                  <a:pt x="0" y="38549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456077" y="3958597"/>
            <a:ext cx="5712975" cy="102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5"/>
              </a:lnSpc>
            </a:pPr>
            <a:r>
              <a:rPr lang="en-US" b="true" sz="4726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Direct Purchase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930531" y="3958597"/>
            <a:ext cx="6330404" cy="10220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5"/>
              </a:lnSpc>
            </a:pPr>
            <a:r>
              <a:rPr lang="en-US" b="true" sz="4726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Short-Term Rental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804572" y="5375754"/>
            <a:ext cx="2477651" cy="93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8"/>
              </a:lnSpc>
            </a:pPr>
            <a:r>
              <a:rPr lang="en-US" b="true" sz="4276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267 SAR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244885" y="5375754"/>
            <a:ext cx="2477651" cy="934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038"/>
              </a:lnSpc>
            </a:pPr>
            <a:r>
              <a:rPr lang="en-US" b="true" sz="4276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40 SAR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508253" y="5710092"/>
            <a:ext cx="1400130" cy="60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77"/>
              </a:lnSpc>
            </a:pPr>
            <a:r>
              <a:rPr lang="en-US" b="true" sz="27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per day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313433" y="6842941"/>
            <a:ext cx="3998264" cy="7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134"/>
              </a:lnSpc>
            </a:pPr>
            <a:r>
              <a:rPr lang="en-US" sz="3263" i="tru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57.3% prefer rental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616293" y="6842941"/>
            <a:ext cx="4883680" cy="7089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34"/>
              </a:lnSpc>
              <a:spcBef>
                <a:spcPct val="0"/>
              </a:spcBef>
            </a:pPr>
            <a:r>
              <a:rPr lang="en-US" sz="3263" i="true" strike="noStrike" u="none">
                <a:solidFill>
                  <a:srgbClr val="000000"/>
                </a:solidFill>
                <a:latin typeface="Georgia Pro Italics"/>
                <a:ea typeface="Georgia Pro Italics"/>
                <a:cs typeface="Georgia Pro Italics"/>
                <a:sym typeface="Georgia Pro Italics"/>
              </a:rPr>
              <a:t>  42.7% prefer purchase </a:t>
            </a:r>
          </a:p>
        </p:txBody>
      </p:sp>
      <p:sp>
        <p:nvSpPr>
          <p:cNvPr name="Freeform 15" id="15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6834" t="-71491" r="-100508" b="-6814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2331271" y="971550"/>
            <a:ext cx="8340536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Two Revenue Streams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Revenue Model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1146676" y="2745969"/>
            <a:ext cx="5181471" cy="2397531"/>
            <a:chOff x="0" y="0"/>
            <a:chExt cx="6908628" cy="319670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848368"/>
              <a:ext cx="6908628" cy="2348340"/>
            </a:xfrm>
            <a:custGeom>
              <a:avLst/>
              <a:gdLst/>
              <a:ahLst/>
              <a:cxnLst/>
              <a:rect r="r" b="b" t="t" l="l"/>
              <a:pathLst>
                <a:path h="2348340" w="6908628">
                  <a:moveTo>
                    <a:pt x="0" y="0"/>
                  </a:moveTo>
                  <a:lnTo>
                    <a:pt x="6908628" y="0"/>
                  </a:lnTo>
                  <a:lnTo>
                    <a:pt x="6908628" y="2348340"/>
                  </a:lnTo>
                  <a:lnTo>
                    <a:pt x="0" y="2348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26" t="-97490" r="-34716" b="-46309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TextBox 9" id="9"/>
            <p:cNvSpPr txBox="true"/>
            <p:nvPr/>
          </p:nvSpPr>
          <p:spPr>
            <a:xfrm rot="0">
              <a:off x="0" y="-219075"/>
              <a:ext cx="2653895" cy="907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92"/>
                </a:lnSpc>
              </a:pPr>
              <a:r>
                <a:rPr lang="en-US" b="true" sz="3400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Year 1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843428" y="1182519"/>
              <a:ext cx="3221771" cy="840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28"/>
                </a:lnSpc>
              </a:pPr>
              <a:r>
                <a:rPr lang="en-US" b="true" sz="3100">
                  <a:solidFill>
                    <a:srgbClr val="BD3A3A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798K SAR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933508" y="2201258"/>
              <a:ext cx="5149836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Startup investment year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1146676" y="5270174"/>
            <a:ext cx="5181471" cy="2397531"/>
            <a:chOff x="0" y="0"/>
            <a:chExt cx="6908628" cy="319670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848368"/>
              <a:ext cx="6908628" cy="2348340"/>
            </a:xfrm>
            <a:custGeom>
              <a:avLst/>
              <a:gdLst/>
              <a:ahLst/>
              <a:cxnLst/>
              <a:rect r="r" b="b" t="t" l="l"/>
              <a:pathLst>
                <a:path h="2348340" w="6908628">
                  <a:moveTo>
                    <a:pt x="0" y="0"/>
                  </a:moveTo>
                  <a:lnTo>
                    <a:pt x="6908628" y="0"/>
                  </a:lnTo>
                  <a:lnTo>
                    <a:pt x="6908628" y="2348340"/>
                  </a:lnTo>
                  <a:lnTo>
                    <a:pt x="0" y="2348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26" t="-97490" r="-34716" b="-46309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0" y="-219075"/>
              <a:ext cx="2653895" cy="907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92"/>
                </a:lnSpc>
              </a:pPr>
              <a:r>
                <a:rPr lang="en-US" b="true" sz="3400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Year 2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1843428" y="1182519"/>
              <a:ext cx="3221771" cy="840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28"/>
                </a:lnSpc>
              </a:pPr>
              <a:r>
                <a:rPr lang="en-US" b="true" sz="3100">
                  <a:solidFill>
                    <a:srgbClr val="007A3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1.88M SAR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933508" y="2201258"/>
              <a:ext cx="5149836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Break-even achieved 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146676" y="7794378"/>
            <a:ext cx="5181471" cy="2397531"/>
            <a:chOff x="0" y="0"/>
            <a:chExt cx="6908628" cy="319670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848368"/>
              <a:ext cx="6908628" cy="2348340"/>
            </a:xfrm>
            <a:custGeom>
              <a:avLst/>
              <a:gdLst/>
              <a:ahLst/>
              <a:cxnLst/>
              <a:rect r="r" b="b" t="t" l="l"/>
              <a:pathLst>
                <a:path h="2348340" w="6908628">
                  <a:moveTo>
                    <a:pt x="0" y="0"/>
                  </a:moveTo>
                  <a:lnTo>
                    <a:pt x="6908628" y="0"/>
                  </a:lnTo>
                  <a:lnTo>
                    <a:pt x="6908628" y="2348340"/>
                  </a:lnTo>
                  <a:lnTo>
                    <a:pt x="0" y="23483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5026" t="-97490" r="-34716" b="-46309"/>
              </a:stretch>
            </a:blipFill>
            <a:ln cap="rnd">
              <a:noFill/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-219075"/>
              <a:ext cx="2653895" cy="90707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392"/>
                </a:lnSpc>
              </a:pPr>
              <a:r>
                <a:rPr lang="en-US" b="true" sz="3400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Year 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1843428" y="1182519"/>
              <a:ext cx="3221771" cy="8400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828"/>
                </a:lnSpc>
              </a:pPr>
              <a:r>
                <a:rPr lang="en-US" b="true" sz="3100">
                  <a:solidFill>
                    <a:srgbClr val="007A3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2.77</a:t>
              </a:r>
              <a:r>
                <a:rPr lang="en-US" b="true" sz="3100">
                  <a:solidFill>
                    <a:srgbClr val="007A3F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SAR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831908" y="2201258"/>
              <a:ext cx="5149836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+47.2% profit growth</a:t>
              </a:r>
            </a:p>
          </p:txBody>
        </p:sp>
      </p:grpSp>
      <p:pic>
        <p:nvPicPr>
          <p:cNvPr name="Picture 22" id="2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609568" y="1956923"/>
            <a:ext cx="9468553" cy="8734295"/>
          </a:xfrm>
          <a:prstGeom prst="rect">
            <a:avLst/>
          </a:prstGeom>
        </p:spPr>
      </p:pic>
      <p:sp>
        <p:nvSpPr>
          <p:cNvPr name="Freeform 23" id="23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96834" t="-71491" r="-100508" b="-68144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2331271" y="971550"/>
            <a:ext cx="8340536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Profitable by Year 2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Financial Projection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247428" y="2948331"/>
            <a:ext cx="5223651" cy="2238393"/>
            <a:chOff x="0" y="0"/>
            <a:chExt cx="6964868" cy="29845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964868" cy="2984524"/>
            </a:xfrm>
            <a:custGeom>
              <a:avLst/>
              <a:gdLst/>
              <a:ahLst/>
              <a:cxnLst/>
              <a:rect r="r" b="b" t="t" l="l"/>
              <a:pathLst>
                <a:path h="2984524" w="6964868">
                  <a:moveTo>
                    <a:pt x="0" y="0"/>
                  </a:moveTo>
                  <a:lnTo>
                    <a:pt x="6964868" y="0"/>
                  </a:lnTo>
                  <a:lnTo>
                    <a:pt x="6964868" y="2984524"/>
                  </a:lnTo>
                  <a:lnTo>
                    <a:pt x="0" y="2984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35" t="-49584" r="-26920" b="-32616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 rot="0">
              <a:off x="1358983" y="457196"/>
              <a:ext cx="4953449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Walaa Saif Alislam Mohammed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1696197" y="1939513"/>
              <a:ext cx="4279022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CEO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247428" y="5315655"/>
            <a:ext cx="5223651" cy="2238393"/>
            <a:chOff x="0" y="0"/>
            <a:chExt cx="6964868" cy="2984524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964868" cy="2984524"/>
            </a:xfrm>
            <a:custGeom>
              <a:avLst/>
              <a:gdLst/>
              <a:ahLst/>
              <a:cxnLst/>
              <a:rect r="r" b="b" t="t" l="l"/>
              <a:pathLst>
                <a:path h="2984524" w="6964868">
                  <a:moveTo>
                    <a:pt x="0" y="0"/>
                  </a:moveTo>
                  <a:lnTo>
                    <a:pt x="6964868" y="0"/>
                  </a:lnTo>
                  <a:lnTo>
                    <a:pt x="6964868" y="2984524"/>
                  </a:lnTo>
                  <a:lnTo>
                    <a:pt x="0" y="2984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35" t="-49584" r="-26920" b="-32616"/>
              </a:stretch>
            </a:blipFill>
          </p:spPr>
        </p:sp>
        <p:sp>
          <p:nvSpPr>
            <p:cNvPr name="TextBox 13" id="13"/>
            <p:cNvSpPr txBox="true"/>
            <p:nvPr/>
          </p:nvSpPr>
          <p:spPr>
            <a:xfrm rot="0">
              <a:off x="1696197" y="457196"/>
              <a:ext cx="4953449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Alj</a:t>
              </a: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awharah Ahmed Alsubaie 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2033410" y="1939513"/>
              <a:ext cx="4279022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Director of UX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10313321" y="2853721"/>
            <a:ext cx="5223651" cy="2254521"/>
            <a:chOff x="0" y="0"/>
            <a:chExt cx="6964868" cy="300602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64868" cy="3006028"/>
            </a:xfrm>
            <a:custGeom>
              <a:avLst/>
              <a:gdLst/>
              <a:ahLst/>
              <a:cxnLst/>
              <a:rect r="r" b="b" t="t" l="l"/>
              <a:pathLst>
                <a:path h="3006028" w="6964868">
                  <a:moveTo>
                    <a:pt x="0" y="0"/>
                  </a:moveTo>
                  <a:lnTo>
                    <a:pt x="6964868" y="0"/>
                  </a:lnTo>
                  <a:lnTo>
                    <a:pt x="6964868" y="3006028"/>
                  </a:lnTo>
                  <a:lnTo>
                    <a:pt x="0" y="30060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347" t="-37106" r="-20752" b="-29287"/>
              </a:stretch>
            </a:blipFill>
          </p:spPr>
        </p:sp>
        <p:sp>
          <p:nvSpPr>
            <p:cNvPr name="TextBox 17" id="17"/>
            <p:cNvSpPr txBox="true"/>
            <p:nvPr/>
          </p:nvSpPr>
          <p:spPr>
            <a:xfrm rot="0">
              <a:off x="1696197" y="170630"/>
              <a:ext cx="4953449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F</a:t>
              </a: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ajer Mohammed Alamro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1864803" y="1596893"/>
              <a:ext cx="4616236" cy="12961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97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Operations &amp; Finance Manager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313321" y="5334679"/>
            <a:ext cx="5223651" cy="2238393"/>
            <a:chOff x="0" y="0"/>
            <a:chExt cx="6964868" cy="2984524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964868" cy="2984524"/>
            </a:xfrm>
            <a:custGeom>
              <a:avLst/>
              <a:gdLst/>
              <a:ahLst/>
              <a:cxnLst/>
              <a:rect r="r" b="b" t="t" l="l"/>
              <a:pathLst>
                <a:path h="2984524" w="6964868">
                  <a:moveTo>
                    <a:pt x="0" y="0"/>
                  </a:moveTo>
                  <a:lnTo>
                    <a:pt x="6964868" y="0"/>
                  </a:lnTo>
                  <a:lnTo>
                    <a:pt x="6964868" y="2984524"/>
                  </a:lnTo>
                  <a:lnTo>
                    <a:pt x="0" y="2984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735" t="-49584" r="-26920" b="-32616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 rot="0">
              <a:off x="1696197" y="457196"/>
              <a:ext cx="4953449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</a:t>
              </a: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ama Khalid Alomair </a:t>
              </a:r>
            </a:p>
          </p:txBody>
        </p:sp>
        <p:sp>
          <p:nvSpPr>
            <p:cNvPr name="TextBox 22" id="22"/>
            <p:cNvSpPr txBox="true"/>
            <p:nvPr/>
          </p:nvSpPr>
          <p:spPr>
            <a:xfrm rot="0">
              <a:off x="2033410" y="1939513"/>
              <a:ext cx="4279022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AI Specialist </a:t>
              </a: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0313321" y="7721027"/>
            <a:ext cx="5223651" cy="2238393"/>
            <a:chOff x="0" y="0"/>
            <a:chExt cx="6964868" cy="2984524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964868" cy="2984524"/>
            </a:xfrm>
            <a:custGeom>
              <a:avLst/>
              <a:gdLst/>
              <a:ahLst/>
              <a:cxnLst/>
              <a:rect r="r" b="b" t="t" l="l"/>
              <a:pathLst>
                <a:path h="2984524" w="6964868">
                  <a:moveTo>
                    <a:pt x="0" y="0"/>
                  </a:moveTo>
                  <a:lnTo>
                    <a:pt x="6964868" y="0"/>
                  </a:lnTo>
                  <a:lnTo>
                    <a:pt x="6964868" y="2984524"/>
                  </a:lnTo>
                  <a:lnTo>
                    <a:pt x="0" y="2984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968" r="-20264" b="-25468"/>
              </a:stretch>
            </a:blipFill>
          </p:spPr>
        </p:sp>
        <p:sp>
          <p:nvSpPr>
            <p:cNvPr name="TextBox 25" id="25"/>
            <p:cNvSpPr txBox="true"/>
            <p:nvPr/>
          </p:nvSpPr>
          <p:spPr>
            <a:xfrm rot="0">
              <a:off x="1696197" y="457196"/>
              <a:ext cx="4953449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Remas Hezam Alsubaie 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033410" y="1952280"/>
              <a:ext cx="4279022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Marketing Specialist</a:t>
              </a: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3247428" y="7721027"/>
            <a:ext cx="5223651" cy="2238393"/>
            <a:chOff x="0" y="0"/>
            <a:chExt cx="6964868" cy="2984524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964868" cy="2984524"/>
            </a:xfrm>
            <a:custGeom>
              <a:avLst/>
              <a:gdLst/>
              <a:ahLst/>
              <a:cxnLst/>
              <a:rect r="r" b="b" t="t" l="l"/>
              <a:pathLst>
                <a:path h="2984524" w="6964868">
                  <a:moveTo>
                    <a:pt x="0" y="0"/>
                  </a:moveTo>
                  <a:lnTo>
                    <a:pt x="6964868" y="0"/>
                  </a:lnTo>
                  <a:lnTo>
                    <a:pt x="6964868" y="2984524"/>
                  </a:lnTo>
                  <a:lnTo>
                    <a:pt x="0" y="29845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40968" r="-20264" b="-25468"/>
              </a:stretch>
            </a:blipFill>
          </p:spPr>
        </p:sp>
        <p:sp>
          <p:nvSpPr>
            <p:cNvPr name="TextBox 29" id="29"/>
            <p:cNvSpPr txBox="true"/>
            <p:nvPr/>
          </p:nvSpPr>
          <p:spPr>
            <a:xfrm rot="0">
              <a:off x="1358983" y="381885"/>
              <a:ext cx="4953449" cy="13620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9"/>
                </a:lnSpc>
                <a:spcBef>
                  <a:spcPct val="0"/>
                </a:spcBef>
              </a:pP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 </a:t>
              </a: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Rim</a:t>
              </a:r>
              <a:r>
                <a:rPr lang="en-US" b="true" sz="2999">
                  <a:solidFill>
                    <a:srgbClr val="000000"/>
                  </a:solidFill>
                  <a:latin typeface="Georgia Pro Bold"/>
                  <a:ea typeface="Georgia Pro Bold"/>
                  <a:cs typeface="Georgia Pro Bold"/>
                  <a:sym typeface="Georgia Pro Bold"/>
                </a:rPr>
                <a:t>a Khalid Alsonbul 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033410" y="1939513"/>
              <a:ext cx="4279022" cy="7070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88"/>
                </a:lnSpc>
              </a:pPr>
              <a:r>
                <a:rPr lang="en-US" sz="2600" i="true">
                  <a:solidFill>
                    <a:srgbClr val="000000"/>
                  </a:solidFill>
                  <a:latin typeface="Georgia Pro Italics"/>
                  <a:ea typeface="Georgia Pro Italics"/>
                  <a:cs typeface="Georgia Pro Italics"/>
                  <a:sym typeface="Georgia Pro Italics"/>
                </a:rPr>
                <a:t>Hardware Engineer</a:t>
              </a:r>
            </a:p>
          </p:txBody>
        </p:sp>
      </p:grpSp>
      <p:sp>
        <p:nvSpPr>
          <p:cNvPr name="Freeform 31" id="31"/>
          <p:cNvSpPr/>
          <p:nvPr/>
        </p:nvSpPr>
        <p:spPr>
          <a:xfrm flipH="false" flipV="false" rot="0">
            <a:off x="9507899" y="7736179"/>
            <a:ext cx="2201475" cy="2201475"/>
          </a:xfrm>
          <a:custGeom>
            <a:avLst/>
            <a:gdLst/>
            <a:ahLst/>
            <a:cxnLst/>
            <a:rect r="r" b="b" t="t" l="l"/>
            <a:pathLst>
              <a:path h="2201475" w="2201475">
                <a:moveTo>
                  <a:pt x="0" y="0"/>
                </a:moveTo>
                <a:lnTo>
                  <a:pt x="2201475" y="0"/>
                </a:lnTo>
                <a:lnTo>
                  <a:pt x="2201475" y="2201475"/>
                </a:lnTo>
                <a:lnTo>
                  <a:pt x="0" y="220147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331271" y="7751331"/>
            <a:ext cx="2171171" cy="2171171"/>
          </a:xfrm>
          <a:custGeom>
            <a:avLst/>
            <a:gdLst/>
            <a:ahLst/>
            <a:cxnLst/>
            <a:rect r="r" b="b" t="t" l="l"/>
            <a:pathLst>
              <a:path h="2171171" w="2171171">
                <a:moveTo>
                  <a:pt x="0" y="0"/>
                </a:moveTo>
                <a:lnTo>
                  <a:pt x="2171171" y="0"/>
                </a:lnTo>
                <a:lnTo>
                  <a:pt x="2171171" y="2171171"/>
                </a:lnTo>
                <a:lnTo>
                  <a:pt x="0" y="217117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2331271" y="5309307"/>
            <a:ext cx="2192672" cy="2192672"/>
          </a:xfrm>
          <a:custGeom>
            <a:avLst/>
            <a:gdLst/>
            <a:ahLst/>
            <a:cxnLst/>
            <a:rect r="r" b="b" t="t" l="l"/>
            <a:pathLst>
              <a:path h="2192672" w="2192672">
                <a:moveTo>
                  <a:pt x="0" y="0"/>
                </a:moveTo>
                <a:lnTo>
                  <a:pt x="2192671" y="0"/>
                </a:lnTo>
                <a:lnTo>
                  <a:pt x="2192671" y="2192671"/>
                </a:lnTo>
                <a:lnTo>
                  <a:pt x="0" y="21926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34" id="34"/>
          <p:cNvSpPr/>
          <p:nvPr/>
        </p:nvSpPr>
        <p:spPr>
          <a:xfrm flipH="false" flipV="false" rot="0">
            <a:off x="9657169" y="2948331"/>
            <a:ext cx="2106349" cy="2106349"/>
          </a:xfrm>
          <a:custGeom>
            <a:avLst/>
            <a:gdLst/>
            <a:ahLst/>
            <a:cxnLst/>
            <a:rect r="r" b="b" t="t" l="l"/>
            <a:pathLst>
              <a:path h="2106349" w="2106349">
                <a:moveTo>
                  <a:pt x="0" y="0"/>
                </a:moveTo>
                <a:lnTo>
                  <a:pt x="2106350" y="0"/>
                </a:lnTo>
                <a:lnTo>
                  <a:pt x="2106350" y="2106349"/>
                </a:lnTo>
                <a:lnTo>
                  <a:pt x="0" y="210634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35" id="35"/>
          <p:cNvSpPr/>
          <p:nvPr/>
        </p:nvSpPr>
        <p:spPr>
          <a:xfrm flipH="false" flipV="false" rot="0">
            <a:off x="2393121" y="2948331"/>
            <a:ext cx="2047470" cy="2047470"/>
          </a:xfrm>
          <a:custGeom>
            <a:avLst/>
            <a:gdLst/>
            <a:ahLst/>
            <a:cxnLst/>
            <a:rect r="r" b="b" t="t" l="l"/>
            <a:pathLst>
              <a:path h="2047470" w="2047470">
                <a:moveTo>
                  <a:pt x="0" y="0"/>
                </a:moveTo>
                <a:lnTo>
                  <a:pt x="2047470" y="0"/>
                </a:lnTo>
                <a:lnTo>
                  <a:pt x="2047470" y="2047469"/>
                </a:lnTo>
                <a:lnTo>
                  <a:pt x="0" y="204746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9448462" y="5309307"/>
            <a:ext cx="2211696" cy="2211696"/>
            <a:chOff x="0" y="0"/>
            <a:chExt cx="812800" cy="812800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10"/>
              <a:stretch>
                <a:fillRect l="0" t="0" r="0" b="0"/>
              </a:stretch>
            </a:blipFill>
          </p:spPr>
        </p:sp>
      </p:grpSp>
      <p:sp>
        <p:nvSpPr>
          <p:cNvPr name="TextBox 38" id="38"/>
          <p:cNvSpPr txBox="true"/>
          <p:nvPr/>
        </p:nvSpPr>
        <p:spPr>
          <a:xfrm rot="0">
            <a:off x="2331271" y="861018"/>
            <a:ext cx="8340536" cy="537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Yusr Team Members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331271" y="29752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b="tru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The Team</a:t>
            </a:r>
          </a:p>
        </p:txBody>
      </p:sp>
      <p:sp>
        <p:nvSpPr>
          <p:cNvPr name="Freeform 40" id="40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-96834" t="-71491" r="-100508" b="-68144"/>
            </a:stretch>
          </a:blipFill>
        </p:spPr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098834" y="971550"/>
            <a:ext cx="8340536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Early Traction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098834" y="359365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Marketing Campaign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809233" y="1033596"/>
            <a:ext cx="4530954" cy="8965270"/>
            <a:chOff x="0" y="0"/>
            <a:chExt cx="6041271" cy="11953694"/>
          </a:xfrm>
        </p:grpSpPr>
        <p:grpSp>
          <p:nvGrpSpPr>
            <p:cNvPr name="Group 10" id="10"/>
            <p:cNvGrpSpPr>
              <a:grpSpLocks noChangeAspect="true"/>
            </p:cNvGrpSpPr>
            <p:nvPr/>
          </p:nvGrpSpPr>
          <p:grpSpPr>
            <a:xfrm rot="0">
              <a:off x="0" y="0"/>
              <a:ext cx="6041271" cy="11953694"/>
              <a:chOff x="0" y="0"/>
              <a:chExt cx="2620010" cy="518414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53340" y="25400"/>
                <a:ext cx="2513330" cy="5132070"/>
              </a:xfrm>
              <a:custGeom>
                <a:avLst/>
                <a:gdLst/>
                <a:ahLst/>
                <a:cxnLst/>
                <a:rect r="r" b="b" t="t" l="l"/>
                <a:pathLst>
                  <a:path h="5132070" w="2513330">
                    <a:moveTo>
                      <a:pt x="2159000" y="0"/>
                    </a:moveTo>
                    <a:lnTo>
                      <a:pt x="354330" y="0"/>
                    </a:lnTo>
                    <a:cubicBezTo>
                      <a:pt x="158750" y="0"/>
                      <a:pt x="0" y="158750"/>
                      <a:pt x="0" y="354330"/>
                    </a:cubicBezTo>
                    <a:lnTo>
                      <a:pt x="0" y="4777740"/>
                    </a:lnTo>
                    <a:cubicBezTo>
                      <a:pt x="0" y="4973320"/>
                      <a:pt x="158750" y="5132070"/>
                      <a:pt x="354330" y="5132070"/>
                    </a:cubicBezTo>
                    <a:lnTo>
                      <a:pt x="2159000" y="5132070"/>
                    </a:lnTo>
                    <a:cubicBezTo>
                      <a:pt x="2354580" y="5132070"/>
                      <a:pt x="2513330" y="4973320"/>
                      <a:pt x="2513330" y="4777740"/>
                    </a:cubicBezTo>
                    <a:lnTo>
                      <a:pt x="2513330" y="354330"/>
                    </a:lnTo>
                    <a:cubicBezTo>
                      <a:pt x="2513330" y="158750"/>
                      <a:pt x="2354580" y="0"/>
                      <a:pt x="2159000" y="0"/>
                    </a:cubicBezTo>
                    <a:close/>
                    <a:moveTo>
                      <a:pt x="1558290" y="162560"/>
                    </a:moveTo>
                    <a:cubicBezTo>
                      <a:pt x="1576070" y="162560"/>
                      <a:pt x="1590040" y="176530"/>
                      <a:pt x="1590040" y="194310"/>
                    </a:cubicBezTo>
                    <a:cubicBezTo>
                      <a:pt x="1590040" y="212090"/>
                      <a:pt x="1576070" y="226060"/>
                      <a:pt x="1558290" y="226060"/>
                    </a:cubicBezTo>
                    <a:cubicBezTo>
                      <a:pt x="1540510" y="226060"/>
                      <a:pt x="1526540" y="212090"/>
                      <a:pt x="1526540" y="194310"/>
                    </a:cubicBezTo>
                    <a:cubicBezTo>
                      <a:pt x="1526540" y="176530"/>
                      <a:pt x="1541780" y="162560"/>
                      <a:pt x="1558290" y="162560"/>
                    </a:cubicBezTo>
                    <a:close/>
                    <a:moveTo>
                      <a:pt x="1089660" y="172720"/>
                    </a:moveTo>
                    <a:lnTo>
                      <a:pt x="1394460" y="172720"/>
                    </a:lnTo>
                    <a:cubicBezTo>
                      <a:pt x="1405890" y="172720"/>
                      <a:pt x="1416050" y="181610"/>
                      <a:pt x="1416050" y="194310"/>
                    </a:cubicBezTo>
                    <a:cubicBezTo>
                      <a:pt x="1416050" y="207010"/>
                      <a:pt x="1405890" y="215900"/>
                      <a:pt x="1394460" y="215900"/>
                    </a:cubicBezTo>
                    <a:lnTo>
                      <a:pt x="1089660" y="215900"/>
                    </a:lnTo>
                    <a:cubicBezTo>
                      <a:pt x="1078230" y="215900"/>
                      <a:pt x="1068070" y="207010"/>
                      <a:pt x="1068070" y="194310"/>
                    </a:cubicBezTo>
                    <a:cubicBezTo>
                      <a:pt x="1068070" y="181610"/>
                      <a:pt x="1078230" y="172720"/>
                      <a:pt x="1089660" y="172720"/>
                    </a:cubicBezTo>
                    <a:close/>
                    <a:moveTo>
                      <a:pt x="2383790" y="4798060"/>
                    </a:moveTo>
                    <a:cubicBezTo>
                      <a:pt x="2383790" y="4913630"/>
                      <a:pt x="2289810" y="5007610"/>
                      <a:pt x="2174240" y="5007610"/>
                    </a:cubicBezTo>
                    <a:lnTo>
                      <a:pt x="341630" y="5007610"/>
                    </a:lnTo>
                    <a:cubicBezTo>
                      <a:pt x="226060" y="5007610"/>
                      <a:pt x="132080" y="4913630"/>
                      <a:pt x="132080" y="4798060"/>
                    </a:cubicBezTo>
                    <a:lnTo>
                      <a:pt x="132080" y="340360"/>
                    </a:lnTo>
                    <a:cubicBezTo>
                      <a:pt x="132080" y="224790"/>
                      <a:pt x="226060" y="130810"/>
                      <a:pt x="341630" y="130810"/>
                    </a:cubicBezTo>
                    <a:lnTo>
                      <a:pt x="614680" y="130810"/>
                    </a:lnTo>
                    <a:lnTo>
                      <a:pt x="614680" y="187960"/>
                    </a:lnTo>
                    <a:cubicBezTo>
                      <a:pt x="614680" y="252730"/>
                      <a:pt x="668020" y="306070"/>
                      <a:pt x="732790" y="306070"/>
                    </a:cubicBezTo>
                    <a:lnTo>
                      <a:pt x="1783080" y="306070"/>
                    </a:lnTo>
                    <a:cubicBezTo>
                      <a:pt x="1847850" y="306070"/>
                      <a:pt x="1901190" y="252730"/>
                      <a:pt x="1901190" y="187960"/>
                    </a:cubicBezTo>
                    <a:lnTo>
                      <a:pt x="1901190" y="130810"/>
                    </a:lnTo>
                    <a:lnTo>
                      <a:pt x="2172970" y="130810"/>
                    </a:lnTo>
                    <a:cubicBezTo>
                      <a:pt x="2288540" y="130810"/>
                      <a:pt x="2382520" y="224790"/>
                      <a:pt x="2382520" y="340360"/>
                    </a:cubicBezTo>
                    <a:lnTo>
                      <a:pt x="2382520" y="479806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</p:sp>
          <p:sp>
            <p:nvSpPr>
              <p:cNvPr name="Freeform 12" id="12"/>
              <p:cNvSpPr/>
              <p:nvPr/>
            </p:nvSpPr>
            <p:spPr>
              <a:xfrm flipH="false" flipV="false" rot="0">
                <a:off x="185420" y="156210"/>
                <a:ext cx="2250453" cy="4876800"/>
              </a:xfrm>
              <a:custGeom>
                <a:avLst/>
                <a:gdLst/>
                <a:ahLst/>
                <a:cxnLst/>
                <a:rect r="r" b="b" t="t" l="l"/>
                <a:pathLst>
                  <a:path h="4876800" w="2250453">
                    <a:moveTo>
                      <a:pt x="2040890" y="0"/>
                    </a:moveTo>
                    <a:lnTo>
                      <a:pt x="1769110" y="0"/>
                    </a:lnTo>
                    <a:lnTo>
                      <a:pt x="1769110" y="57150"/>
                    </a:lnTo>
                    <a:cubicBezTo>
                      <a:pt x="1769110" y="121920"/>
                      <a:pt x="1715770" y="175260"/>
                      <a:pt x="1651000" y="175260"/>
                    </a:cubicBezTo>
                    <a:lnTo>
                      <a:pt x="601980" y="175260"/>
                    </a:lnTo>
                    <a:cubicBezTo>
                      <a:pt x="537210" y="175260"/>
                      <a:pt x="483870" y="121920"/>
                      <a:pt x="483870" y="57150"/>
                    </a:cubicBezTo>
                    <a:lnTo>
                      <a:pt x="483870" y="0"/>
                    </a:lnTo>
                    <a:lnTo>
                      <a:pt x="209550" y="0"/>
                    </a:lnTo>
                    <a:cubicBezTo>
                      <a:pt x="93980" y="0"/>
                      <a:pt x="0" y="93980"/>
                      <a:pt x="0" y="209550"/>
                    </a:cubicBezTo>
                    <a:lnTo>
                      <a:pt x="0" y="4667250"/>
                    </a:lnTo>
                    <a:cubicBezTo>
                      <a:pt x="0" y="4782820"/>
                      <a:pt x="93980" y="4876800"/>
                      <a:pt x="209550" y="4876800"/>
                    </a:cubicBezTo>
                    <a:lnTo>
                      <a:pt x="2040890" y="4876800"/>
                    </a:lnTo>
                    <a:cubicBezTo>
                      <a:pt x="2156460" y="4876800"/>
                      <a:pt x="2250440" y="4782820"/>
                      <a:pt x="2250440" y="4667250"/>
                    </a:cubicBezTo>
                    <a:lnTo>
                      <a:pt x="2250440" y="209550"/>
                    </a:lnTo>
                    <a:cubicBezTo>
                      <a:pt x="2251710" y="93980"/>
                      <a:pt x="2157730" y="0"/>
                      <a:pt x="2040890" y="0"/>
                    </a:cubicBezTo>
                    <a:close/>
                  </a:path>
                </a:pathLst>
              </a:custGeom>
              <a:blipFill>
                <a:blip r:embed="rId4"/>
                <a:stretch>
                  <a:fillRect l="0" t="-5586" r="-7085" b="-1839"/>
                </a:stretch>
              </a:blipFill>
            </p:spPr>
          </p:sp>
          <p:sp>
            <p:nvSpPr>
              <p:cNvPr name="Freeform 13" id="13"/>
              <p:cNvSpPr/>
              <p:nvPr/>
            </p:nvSpPr>
            <p:spPr>
              <a:xfrm flipH="false" flipV="false" rot="0">
                <a:off x="1121410" y="198120"/>
                <a:ext cx="347980" cy="43180"/>
              </a:xfrm>
              <a:custGeom>
                <a:avLst/>
                <a:gdLst/>
                <a:ahLst/>
                <a:cxnLst/>
                <a:rect r="r" b="b" t="t" l="l"/>
                <a:pathLst>
                  <a:path h="43180" w="347980">
                    <a:moveTo>
                      <a:pt x="326390" y="0"/>
                    </a:moveTo>
                    <a:lnTo>
                      <a:pt x="21590" y="0"/>
                    </a:lnTo>
                    <a:cubicBezTo>
                      <a:pt x="10160" y="0"/>
                      <a:pt x="0" y="8890"/>
                      <a:pt x="0" y="21590"/>
                    </a:cubicBezTo>
                    <a:cubicBezTo>
                      <a:pt x="0" y="34290"/>
                      <a:pt x="10160" y="43180"/>
                      <a:pt x="21590" y="43180"/>
                    </a:cubicBezTo>
                    <a:lnTo>
                      <a:pt x="326390" y="43180"/>
                    </a:lnTo>
                    <a:cubicBezTo>
                      <a:pt x="337820" y="43180"/>
                      <a:pt x="347980" y="34290"/>
                      <a:pt x="347980" y="21590"/>
                    </a:cubicBezTo>
                    <a:cubicBezTo>
                      <a:pt x="347980" y="8890"/>
                      <a:pt x="337820" y="0"/>
                      <a:pt x="326390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14" id="14"/>
              <p:cNvSpPr/>
              <p:nvPr/>
            </p:nvSpPr>
            <p:spPr>
              <a:xfrm flipH="false" flipV="false" rot="0">
                <a:off x="1579738" y="187960"/>
                <a:ext cx="63785" cy="63501"/>
              </a:xfrm>
              <a:custGeom>
                <a:avLst/>
                <a:gdLst/>
                <a:ahLst/>
                <a:cxnLst/>
                <a:rect r="r" b="b" t="t" l="l"/>
                <a:pathLst>
                  <a:path h="63501" w="63785">
                    <a:moveTo>
                      <a:pt x="31892" y="0"/>
                    </a:moveTo>
                    <a:cubicBezTo>
                      <a:pt x="20515" y="-51"/>
                      <a:pt x="9980" y="5989"/>
                      <a:pt x="4277" y="15834"/>
                    </a:cubicBezTo>
                    <a:cubicBezTo>
                      <a:pt x="-1426" y="25678"/>
                      <a:pt x="-1426" y="37822"/>
                      <a:pt x="4277" y="47666"/>
                    </a:cubicBezTo>
                    <a:cubicBezTo>
                      <a:pt x="9980" y="57511"/>
                      <a:pt x="20515" y="63551"/>
                      <a:pt x="31892" y="63500"/>
                    </a:cubicBezTo>
                    <a:cubicBezTo>
                      <a:pt x="43269" y="63551"/>
                      <a:pt x="53804" y="57511"/>
                      <a:pt x="59507" y="47666"/>
                    </a:cubicBezTo>
                    <a:cubicBezTo>
                      <a:pt x="65210" y="37822"/>
                      <a:pt x="65210" y="25678"/>
                      <a:pt x="59507" y="15834"/>
                    </a:cubicBezTo>
                    <a:cubicBezTo>
                      <a:pt x="53804" y="5989"/>
                      <a:pt x="43269" y="-51"/>
                      <a:pt x="31892" y="0"/>
                    </a:cubicBezTo>
                    <a:close/>
                  </a:path>
                </a:pathLst>
              </a:custGeom>
              <a:solidFill>
                <a:srgbClr val="555555"/>
              </a:solidFill>
            </p:spPr>
          </p:sp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685800"/>
                <a:ext cx="27940" cy="213360"/>
              </a:xfrm>
              <a:custGeom>
                <a:avLst/>
                <a:gdLst/>
                <a:ahLst/>
                <a:cxnLst/>
                <a:rect r="r" b="b" t="t" l="l"/>
                <a:pathLst>
                  <a:path h="213360" w="27940">
                    <a:moveTo>
                      <a:pt x="0" y="26670"/>
                    </a:moveTo>
                    <a:lnTo>
                      <a:pt x="0" y="185420"/>
                    </a:lnTo>
                    <a:cubicBezTo>
                      <a:pt x="0" y="200660"/>
                      <a:pt x="12700" y="213360"/>
                      <a:pt x="27940" y="21336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1057910"/>
                <a:ext cx="27940" cy="384810"/>
              </a:xfrm>
              <a:custGeom>
                <a:avLst/>
                <a:gdLst/>
                <a:ahLst/>
                <a:cxnLst/>
                <a:rect r="r" b="b" t="t" l="l"/>
                <a:pathLst>
                  <a:path h="384810" w="27940">
                    <a:moveTo>
                      <a:pt x="0" y="26670"/>
                    </a:moveTo>
                    <a:lnTo>
                      <a:pt x="0" y="356870"/>
                    </a:lnTo>
                    <a:cubicBezTo>
                      <a:pt x="0" y="372110"/>
                      <a:pt x="12700" y="384810"/>
                      <a:pt x="27940" y="384810"/>
                    </a:cubicBezTo>
                    <a:lnTo>
                      <a:pt x="27940" y="0"/>
                    </a:lnTo>
                    <a:cubicBezTo>
                      <a:pt x="12700" y="0"/>
                      <a:pt x="0" y="11430"/>
                      <a:pt x="0" y="2667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1526540"/>
                <a:ext cx="27940" cy="386080"/>
              </a:xfrm>
              <a:custGeom>
                <a:avLst/>
                <a:gdLst/>
                <a:ahLst/>
                <a:cxnLst/>
                <a:rect r="r" b="b" t="t" l="l"/>
                <a:pathLst>
                  <a:path h="386080" w="27940">
                    <a:moveTo>
                      <a:pt x="0" y="27940"/>
                    </a:moveTo>
                    <a:lnTo>
                      <a:pt x="0" y="358140"/>
                    </a:lnTo>
                    <a:cubicBezTo>
                      <a:pt x="0" y="373380"/>
                      <a:pt x="12700" y="386080"/>
                      <a:pt x="27940" y="386080"/>
                    </a:cubicBezTo>
                    <a:lnTo>
                      <a:pt x="27940" y="0"/>
                    </a:lnTo>
                    <a:cubicBezTo>
                      <a:pt x="12700" y="0"/>
                      <a:pt x="0" y="12700"/>
                      <a:pt x="0" y="2794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18" id="18"/>
              <p:cNvSpPr/>
              <p:nvPr/>
            </p:nvSpPr>
            <p:spPr>
              <a:xfrm flipH="false" flipV="false" rot="0">
                <a:off x="2592070" y="1184910"/>
                <a:ext cx="27940" cy="618490"/>
              </a:xfrm>
              <a:custGeom>
                <a:avLst/>
                <a:gdLst/>
                <a:ahLst/>
                <a:cxnLst/>
                <a:rect r="r" b="b" t="t" l="l"/>
                <a:pathLst>
                  <a:path h="618490" w="27940">
                    <a:moveTo>
                      <a:pt x="0" y="0"/>
                    </a:moveTo>
                    <a:lnTo>
                      <a:pt x="0" y="618490"/>
                    </a:lnTo>
                    <a:cubicBezTo>
                      <a:pt x="15240" y="618490"/>
                      <a:pt x="27940" y="605790"/>
                      <a:pt x="27940" y="590550"/>
                    </a:cubicBezTo>
                    <a:lnTo>
                      <a:pt x="27940" y="27940"/>
                    </a:lnTo>
                    <a:cubicBezTo>
                      <a:pt x="27940" y="12700"/>
                      <a:pt x="15240" y="0"/>
                      <a:pt x="0" y="0"/>
                    </a:cubicBezTo>
                    <a:close/>
                  </a:path>
                </a:pathLst>
              </a:custGeom>
              <a:solidFill>
                <a:srgbClr val="2E2E2E"/>
              </a:solidFill>
            </p:spPr>
          </p:sp>
          <p:sp>
            <p:nvSpPr>
              <p:cNvPr name="Freeform 19" id="19"/>
              <p:cNvSpPr/>
              <p:nvPr/>
            </p:nvSpPr>
            <p:spPr>
              <a:xfrm flipH="false" flipV="false" rot="0">
                <a:off x="27940" y="0"/>
                <a:ext cx="2564130" cy="5182870"/>
              </a:xfrm>
              <a:custGeom>
                <a:avLst/>
                <a:gdLst/>
                <a:ahLst/>
                <a:cxnLst/>
                <a:rect r="r" b="b" t="t" l="l"/>
                <a:pathLst>
                  <a:path h="5182870" w="2564130">
                    <a:moveTo>
                      <a:pt x="2564130" y="1184910"/>
                    </a:moveTo>
                    <a:lnTo>
                      <a:pt x="2564130" y="379730"/>
                    </a:lnTo>
                    <a:cubicBezTo>
                      <a:pt x="2564130" y="353060"/>
                      <a:pt x="2561590" y="327660"/>
                      <a:pt x="2556510" y="303530"/>
                    </a:cubicBezTo>
                    <a:cubicBezTo>
                      <a:pt x="2553970" y="290830"/>
                      <a:pt x="2551430" y="279400"/>
                      <a:pt x="2547620" y="266700"/>
                    </a:cubicBezTo>
                    <a:cubicBezTo>
                      <a:pt x="2542540" y="248920"/>
                      <a:pt x="2534920" y="231140"/>
                      <a:pt x="2527300" y="214630"/>
                    </a:cubicBezTo>
                    <a:cubicBezTo>
                      <a:pt x="2522220" y="203200"/>
                      <a:pt x="2515870" y="193040"/>
                      <a:pt x="2509520" y="182880"/>
                    </a:cubicBezTo>
                    <a:cubicBezTo>
                      <a:pt x="2503170" y="172720"/>
                      <a:pt x="2496820" y="162560"/>
                      <a:pt x="2489200" y="152400"/>
                    </a:cubicBezTo>
                    <a:cubicBezTo>
                      <a:pt x="2477770" y="137160"/>
                      <a:pt x="2466340" y="124460"/>
                      <a:pt x="2453640" y="110490"/>
                    </a:cubicBezTo>
                    <a:cubicBezTo>
                      <a:pt x="2444750" y="101600"/>
                      <a:pt x="2435860" y="93980"/>
                      <a:pt x="2426970" y="86360"/>
                    </a:cubicBezTo>
                    <a:cubicBezTo>
                      <a:pt x="2360930" y="31750"/>
                      <a:pt x="2277110" y="0"/>
                      <a:pt x="2185670" y="0"/>
                    </a:cubicBezTo>
                    <a:lnTo>
                      <a:pt x="379730" y="0"/>
                    </a:lnTo>
                    <a:cubicBezTo>
                      <a:pt x="288290" y="0"/>
                      <a:pt x="203200" y="33020"/>
                      <a:pt x="138430" y="86360"/>
                    </a:cubicBezTo>
                    <a:cubicBezTo>
                      <a:pt x="129540" y="93980"/>
                      <a:pt x="120650" y="102870"/>
                      <a:pt x="111760" y="110490"/>
                    </a:cubicBezTo>
                    <a:cubicBezTo>
                      <a:pt x="99060" y="123190"/>
                      <a:pt x="86360" y="137160"/>
                      <a:pt x="76200" y="152400"/>
                    </a:cubicBezTo>
                    <a:cubicBezTo>
                      <a:pt x="68580" y="162560"/>
                      <a:pt x="62230" y="172720"/>
                      <a:pt x="55880" y="182880"/>
                    </a:cubicBezTo>
                    <a:cubicBezTo>
                      <a:pt x="49530" y="193040"/>
                      <a:pt x="43180" y="204470"/>
                      <a:pt x="38100" y="214630"/>
                    </a:cubicBezTo>
                    <a:cubicBezTo>
                      <a:pt x="29210" y="232410"/>
                      <a:pt x="22860" y="248920"/>
                      <a:pt x="16510" y="266700"/>
                    </a:cubicBezTo>
                    <a:cubicBezTo>
                      <a:pt x="12700" y="279400"/>
                      <a:pt x="10160" y="290830"/>
                      <a:pt x="7620" y="303530"/>
                    </a:cubicBezTo>
                    <a:cubicBezTo>
                      <a:pt x="2540" y="327660"/>
                      <a:pt x="0" y="354330"/>
                      <a:pt x="0" y="379730"/>
                    </a:cubicBezTo>
                    <a:lnTo>
                      <a:pt x="0" y="4803140"/>
                    </a:lnTo>
                    <a:cubicBezTo>
                      <a:pt x="0" y="5012690"/>
                      <a:pt x="170180" y="5182870"/>
                      <a:pt x="379730" y="5182870"/>
                    </a:cubicBezTo>
                    <a:lnTo>
                      <a:pt x="2184400" y="5182870"/>
                    </a:lnTo>
                    <a:cubicBezTo>
                      <a:pt x="2393950" y="5182870"/>
                      <a:pt x="2564130" y="5012690"/>
                      <a:pt x="2564130" y="4803140"/>
                    </a:cubicBezTo>
                    <a:lnTo>
                      <a:pt x="2564130" y="1184910"/>
                    </a:lnTo>
                    <a:close/>
                    <a:moveTo>
                      <a:pt x="2538730" y="1184910"/>
                    </a:moveTo>
                    <a:lnTo>
                      <a:pt x="2538730" y="4804410"/>
                    </a:lnTo>
                    <a:cubicBezTo>
                      <a:pt x="2538730" y="4999990"/>
                      <a:pt x="2379980" y="5158740"/>
                      <a:pt x="2184400" y="5158740"/>
                    </a:cubicBezTo>
                    <a:lnTo>
                      <a:pt x="379730" y="5158740"/>
                    </a:lnTo>
                    <a:cubicBezTo>
                      <a:pt x="184150" y="5158740"/>
                      <a:pt x="25400" y="4999990"/>
                      <a:pt x="25400" y="4804410"/>
                    </a:cubicBezTo>
                    <a:lnTo>
                      <a:pt x="25400" y="381000"/>
                    </a:lnTo>
                    <a:cubicBezTo>
                      <a:pt x="25400" y="184150"/>
                      <a:pt x="184150" y="25400"/>
                      <a:pt x="379730" y="25400"/>
                    </a:cubicBezTo>
                    <a:lnTo>
                      <a:pt x="2184400" y="25400"/>
                    </a:lnTo>
                    <a:cubicBezTo>
                      <a:pt x="2379980" y="25400"/>
                      <a:pt x="2538730" y="184150"/>
                      <a:pt x="2538730" y="379730"/>
                    </a:cubicBezTo>
                    <a:lnTo>
                      <a:pt x="2538730" y="1184910"/>
                    </a:lnTo>
                    <a:close/>
                  </a:path>
                </a:pathLst>
              </a:custGeom>
              <a:solidFill>
                <a:srgbClr val="555555"/>
              </a:solidFill>
            </p:spPr>
          </p:sp>
        </p:grpSp>
        <p:grpSp>
          <p:nvGrpSpPr>
            <p:cNvPr name="Group 20" id="20"/>
            <p:cNvGrpSpPr/>
            <p:nvPr/>
          </p:nvGrpSpPr>
          <p:grpSpPr>
            <a:xfrm rot="0">
              <a:off x="2008734" y="661692"/>
              <a:ext cx="2063834" cy="417919"/>
              <a:chOff x="0" y="0"/>
              <a:chExt cx="1831340" cy="37084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50800" y="50800"/>
                <a:ext cx="1729034" cy="268316"/>
              </a:xfrm>
              <a:custGeom>
                <a:avLst/>
                <a:gdLst/>
                <a:ahLst/>
                <a:cxnLst/>
                <a:rect r="r" b="b" t="t" l="l"/>
                <a:pathLst>
                  <a:path h="268316" w="1729034">
                    <a:moveTo>
                      <a:pt x="0" y="111760"/>
                    </a:moveTo>
                    <a:cubicBezTo>
                      <a:pt x="0" y="101600"/>
                      <a:pt x="0" y="96520"/>
                      <a:pt x="0" y="96520"/>
                    </a:cubicBezTo>
                    <a:cubicBezTo>
                      <a:pt x="0" y="96520"/>
                      <a:pt x="1270" y="91440"/>
                      <a:pt x="2540" y="88900"/>
                    </a:cubicBezTo>
                    <a:cubicBezTo>
                      <a:pt x="2540" y="86360"/>
                      <a:pt x="3810" y="82550"/>
                      <a:pt x="3810" y="82550"/>
                    </a:cubicBezTo>
                    <a:cubicBezTo>
                      <a:pt x="3810" y="82550"/>
                      <a:pt x="6350" y="77470"/>
                      <a:pt x="7620" y="76200"/>
                    </a:cubicBezTo>
                    <a:cubicBezTo>
                      <a:pt x="8890" y="73660"/>
                      <a:pt x="11430" y="68580"/>
                      <a:pt x="11430" y="68580"/>
                    </a:cubicBezTo>
                    <a:cubicBezTo>
                      <a:pt x="11430" y="68580"/>
                      <a:pt x="13970" y="64770"/>
                      <a:pt x="16510" y="63500"/>
                    </a:cubicBezTo>
                    <a:cubicBezTo>
                      <a:pt x="17780" y="62230"/>
                      <a:pt x="21590" y="58420"/>
                      <a:pt x="21590" y="58420"/>
                    </a:cubicBezTo>
                    <a:cubicBezTo>
                      <a:pt x="21590" y="58420"/>
                      <a:pt x="25400" y="55880"/>
                      <a:pt x="27940" y="53340"/>
                    </a:cubicBezTo>
                    <a:cubicBezTo>
                      <a:pt x="29210" y="52070"/>
                      <a:pt x="33020" y="49530"/>
                      <a:pt x="33020" y="49530"/>
                    </a:cubicBezTo>
                    <a:cubicBezTo>
                      <a:pt x="34290" y="49530"/>
                      <a:pt x="38100" y="48260"/>
                      <a:pt x="40640" y="46990"/>
                    </a:cubicBezTo>
                    <a:cubicBezTo>
                      <a:pt x="43180" y="46990"/>
                      <a:pt x="46990" y="44450"/>
                      <a:pt x="46990" y="44450"/>
                    </a:cubicBezTo>
                    <a:cubicBezTo>
                      <a:pt x="48260" y="44450"/>
                      <a:pt x="52070" y="44450"/>
                      <a:pt x="54610" y="44450"/>
                    </a:cubicBezTo>
                    <a:cubicBezTo>
                      <a:pt x="57150" y="43180"/>
                      <a:pt x="62230" y="43180"/>
                      <a:pt x="62230" y="43180"/>
                    </a:cubicBezTo>
                    <a:cubicBezTo>
                      <a:pt x="62230" y="43180"/>
                      <a:pt x="68580" y="44450"/>
                      <a:pt x="69850" y="43180"/>
                    </a:cubicBezTo>
                    <a:cubicBezTo>
                      <a:pt x="72390" y="41910"/>
                      <a:pt x="72390" y="39370"/>
                      <a:pt x="72390" y="36830"/>
                    </a:cubicBezTo>
                    <a:cubicBezTo>
                      <a:pt x="73660" y="34290"/>
                      <a:pt x="76200" y="30480"/>
                      <a:pt x="76200" y="30480"/>
                    </a:cubicBezTo>
                    <a:cubicBezTo>
                      <a:pt x="76200" y="30480"/>
                      <a:pt x="78740" y="26670"/>
                      <a:pt x="80010" y="24130"/>
                    </a:cubicBezTo>
                    <a:cubicBezTo>
                      <a:pt x="82550" y="22860"/>
                      <a:pt x="85090" y="19050"/>
                      <a:pt x="85090" y="17780"/>
                    </a:cubicBezTo>
                    <a:cubicBezTo>
                      <a:pt x="85090" y="17780"/>
                      <a:pt x="88900" y="15240"/>
                      <a:pt x="90170" y="13970"/>
                    </a:cubicBezTo>
                    <a:cubicBezTo>
                      <a:pt x="92710" y="12700"/>
                      <a:pt x="96520" y="8890"/>
                      <a:pt x="96520" y="8890"/>
                    </a:cubicBezTo>
                    <a:cubicBezTo>
                      <a:pt x="96520" y="8890"/>
                      <a:pt x="101600" y="6350"/>
                      <a:pt x="102870" y="6350"/>
                    </a:cubicBezTo>
                    <a:cubicBezTo>
                      <a:pt x="105410" y="5080"/>
                      <a:pt x="110490" y="2540"/>
                      <a:pt x="110490" y="2540"/>
                    </a:cubicBezTo>
                    <a:cubicBezTo>
                      <a:pt x="110490" y="2540"/>
                      <a:pt x="114300" y="1270"/>
                      <a:pt x="116840" y="1270"/>
                    </a:cubicBezTo>
                    <a:cubicBezTo>
                      <a:pt x="119380" y="1270"/>
                      <a:pt x="124460" y="0"/>
                      <a:pt x="124460" y="0"/>
                    </a:cubicBezTo>
                    <a:cubicBezTo>
                      <a:pt x="124460" y="0"/>
                      <a:pt x="129540" y="0"/>
                      <a:pt x="132080" y="0"/>
                    </a:cubicBezTo>
                    <a:cubicBezTo>
                      <a:pt x="134620" y="0"/>
                      <a:pt x="139700" y="0"/>
                      <a:pt x="139700" y="0"/>
                    </a:cubicBezTo>
                    <a:cubicBezTo>
                      <a:pt x="139700" y="0"/>
                      <a:pt x="144780" y="1270"/>
                      <a:pt x="146050" y="2540"/>
                    </a:cubicBezTo>
                    <a:cubicBezTo>
                      <a:pt x="148590" y="3810"/>
                      <a:pt x="153670" y="5080"/>
                      <a:pt x="153670" y="5080"/>
                    </a:cubicBezTo>
                    <a:cubicBezTo>
                      <a:pt x="153670" y="5080"/>
                      <a:pt x="158750" y="7620"/>
                      <a:pt x="160020" y="8890"/>
                    </a:cubicBezTo>
                    <a:cubicBezTo>
                      <a:pt x="161290" y="8890"/>
                      <a:pt x="161290" y="8890"/>
                      <a:pt x="161290" y="8890"/>
                    </a:cubicBezTo>
                    <a:cubicBezTo>
                      <a:pt x="163830" y="10160"/>
                      <a:pt x="168910" y="8890"/>
                      <a:pt x="175260" y="8890"/>
                    </a:cubicBezTo>
                    <a:cubicBezTo>
                      <a:pt x="190500" y="8890"/>
                      <a:pt x="247650" y="10160"/>
                      <a:pt x="261620" y="8890"/>
                    </a:cubicBezTo>
                    <a:cubicBezTo>
                      <a:pt x="266700" y="8890"/>
                      <a:pt x="267970" y="7620"/>
                      <a:pt x="271780" y="7620"/>
                    </a:cubicBezTo>
                    <a:cubicBezTo>
                      <a:pt x="273050" y="7620"/>
                      <a:pt x="274320" y="8890"/>
                      <a:pt x="276860" y="8890"/>
                    </a:cubicBezTo>
                    <a:cubicBezTo>
                      <a:pt x="279400" y="10160"/>
                      <a:pt x="281940" y="10160"/>
                      <a:pt x="283210" y="11430"/>
                    </a:cubicBezTo>
                    <a:cubicBezTo>
                      <a:pt x="285750" y="12700"/>
                      <a:pt x="290830" y="13970"/>
                      <a:pt x="290830" y="13970"/>
                    </a:cubicBezTo>
                    <a:cubicBezTo>
                      <a:pt x="290830" y="13970"/>
                      <a:pt x="295910" y="16510"/>
                      <a:pt x="297180" y="17780"/>
                    </a:cubicBezTo>
                    <a:cubicBezTo>
                      <a:pt x="298450" y="17780"/>
                      <a:pt x="298450" y="19050"/>
                      <a:pt x="300990" y="19050"/>
                    </a:cubicBezTo>
                    <a:cubicBezTo>
                      <a:pt x="308610" y="21590"/>
                      <a:pt x="361950" y="19050"/>
                      <a:pt x="364490" y="19050"/>
                    </a:cubicBezTo>
                    <a:cubicBezTo>
                      <a:pt x="367030" y="19050"/>
                      <a:pt x="408940" y="13970"/>
                      <a:pt x="430530" y="12700"/>
                    </a:cubicBezTo>
                    <a:cubicBezTo>
                      <a:pt x="449580" y="11430"/>
                      <a:pt x="474980" y="10160"/>
                      <a:pt x="485140" y="10160"/>
                    </a:cubicBezTo>
                    <a:cubicBezTo>
                      <a:pt x="488950" y="10160"/>
                      <a:pt x="490220" y="10160"/>
                      <a:pt x="492760" y="10160"/>
                    </a:cubicBezTo>
                    <a:cubicBezTo>
                      <a:pt x="495300" y="10160"/>
                      <a:pt x="499110" y="11430"/>
                      <a:pt x="499110" y="11430"/>
                    </a:cubicBezTo>
                    <a:cubicBezTo>
                      <a:pt x="500380" y="11430"/>
                      <a:pt x="504190" y="12700"/>
                      <a:pt x="506730" y="13970"/>
                    </a:cubicBezTo>
                    <a:cubicBezTo>
                      <a:pt x="509270" y="13970"/>
                      <a:pt x="514350" y="15240"/>
                      <a:pt x="514350" y="15240"/>
                    </a:cubicBezTo>
                    <a:cubicBezTo>
                      <a:pt x="514350" y="15240"/>
                      <a:pt x="518160" y="17780"/>
                      <a:pt x="520700" y="19050"/>
                    </a:cubicBezTo>
                    <a:cubicBezTo>
                      <a:pt x="521970" y="20320"/>
                      <a:pt x="525780" y="22860"/>
                      <a:pt x="527050" y="24130"/>
                    </a:cubicBezTo>
                    <a:cubicBezTo>
                      <a:pt x="527050" y="24130"/>
                      <a:pt x="528320" y="27940"/>
                      <a:pt x="530860" y="27940"/>
                    </a:cubicBezTo>
                    <a:cubicBezTo>
                      <a:pt x="537210" y="30480"/>
                      <a:pt x="552450" y="26670"/>
                      <a:pt x="563880" y="26670"/>
                    </a:cubicBezTo>
                    <a:cubicBezTo>
                      <a:pt x="576580" y="25400"/>
                      <a:pt x="601980" y="25400"/>
                      <a:pt x="601980" y="25400"/>
                    </a:cubicBezTo>
                    <a:cubicBezTo>
                      <a:pt x="601980" y="25400"/>
                      <a:pt x="607060" y="25400"/>
                      <a:pt x="609600" y="25400"/>
                    </a:cubicBezTo>
                    <a:cubicBezTo>
                      <a:pt x="612140" y="26670"/>
                      <a:pt x="617220" y="26670"/>
                      <a:pt x="617220" y="26670"/>
                    </a:cubicBezTo>
                    <a:cubicBezTo>
                      <a:pt x="617220" y="26670"/>
                      <a:pt x="622300" y="27940"/>
                      <a:pt x="623570" y="29210"/>
                    </a:cubicBezTo>
                    <a:cubicBezTo>
                      <a:pt x="626110" y="30480"/>
                      <a:pt x="626110" y="30480"/>
                      <a:pt x="628650" y="30480"/>
                    </a:cubicBezTo>
                    <a:cubicBezTo>
                      <a:pt x="637540" y="33020"/>
                      <a:pt x="662940" y="30480"/>
                      <a:pt x="687070" y="30480"/>
                    </a:cubicBezTo>
                    <a:cubicBezTo>
                      <a:pt x="722630" y="30480"/>
                      <a:pt x="796290" y="33020"/>
                      <a:pt x="824230" y="33020"/>
                    </a:cubicBezTo>
                    <a:cubicBezTo>
                      <a:pt x="838200" y="34290"/>
                      <a:pt x="849630" y="35560"/>
                      <a:pt x="853440" y="34290"/>
                    </a:cubicBezTo>
                    <a:cubicBezTo>
                      <a:pt x="855980" y="34290"/>
                      <a:pt x="857250" y="33020"/>
                      <a:pt x="857250" y="33020"/>
                    </a:cubicBezTo>
                    <a:cubicBezTo>
                      <a:pt x="857250" y="33020"/>
                      <a:pt x="862330" y="33020"/>
                      <a:pt x="864870" y="31750"/>
                    </a:cubicBezTo>
                    <a:cubicBezTo>
                      <a:pt x="867410" y="31750"/>
                      <a:pt x="871220" y="31750"/>
                      <a:pt x="871220" y="31750"/>
                    </a:cubicBezTo>
                    <a:cubicBezTo>
                      <a:pt x="871220" y="31750"/>
                      <a:pt x="876300" y="31750"/>
                      <a:pt x="878840" y="31750"/>
                    </a:cubicBezTo>
                    <a:cubicBezTo>
                      <a:pt x="881380" y="33020"/>
                      <a:pt x="886460" y="33020"/>
                      <a:pt x="886460" y="33020"/>
                    </a:cubicBezTo>
                    <a:cubicBezTo>
                      <a:pt x="886460" y="33020"/>
                      <a:pt x="943610" y="25400"/>
                      <a:pt x="977900" y="22860"/>
                    </a:cubicBezTo>
                    <a:cubicBezTo>
                      <a:pt x="1019810" y="19050"/>
                      <a:pt x="1078230" y="16510"/>
                      <a:pt x="1121410" y="16510"/>
                    </a:cubicBezTo>
                    <a:cubicBezTo>
                      <a:pt x="1156970" y="15240"/>
                      <a:pt x="1184910" y="15240"/>
                      <a:pt x="1219200" y="15240"/>
                    </a:cubicBezTo>
                    <a:cubicBezTo>
                      <a:pt x="1254760" y="15240"/>
                      <a:pt x="1294130" y="15240"/>
                      <a:pt x="1329690" y="15240"/>
                    </a:cubicBezTo>
                    <a:cubicBezTo>
                      <a:pt x="1363980" y="15240"/>
                      <a:pt x="1397000" y="15240"/>
                      <a:pt x="1428750" y="15240"/>
                    </a:cubicBezTo>
                    <a:cubicBezTo>
                      <a:pt x="1456690" y="15240"/>
                      <a:pt x="1480820" y="15240"/>
                      <a:pt x="1508760" y="15240"/>
                    </a:cubicBezTo>
                    <a:cubicBezTo>
                      <a:pt x="1539240" y="15240"/>
                      <a:pt x="1588770" y="15240"/>
                      <a:pt x="1602740" y="15240"/>
                    </a:cubicBezTo>
                    <a:cubicBezTo>
                      <a:pt x="1606550" y="15240"/>
                      <a:pt x="1610360" y="15240"/>
                      <a:pt x="1610360" y="15240"/>
                    </a:cubicBezTo>
                    <a:cubicBezTo>
                      <a:pt x="1610360" y="15240"/>
                      <a:pt x="1615440" y="15240"/>
                      <a:pt x="1617980" y="15240"/>
                    </a:cubicBezTo>
                    <a:cubicBezTo>
                      <a:pt x="1620520" y="15240"/>
                      <a:pt x="1625600" y="16510"/>
                      <a:pt x="1625600" y="16510"/>
                    </a:cubicBezTo>
                    <a:cubicBezTo>
                      <a:pt x="1625600" y="16510"/>
                      <a:pt x="1629410" y="17780"/>
                      <a:pt x="1631950" y="19050"/>
                    </a:cubicBezTo>
                    <a:cubicBezTo>
                      <a:pt x="1634490" y="20320"/>
                      <a:pt x="1638300" y="21590"/>
                      <a:pt x="1639570" y="21590"/>
                    </a:cubicBezTo>
                    <a:cubicBezTo>
                      <a:pt x="1639570" y="21590"/>
                      <a:pt x="1643380" y="24130"/>
                      <a:pt x="1644650" y="25400"/>
                    </a:cubicBezTo>
                    <a:cubicBezTo>
                      <a:pt x="1647190" y="27940"/>
                      <a:pt x="1651000" y="30480"/>
                      <a:pt x="1651000" y="30480"/>
                    </a:cubicBezTo>
                    <a:cubicBezTo>
                      <a:pt x="1651000" y="30480"/>
                      <a:pt x="1654810" y="34290"/>
                      <a:pt x="1656080" y="35560"/>
                    </a:cubicBezTo>
                    <a:cubicBezTo>
                      <a:pt x="1657350" y="38100"/>
                      <a:pt x="1661160" y="40640"/>
                      <a:pt x="1661160" y="40640"/>
                    </a:cubicBezTo>
                    <a:cubicBezTo>
                      <a:pt x="1661160" y="41910"/>
                      <a:pt x="1661160" y="41910"/>
                      <a:pt x="1662430" y="43180"/>
                    </a:cubicBezTo>
                    <a:cubicBezTo>
                      <a:pt x="1662430" y="43180"/>
                      <a:pt x="1666240" y="41910"/>
                      <a:pt x="1666240" y="41910"/>
                    </a:cubicBezTo>
                    <a:cubicBezTo>
                      <a:pt x="1666240" y="41910"/>
                      <a:pt x="1671320" y="41910"/>
                      <a:pt x="1672590" y="43180"/>
                    </a:cubicBezTo>
                    <a:cubicBezTo>
                      <a:pt x="1675130" y="43180"/>
                      <a:pt x="1680210" y="43180"/>
                      <a:pt x="1680210" y="43180"/>
                    </a:cubicBezTo>
                    <a:cubicBezTo>
                      <a:pt x="1680210" y="43180"/>
                      <a:pt x="1685290" y="44450"/>
                      <a:pt x="1687830" y="45720"/>
                    </a:cubicBezTo>
                    <a:cubicBezTo>
                      <a:pt x="1690370" y="46990"/>
                      <a:pt x="1694180" y="48260"/>
                      <a:pt x="1694180" y="48260"/>
                    </a:cubicBezTo>
                    <a:cubicBezTo>
                      <a:pt x="1694180" y="48260"/>
                      <a:pt x="1699260" y="50800"/>
                      <a:pt x="1700530" y="52070"/>
                    </a:cubicBezTo>
                    <a:cubicBezTo>
                      <a:pt x="1703070" y="53340"/>
                      <a:pt x="1706880" y="55880"/>
                      <a:pt x="1706880" y="55880"/>
                    </a:cubicBezTo>
                    <a:cubicBezTo>
                      <a:pt x="1706880" y="55880"/>
                      <a:pt x="1710690" y="59690"/>
                      <a:pt x="1711960" y="62230"/>
                    </a:cubicBezTo>
                    <a:cubicBezTo>
                      <a:pt x="1714500" y="63500"/>
                      <a:pt x="1717040" y="67310"/>
                      <a:pt x="1717040" y="67310"/>
                    </a:cubicBezTo>
                    <a:cubicBezTo>
                      <a:pt x="1717040" y="67310"/>
                      <a:pt x="1719580" y="71120"/>
                      <a:pt x="1720850" y="73660"/>
                    </a:cubicBezTo>
                    <a:cubicBezTo>
                      <a:pt x="1722120" y="76200"/>
                      <a:pt x="1724660" y="80010"/>
                      <a:pt x="1724660" y="80010"/>
                    </a:cubicBezTo>
                    <a:cubicBezTo>
                      <a:pt x="1724660" y="80010"/>
                      <a:pt x="1725930" y="85090"/>
                      <a:pt x="1727200" y="87630"/>
                    </a:cubicBezTo>
                    <a:cubicBezTo>
                      <a:pt x="1727200" y="90170"/>
                      <a:pt x="1728470" y="93980"/>
                      <a:pt x="1728470" y="93980"/>
                    </a:cubicBezTo>
                    <a:cubicBezTo>
                      <a:pt x="1728470" y="93980"/>
                      <a:pt x="1728470" y="99060"/>
                      <a:pt x="1728470" y="101600"/>
                    </a:cubicBezTo>
                    <a:cubicBezTo>
                      <a:pt x="1728470" y="104140"/>
                      <a:pt x="1729740" y="109220"/>
                      <a:pt x="1728470" y="109220"/>
                    </a:cubicBezTo>
                    <a:cubicBezTo>
                      <a:pt x="1728470" y="109220"/>
                      <a:pt x="1728470" y="114300"/>
                      <a:pt x="1727200" y="116840"/>
                    </a:cubicBezTo>
                    <a:cubicBezTo>
                      <a:pt x="1727200" y="119380"/>
                      <a:pt x="1725930" y="123190"/>
                      <a:pt x="1725930" y="123190"/>
                    </a:cubicBezTo>
                    <a:cubicBezTo>
                      <a:pt x="1725930" y="124460"/>
                      <a:pt x="1723390" y="128270"/>
                      <a:pt x="1722120" y="130810"/>
                    </a:cubicBezTo>
                    <a:cubicBezTo>
                      <a:pt x="1722120" y="132080"/>
                      <a:pt x="1720850" y="135890"/>
                      <a:pt x="1719580" y="137160"/>
                    </a:cubicBezTo>
                    <a:cubicBezTo>
                      <a:pt x="1719580" y="138430"/>
                      <a:pt x="1719580" y="138430"/>
                      <a:pt x="1718310" y="138430"/>
                    </a:cubicBezTo>
                    <a:cubicBezTo>
                      <a:pt x="1717040" y="139700"/>
                      <a:pt x="1706880" y="142240"/>
                      <a:pt x="1705610" y="144780"/>
                    </a:cubicBezTo>
                    <a:cubicBezTo>
                      <a:pt x="1705610" y="147320"/>
                      <a:pt x="1708150" y="149860"/>
                      <a:pt x="1709420" y="152400"/>
                    </a:cubicBezTo>
                    <a:cubicBezTo>
                      <a:pt x="1711960" y="156210"/>
                      <a:pt x="1713230" y="162560"/>
                      <a:pt x="1713230" y="167640"/>
                    </a:cubicBezTo>
                    <a:cubicBezTo>
                      <a:pt x="1714500" y="171450"/>
                      <a:pt x="1714500" y="176530"/>
                      <a:pt x="1714500" y="181610"/>
                    </a:cubicBezTo>
                    <a:cubicBezTo>
                      <a:pt x="1713230" y="186690"/>
                      <a:pt x="1711960" y="191770"/>
                      <a:pt x="1710690" y="196850"/>
                    </a:cubicBezTo>
                    <a:cubicBezTo>
                      <a:pt x="1709420" y="200660"/>
                      <a:pt x="1706880" y="205740"/>
                      <a:pt x="1704340" y="209550"/>
                    </a:cubicBezTo>
                    <a:cubicBezTo>
                      <a:pt x="1701800" y="213360"/>
                      <a:pt x="1697990" y="218440"/>
                      <a:pt x="1694180" y="220980"/>
                    </a:cubicBezTo>
                    <a:cubicBezTo>
                      <a:pt x="1690370" y="224790"/>
                      <a:pt x="1686560" y="227330"/>
                      <a:pt x="1682750" y="229870"/>
                    </a:cubicBezTo>
                    <a:cubicBezTo>
                      <a:pt x="1677670" y="232410"/>
                      <a:pt x="1672590" y="233680"/>
                      <a:pt x="1668780" y="234950"/>
                    </a:cubicBezTo>
                    <a:cubicBezTo>
                      <a:pt x="1664970" y="236220"/>
                      <a:pt x="1658620" y="236220"/>
                      <a:pt x="1657350" y="237490"/>
                    </a:cubicBezTo>
                    <a:cubicBezTo>
                      <a:pt x="1656080" y="237490"/>
                      <a:pt x="1656080" y="238760"/>
                      <a:pt x="1656080" y="238760"/>
                    </a:cubicBezTo>
                    <a:cubicBezTo>
                      <a:pt x="1654810" y="238760"/>
                      <a:pt x="1651000" y="241300"/>
                      <a:pt x="1649730" y="242570"/>
                    </a:cubicBezTo>
                    <a:cubicBezTo>
                      <a:pt x="1647190" y="243840"/>
                      <a:pt x="1643380" y="246380"/>
                      <a:pt x="1643380" y="246380"/>
                    </a:cubicBezTo>
                    <a:cubicBezTo>
                      <a:pt x="1643380" y="246380"/>
                      <a:pt x="1638300" y="248920"/>
                      <a:pt x="1635760" y="248920"/>
                    </a:cubicBezTo>
                    <a:cubicBezTo>
                      <a:pt x="1633220" y="250190"/>
                      <a:pt x="1629410" y="251460"/>
                      <a:pt x="1629410" y="251460"/>
                    </a:cubicBezTo>
                    <a:cubicBezTo>
                      <a:pt x="1629410" y="251460"/>
                      <a:pt x="1624330" y="251460"/>
                      <a:pt x="1621790" y="252730"/>
                    </a:cubicBezTo>
                    <a:cubicBezTo>
                      <a:pt x="1619250" y="252730"/>
                      <a:pt x="1614170" y="252730"/>
                      <a:pt x="1614170" y="252730"/>
                    </a:cubicBezTo>
                    <a:cubicBezTo>
                      <a:pt x="1612900" y="252730"/>
                      <a:pt x="1551940" y="251460"/>
                      <a:pt x="1516380" y="250190"/>
                    </a:cubicBezTo>
                    <a:cubicBezTo>
                      <a:pt x="1471930" y="248920"/>
                      <a:pt x="1409700" y="248920"/>
                      <a:pt x="1366520" y="248920"/>
                    </a:cubicBezTo>
                    <a:cubicBezTo>
                      <a:pt x="1332230" y="247650"/>
                      <a:pt x="1282700" y="246380"/>
                      <a:pt x="1276350" y="247650"/>
                    </a:cubicBezTo>
                    <a:cubicBezTo>
                      <a:pt x="1276350" y="248920"/>
                      <a:pt x="1276350" y="248920"/>
                      <a:pt x="1275080" y="248920"/>
                    </a:cubicBezTo>
                    <a:cubicBezTo>
                      <a:pt x="1273810" y="250190"/>
                      <a:pt x="1270000" y="254000"/>
                      <a:pt x="1270000" y="254000"/>
                    </a:cubicBezTo>
                    <a:cubicBezTo>
                      <a:pt x="1270000" y="254000"/>
                      <a:pt x="1264920" y="256540"/>
                      <a:pt x="1263650" y="257810"/>
                    </a:cubicBezTo>
                    <a:cubicBezTo>
                      <a:pt x="1261110" y="259080"/>
                      <a:pt x="1256030" y="260350"/>
                      <a:pt x="1256030" y="260350"/>
                    </a:cubicBezTo>
                    <a:cubicBezTo>
                      <a:pt x="1256030" y="260350"/>
                      <a:pt x="1252220" y="261620"/>
                      <a:pt x="1249680" y="262890"/>
                    </a:cubicBezTo>
                    <a:cubicBezTo>
                      <a:pt x="1247140" y="262890"/>
                      <a:pt x="1242060" y="264160"/>
                      <a:pt x="1242060" y="264160"/>
                    </a:cubicBezTo>
                    <a:cubicBezTo>
                      <a:pt x="1242060" y="264160"/>
                      <a:pt x="1236980" y="264160"/>
                      <a:pt x="1234440" y="264160"/>
                    </a:cubicBezTo>
                    <a:cubicBezTo>
                      <a:pt x="1231900" y="264160"/>
                      <a:pt x="1226820" y="264160"/>
                      <a:pt x="1226820" y="264160"/>
                    </a:cubicBezTo>
                    <a:cubicBezTo>
                      <a:pt x="1226820" y="264160"/>
                      <a:pt x="1165860" y="267970"/>
                      <a:pt x="1127760" y="267970"/>
                    </a:cubicBezTo>
                    <a:cubicBezTo>
                      <a:pt x="1073150" y="269240"/>
                      <a:pt x="996950" y="266700"/>
                      <a:pt x="934720" y="265430"/>
                    </a:cubicBezTo>
                    <a:cubicBezTo>
                      <a:pt x="875030" y="264160"/>
                      <a:pt x="815340" y="264160"/>
                      <a:pt x="759460" y="261620"/>
                    </a:cubicBezTo>
                    <a:cubicBezTo>
                      <a:pt x="707390" y="259080"/>
                      <a:pt x="655320" y="256540"/>
                      <a:pt x="608330" y="254000"/>
                    </a:cubicBezTo>
                    <a:cubicBezTo>
                      <a:pt x="566420" y="251460"/>
                      <a:pt x="525780" y="248920"/>
                      <a:pt x="490220" y="247650"/>
                    </a:cubicBezTo>
                    <a:cubicBezTo>
                      <a:pt x="459740" y="245110"/>
                      <a:pt x="430530" y="242570"/>
                      <a:pt x="407670" y="242570"/>
                    </a:cubicBezTo>
                    <a:cubicBezTo>
                      <a:pt x="391160" y="241300"/>
                      <a:pt x="382270" y="242570"/>
                      <a:pt x="364490" y="242570"/>
                    </a:cubicBezTo>
                    <a:cubicBezTo>
                      <a:pt x="335280" y="242570"/>
                      <a:pt x="270510" y="242570"/>
                      <a:pt x="246380" y="240030"/>
                    </a:cubicBezTo>
                    <a:cubicBezTo>
                      <a:pt x="236220" y="238760"/>
                      <a:pt x="229870" y="236220"/>
                      <a:pt x="224790" y="234950"/>
                    </a:cubicBezTo>
                    <a:cubicBezTo>
                      <a:pt x="220980" y="234950"/>
                      <a:pt x="219710" y="234950"/>
                      <a:pt x="217170" y="233680"/>
                    </a:cubicBezTo>
                    <a:cubicBezTo>
                      <a:pt x="215900" y="233680"/>
                      <a:pt x="214630" y="233680"/>
                      <a:pt x="212090" y="232410"/>
                    </a:cubicBezTo>
                    <a:cubicBezTo>
                      <a:pt x="199390" y="232410"/>
                      <a:pt x="138430" y="232410"/>
                      <a:pt x="113030" y="232410"/>
                    </a:cubicBezTo>
                    <a:cubicBezTo>
                      <a:pt x="97790" y="232410"/>
                      <a:pt x="82550" y="232410"/>
                      <a:pt x="74930" y="232410"/>
                    </a:cubicBezTo>
                    <a:cubicBezTo>
                      <a:pt x="71120" y="232410"/>
                      <a:pt x="69850" y="231140"/>
                      <a:pt x="67310" y="231140"/>
                    </a:cubicBezTo>
                    <a:cubicBezTo>
                      <a:pt x="64770" y="231140"/>
                      <a:pt x="59690" y="231140"/>
                      <a:pt x="59690" y="229870"/>
                    </a:cubicBezTo>
                    <a:cubicBezTo>
                      <a:pt x="59690" y="229870"/>
                      <a:pt x="55880" y="228600"/>
                      <a:pt x="53340" y="227330"/>
                    </a:cubicBezTo>
                    <a:cubicBezTo>
                      <a:pt x="50800" y="227330"/>
                      <a:pt x="45720" y="224790"/>
                      <a:pt x="45720" y="224790"/>
                    </a:cubicBezTo>
                    <a:cubicBezTo>
                      <a:pt x="45720" y="224790"/>
                      <a:pt x="41910" y="222250"/>
                      <a:pt x="39370" y="220980"/>
                    </a:cubicBezTo>
                    <a:cubicBezTo>
                      <a:pt x="38100" y="219710"/>
                      <a:pt x="34290" y="217170"/>
                      <a:pt x="34290" y="217170"/>
                    </a:cubicBezTo>
                    <a:cubicBezTo>
                      <a:pt x="34290" y="217170"/>
                      <a:pt x="30480" y="213360"/>
                      <a:pt x="29210" y="210820"/>
                    </a:cubicBezTo>
                    <a:cubicBezTo>
                      <a:pt x="26670" y="209550"/>
                      <a:pt x="24130" y="205740"/>
                      <a:pt x="24130" y="205740"/>
                    </a:cubicBezTo>
                    <a:cubicBezTo>
                      <a:pt x="24130" y="205740"/>
                      <a:pt x="21590" y="200660"/>
                      <a:pt x="20320" y="199390"/>
                    </a:cubicBezTo>
                    <a:cubicBezTo>
                      <a:pt x="19050" y="196850"/>
                      <a:pt x="16510" y="193040"/>
                      <a:pt x="16510" y="191770"/>
                    </a:cubicBezTo>
                    <a:cubicBezTo>
                      <a:pt x="16510" y="191770"/>
                      <a:pt x="16510" y="187960"/>
                      <a:pt x="15240" y="185420"/>
                    </a:cubicBezTo>
                    <a:cubicBezTo>
                      <a:pt x="15240" y="182880"/>
                      <a:pt x="15240" y="180340"/>
                      <a:pt x="13970" y="177800"/>
                    </a:cubicBezTo>
                    <a:cubicBezTo>
                      <a:pt x="12700" y="176530"/>
                      <a:pt x="8890" y="172720"/>
                      <a:pt x="8890" y="172720"/>
                    </a:cubicBezTo>
                    <a:cubicBezTo>
                      <a:pt x="8890" y="172720"/>
                      <a:pt x="7620" y="167640"/>
                      <a:pt x="6350" y="165100"/>
                    </a:cubicBezTo>
                    <a:cubicBezTo>
                      <a:pt x="5080" y="163830"/>
                      <a:pt x="3810" y="158750"/>
                      <a:pt x="3810" y="158750"/>
                    </a:cubicBezTo>
                    <a:cubicBezTo>
                      <a:pt x="3810" y="158750"/>
                      <a:pt x="2540" y="153670"/>
                      <a:pt x="2540" y="151130"/>
                    </a:cubicBezTo>
                    <a:cubicBezTo>
                      <a:pt x="2540" y="148590"/>
                      <a:pt x="1270" y="143510"/>
                      <a:pt x="1270" y="143510"/>
                    </a:cubicBezTo>
                    <a:cubicBezTo>
                      <a:pt x="1270" y="143510"/>
                      <a:pt x="2540" y="138430"/>
                      <a:pt x="2540" y="135890"/>
                    </a:cubicBezTo>
                    <a:cubicBezTo>
                      <a:pt x="2540" y="134620"/>
                      <a:pt x="2540" y="129540"/>
                      <a:pt x="2540" y="129540"/>
                    </a:cubicBezTo>
                    <a:cubicBezTo>
                      <a:pt x="2540" y="129540"/>
                      <a:pt x="3810" y="127000"/>
                      <a:pt x="3810" y="127000"/>
                    </a:cubicBezTo>
                    <a:cubicBezTo>
                      <a:pt x="3810" y="127000"/>
                      <a:pt x="3810" y="125730"/>
                      <a:pt x="3810" y="125730"/>
                    </a:cubicBezTo>
                    <a:cubicBezTo>
                      <a:pt x="3810" y="125730"/>
                      <a:pt x="2540" y="120650"/>
                      <a:pt x="1270" y="118110"/>
                    </a:cubicBezTo>
                    <a:cubicBezTo>
                      <a:pt x="1270" y="115570"/>
                      <a:pt x="0" y="111760"/>
                      <a:pt x="0" y="111760"/>
                    </a:cubicBezTo>
                  </a:path>
                </a:pathLst>
              </a:custGeom>
              <a:solidFill>
                <a:srgbClr val="131212"/>
              </a:solidFill>
              <a:ln cap="sq">
                <a:noFill/>
                <a:prstDash val="solid"/>
                <a:miter/>
              </a:ln>
            </p:spPr>
          </p:sp>
        </p:grpSp>
      </p:grpSp>
      <p:sp>
        <p:nvSpPr>
          <p:cNvPr name="Freeform 22" id="22"/>
          <p:cNvSpPr/>
          <p:nvPr/>
        </p:nvSpPr>
        <p:spPr>
          <a:xfrm flipH="false" flipV="false" rot="3301696">
            <a:off x="13294198" y="493025"/>
            <a:ext cx="2288131" cy="1081142"/>
          </a:xfrm>
          <a:custGeom>
            <a:avLst/>
            <a:gdLst/>
            <a:ahLst/>
            <a:cxnLst/>
            <a:rect r="r" b="b" t="t" l="l"/>
            <a:pathLst>
              <a:path h="1081142" w="2288131">
                <a:moveTo>
                  <a:pt x="0" y="0"/>
                </a:moveTo>
                <a:lnTo>
                  <a:pt x="2288131" y="0"/>
                </a:lnTo>
                <a:lnTo>
                  <a:pt x="2288131" y="1081142"/>
                </a:lnTo>
                <a:lnTo>
                  <a:pt x="0" y="108114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2886223" y="4154352"/>
            <a:ext cx="5726223" cy="3175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And beyond the numbers — our campaign generated an inbound collaboration request</a:t>
            </a:r>
          </a:p>
        </p:txBody>
      </p:sp>
      <p:sp>
        <p:nvSpPr>
          <p:cNvPr name="Freeform 24" id="24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96834" t="-71491" r="-100508" b="-68144"/>
            </a:stretch>
          </a:blipFill>
        </p:spPr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515" r="0" b="-39262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863801" y="0"/>
            <a:ext cx="14690320" cy="10287000"/>
            <a:chOff x="0" y="0"/>
            <a:chExt cx="3869056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69056" cy="2709333"/>
            </a:xfrm>
            <a:custGeom>
              <a:avLst/>
              <a:gdLst/>
              <a:ahLst/>
              <a:cxnLst/>
              <a:rect r="r" b="b" t="t" l="l"/>
              <a:pathLst>
                <a:path h="2709333" w="3869056">
                  <a:moveTo>
                    <a:pt x="0" y="0"/>
                  </a:moveTo>
                  <a:lnTo>
                    <a:pt x="3869056" y="0"/>
                  </a:lnTo>
                  <a:lnTo>
                    <a:pt x="3869056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69056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187443" y="3993490"/>
            <a:ext cx="11913114" cy="1316515"/>
          </a:xfrm>
          <a:custGeom>
            <a:avLst/>
            <a:gdLst/>
            <a:ahLst/>
            <a:cxnLst/>
            <a:rect r="r" b="b" t="t" l="l"/>
            <a:pathLst>
              <a:path h="1316515" w="11913114">
                <a:moveTo>
                  <a:pt x="0" y="0"/>
                </a:moveTo>
                <a:lnTo>
                  <a:pt x="11913114" y="0"/>
                </a:lnTo>
                <a:lnTo>
                  <a:pt x="11913114" y="1316516"/>
                </a:lnTo>
                <a:lnTo>
                  <a:pt x="0" y="13165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731" t="-184093" r="0" b="-272555"/>
            </a:stretch>
          </a:blipFill>
          <a:ln cap="rnd">
            <a:noFill/>
            <a:prstDash val="solid"/>
            <a:round/>
          </a:ln>
        </p:spPr>
      </p:sp>
      <p:sp>
        <p:nvSpPr>
          <p:cNvPr name="Freeform 8" id="8"/>
          <p:cNvSpPr/>
          <p:nvPr/>
        </p:nvSpPr>
        <p:spPr>
          <a:xfrm flipH="false" flipV="false" rot="0">
            <a:off x="118596" y="128432"/>
            <a:ext cx="1820209" cy="1270432"/>
          </a:xfrm>
          <a:custGeom>
            <a:avLst/>
            <a:gdLst/>
            <a:ahLst/>
            <a:cxnLst/>
            <a:rect r="r" b="b" t="t" l="l"/>
            <a:pathLst>
              <a:path h="1270432" w="1820209">
                <a:moveTo>
                  <a:pt x="0" y="0"/>
                </a:moveTo>
                <a:lnTo>
                  <a:pt x="1820208" y="0"/>
                </a:lnTo>
                <a:lnTo>
                  <a:pt x="1820208" y="1270432"/>
                </a:lnTo>
                <a:lnTo>
                  <a:pt x="0" y="12704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96834" t="-71491" r="-100508" b="-68144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418199" y="6419351"/>
            <a:ext cx="2283165" cy="2314996"/>
          </a:xfrm>
          <a:custGeom>
            <a:avLst/>
            <a:gdLst/>
            <a:ahLst/>
            <a:cxnLst/>
            <a:rect r="r" b="b" t="t" l="l"/>
            <a:pathLst>
              <a:path h="2314996" w="2283165">
                <a:moveTo>
                  <a:pt x="0" y="0"/>
                </a:moveTo>
                <a:lnTo>
                  <a:pt x="2283165" y="0"/>
                </a:lnTo>
                <a:lnTo>
                  <a:pt x="2283165" y="2314996"/>
                </a:lnTo>
                <a:lnTo>
                  <a:pt x="0" y="231499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2959186" y="6419351"/>
            <a:ext cx="2141371" cy="2314996"/>
          </a:xfrm>
          <a:custGeom>
            <a:avLst/>
            <a:gdLst/>
            <a:ahLst/>
            <a:cxnLst/>
            <a:rect r="r" b="b" t="t" l="l"/>
            <a:pathLst>
              <a:path h="2314996" w="2141371">
                <a:moveTo>
                  <a:pt x="0" y="0"/>
                </a:moveTo>
                <a:lnTo>
                  <a:pt x="2141371" y="0"/>
                </a:lnTo>
                <a:lnTo>
                  <a:pt x="2141371" y="2314996"/>
                </a:lnTo>
                <a:lnTo>
                  <a:pt x="0" y="231499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733289" y="1934916"/>
            <a:ext cx="12951345" cy="537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480"/>
              </a:lnSpc>
              <a:spcBef>
                <a:spcPct val="0"/>
              </a:spcBef>
            </a:pPr>
            <a:r>
              <a:rPr lang="en-US" b="true" sz="3200" strike="noStrike" u="none">
                <a:solidFill>
                  <a:srgbClr val="2C2223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Join Us in Making Pilgramige Safer for Every Muslim 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795297" y="1139819"/>
            <a:ext cx="8827330" cy="53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200"/>
              </a:lnSpc>
              <a:spcBef>
                <a:spcPct val="0"/>
              </a:spcBef>
            </a:pPr>
            <a:r>
              <a:rPr lang="en-US" b="true" sz="3000" strike="noStrike" u="none">
                <a:solidFill>
                  <a:srgbClr val="BA9B4B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Our Ask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418199" y="4302181"/>
            <a:ext cx="7451602" cy="622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Seeking 8M SAR Seed Funding 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87443" y="7157856"/>
            <a:ext cx="1926202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28,3% equity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10040" y="7157856"/>
            <a:ext cx="2632609" cy="1099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29.9M SAR Valuation </a:t>
            </a:r>
          </a:p>
        </p:txBody>
      </p:sp>
    </p:spTree>
  </p:cSld>
  <p:clrMapOvr>
    <a:masterClrMapping/>
  </p:clrMapOvr>
  <p:transition spd="fast">
    <p:fade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8888" r="0" b="-38888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681144" y="0"/>
            <a:ext cx="8925712" cy="10287000"/>
            <a:chOff x="0" y="0"/>
            <a:chExt cx="2350805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350805" cy="2709333"/>
            </a:xfrm>
            <a:custGeom>
              <a:avLst/>
              <a:gdLst/>
              <a:ahLst/>
              <a:cxnLst/>
              <a:rect r="r" b="b" t="t" l="l"/>
              <a:pathLst>
                <a:path h="2709333" w="2350805">
                  <a:moveTo>
                    <a:pt x="0" y="0"/>
                  </a:moveTo>
                  <a:lnTo>
                    <a:pt x="2350805" y="0"/>
                  </a:lnTo>
                  <a:lnTo>
                    <a:pt x="2350805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F1F1F1">
                <a:alpha val="69804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350805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6313104" y="1656993"/>
            <a:ext cx="5661793" cy="3951700"/>
          </a:xfrm>
          <a:custGeom>
            <a:avLst/>
            <a:gdLst/>
            <a:ahLst/>
            <a:cxnLst/>
            <a:rect r="r" b="b" t="t" l="l"/>
            <a:pathLst>
              <a:path h="3951700" w="5661793">
                <a:moveTo>
                  <a:pt x="0" y="0"/>
                </a:moveTo>
                <a:lnTo>
                  <a:pt x="5661792" y="0"/>
                </a:lnTo>
                <a:lnTo>
                  <a:pt x="5661792" y="3951700"/>
                </a:lnTo>
                <a:lnTo>
                  <a:pt x="0" y="39517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6834" t="-71491" r="-100508" b="-68144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5536973" y="-58861"/>
            <a:ext cx="2912078" cy="1903251"/>
          </a:xfrm>
          <a:custGeom>
            <a:avLst/>
            <a:gdLst/>
            <a:ahLst/>
            <a:cxnLst/>
            <a:rect r="r" b="b" t="t" l="l"/>
            <a:pathLst>
              <a:path h="1903251" w="2912078">
                <a:moveTo>
                  <a:pt x="0" y="0"/>
                </a:moveTo>
                <a:lnTo>
                  <a:pt x="2912077" y="0"/>
                </a:lnTo>
                <a:lnTo>
                  <a:pt x="2912077" y="1903251"/>
                </a:lnTo>
                <a:lnTo>
                  <a:pt x="0" y="190325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5533101" y="7605455"/>
            <a:ext cx="7221797" cy="6724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59"/>
              </a:lnSpc>
              <a:spcBef>
                <a:spcPct val="0"/>
              </a:spcBef>
            </a:pPr>
            <a:r>
              <a:rPr lang="en-US" b="true" sz="3899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Thank You For Listening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971264" y="6111456"/>
            <a:ext cx="6345472" cy="962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40"/>
              </a:lnSpc>
              <a:spcBef>
                <a:spcPct val="0"/>
              </a:spcBef>
            </a:pPr>
            <a:r>
              <a:rPr lang="en-US" b="true" sz="5600">
                <a:solidFill>
                  <a:srgbClr val="000000"/>
                </a:solidFill>
                <a:latin typeface="Georgia Pro Bold"/>
                <a:ea typeface="Georgia Pro Bold"/>
                <a:cs typeface="Georgia Pro Bold"/>
                <a:sym typeface="Georgia Pro Bold"/>
              </a:rPr>
              <a:t>Any Questions?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DAHAjs1mjPU</dc:identifier>
  <dcterms:modified xsi:type="dcterms:W3CDTF">2011-08-01T06:04:30Z</dcterms:modified>
  <cp:revision>1</cp:revision>
  <dc:title>yusr-يُـسـر </dc:title>
</cp:coreProperties>
</file>