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Gothic" charset="1" panose="00000500000000000000"/>
      <p:regular r:id="rId18"/>
    </p:embeddedFont>
    <p:embeddedFont>
      <p:font typeface="ITC Franklin Gothic LT" charset="1" panose="020B0504030503020204"/>
      <p:regular r:id="rId19"/>
    </p:embeddedFont>
    <p:embeddedFont>
      <p:font typeface="ITC Franklin Gothic LT Semi-Bold" charset="1" panose="020B0704030502020204"/>
      <p:regular r:id="rId20"/>
    </p:embeddedFont>
    <p:embeddedFont>
      <p:font typeface="Bernoru" charset="1" panose="00000A00000000000000"/>
      <p:regular r:id="rId21"/>
    </p:embeddedFont>
    <p:embeddedFont>
      <p:font typeface="Amsterdam Four" charset="1" panose="02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embeddings/oleObject2.bin" Type="http://schemas.openxmlformats.org/officeDocument/2006/relationships/oleObjec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embeddings/oleObject3.bin" Type="http://schemas.openxmlformats.org/officeDocument/2006/relationships/oleObject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6332" y="4718711"/>
            <a:ext cx="3407043" cy="340704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750" y="1933667"/>
            <a:ext cx="3016746" cy="30167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565" y="4039744"/>
            <a:ext cx="1864637" cy="18646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24819" y="2623879"/>
            <a:ext cx="2094831" cy="20948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50131" y="2603611"/>
            <a:ext cx="5837163" cy="4839539"/>
          </a:xfrm>
          <a:custGeom>
            <a:avLst/>
            <a:gdLst/>
            <a:ahLst/>
            <a:cxnLst/>
            <a:rect r="r" b="b" t="t" l="l"/>
            <a:pathLst>
              <a:path h="4839539" w="5837163">
                <a:moveTo>
                  <a:pt x="0" y="0"/>
                </a:moveTo>
                <a:lnTo>
                  <a:pt x="5837164" y="0"/>
                </a:lnTo>
                <a:lnTo>
                  <a:pt x="5837164" y="4839539"/>
                </a:lnTo>
                <a:lnTo>
                  <a:pt x="0" y="4839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557510" y="-889891"/>
            <a:ext cx="19403020" cy="1779782"/>
            <a:chOff x="0" y="0"/>
            <a:chExt cx="5110260" cy="4687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0261" cy="468749"/>
            </a:xfrm>
            <a:custGeom>
              <a:avLst/>
              <a:gdLst/>
              <a:ahLst/>
              <a:cxnLst/>
              <a:rect r="r" b="b" t="t" l="l"/>
              <a:pathLst>
                <a:path h="468749" w="5110261">
                  <a:moveTo>
                    <a:pt x="0" y="0"/>
                  </a:moveTo>
                  <a:lnTo>
                    <a:pt x="5110261" y="0"/>
                  </a:lnTo>
                  <a:lnTo>
                    <a:pt x="5110261" y="468749"/>
                  </a:lnTo>
                  <a:lnTo>
                    <a:pt x="0" y="468749"/>
                  </a:ln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0260" cy="51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82893" y="4375896"/>
            <a:ext cx="5253409" cy="685630"/>
            <a:chOff x="0" y="0"/>
            <a:chExt cx="1104806" cy="1441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4806" cy="144190"/>
            </a:xfrm>
            <a:custGeom>
              <a:avLst/>
              <a:gdLst/>
              <a:ahLst/>
              <a:cxnLst/>
              <a:rect r="r" b="b" t="t" l="l"/>
              <a:pathLst>
                <a:path h="144190" w="1104806">
                  <a:moveTo>
                    <a:pt x="29474" y="0"/>
                  </a:moveTo>
                  <a:lnTo>
                    <a:pt x="1075332" y="0"/>
                  </a:lnTo>
                  <a:cubicBezTo>
                    <a:pt x="1083149" y="0"/>
                    <a:pt x="1090646" y="3105"/>
                    <a:pt x="1096174" y="8633"/>
                  </a:cubicBezTo>
                  <a:cubicBezTo>
                    <a:pt x="1101701" y="14160"/>
                    <a:pt x="1104806" y="21657"/>
                    <a:pt x="1104806" y="29474"/>
                  </a:cubicBezTo>
                  <a:lnTo>
                    <a:pt x="1104806" y="114716"/>
                  </a:lnTo>
                  <a:cubicBezTo>
                    <a:pt x="1104806" y="122533"/>
                    <a:pt x="1101701" y="130030"/>
                    <a:pt x="1096174" y="135557"/>
                  </a:cubicBezTo>
                  <a:cubicBezTo>
                    <a:pt x="1090646" y="141085"/>
                    <a:pt x="1083149" y="144190"/>
                    <a:pt x="1075332" y="144190"/>
                  </a:cubicBezTo>
                  <a:lnTo>
                    <a:pt x="29474" y="144190"/>
                  </a:lnTo>
                  <a:cubicBezTo>
                    <a:pt x="21657" y="144190"/>
                    <a:pt x="14160" y="141085"/>
                    <a:pt x="8633" y="135557"/>
                  </a:cubicBezTo>
                  <a:cubicBezTo>
                    <a:pt x="3105" y="130030"/>
                    <a:pt x="0" y="122533"/>
                    <a:pt x="0" y="114716"/>
                  </a:cubicBezTo>
                  <a:lnTo>
                    <a:pt x="0" y="29474"/>
                  </a:lnTo>
                  <a:cubicBezTo>
                    <a:pt x="0" y="21657"/>
                    <a:pt x="3105" y="14160"/>
                    <a:pt x="8633" y="8633"/>
                  </a:cubicBezTo>
                  <a:cubicBezTo>
                    <a:pt x="14160" y="3105"/>
                    <a:pt x="21657" y="0"/>
                    <a:pt x="29474" y="0"/>
                  </a:cubicBezTo>
                  <a:close/>
                </a:path>
              </a:pathLst>
            </a:custGeom>
            <a:solidFill>
              <a:srgbClr val="FFEF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04806" cy="191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1627902">
            <a:off x="5430088" y="2515964"/>
            <a:ext cx="2006533" cy="864633"/>
          </a:xfrm>
          <a:custGeom>
            <a:avLst/>
            <a:gdLst/>
            <a:ahLst/>
            <a:cxnLst/>
            <a:rect r="r" b="b" t="t" l="l"/>
            <a:pathLst>
              <a:path h="864633" w="2006533">
                <a:moveTo>
                  <a:pt x="0" y="0"/>
                </a:moveTo>
                <a:lnTo>
                  <a:pt x="2006534" y="0"/>
                </a:lnTo>
                <a:lnTo>
                  <a:pt x="2006534" y="864633"/>
                </a:lnTo>
                <a:lnTo>
                  <a:pt x="0" y="86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1627902">
            <a:off x="456915" y="7248066"/>
            <a:ext cx="2006533" cy="864633"/>
          </a:xfrm>
          <a:custGeom>
            <a:avLst/>
            <a:gdLst/>
            <a:ahLst/>
            <a:cxnLst/>
            <a:rect r="r" b="b" t="t" l="l"/>
            <a:pathLst>
              <a:path h="864633" w="2006533">
                <a:moveTo>
                  <a:pt x="0" y="864634"/>
                </a:moveTo>
                <a:lnTo>
                  <a:pt x="2006534" y="864634"/>
                </a:lnTo>
                <a:lnTo>
                  <a:pt x="2006534" y="0"/>
                </a:lnTo>
                <a:lnTo>
                  <a:pt x="0" y="0"/>
                </a:lnTo>
                <a:lnTo>
                  <a:pt x="0" y="8646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25132" y="5904381"/>
            <a:ext cx="563145" cy="601417"/>
          </a:xfrm>
          <a:custGeom>
            <a:avLst/>
            <a:gdLst/>
            <a:ahLst/>
            <a:cxnLst/>
            <a:rect r="r" b="b" t="t" l="l"/>
            <a:pathLst>
              <a:path h="601417" w="563145">
                <a:moveTo>
                  <a:pt x="0" y="0"/>
                </a:moveTo>
                <a:lnTo>
                  <a:pt x="563145" y="0"/>
                </a:lnTo>
                <a:lnTo>
                  <a:pt x="563145" y="601417"/>
                </a:lnTo>
                <a:lnTo>
                  <a:pt x="0" y="601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253567" y="1122564"/>
            <a:ext cx="10034433" cy="359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8"/>
              </a:lnSpc>
              <a:spcBef>
                <a:spcPct val="0"/>
              </a:spcBef>
            </a:pPr>
            <a:r>
              <a:rPr lang="en-US" sz="209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LINKEDIN JOB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29873" y="4436135"/>
            <a:ext cx="495944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JOB MARKET INTELLIGANCE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507929" y="5346231"/>
            <a:ext cx="6003337" cy="2516818"/>
            <a:chOff x="0" y="0"/>
            <a:chExt cx="1209060" cy="5068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9060" cy="506882"/>
            </a:xfrm>
            <a:custGeom>
              <a:avLst/>
              <a:gdLst/>
              <a:ahLst/>
              <a:cxnLst/>
              <a:rect r="r" b="b" t="t" l="l"/>
              <a:pathLst>
                <a:path h="506882" w="1209060">
                  <a:moveTo>
                    <a:pt x="25792" y="0"/>
                  </a:moveTo>
                  <a:lnTo>
                    <a:pt x="1183268" y="0"/>
                  </a:lnTo>
                  <a:cubicBezTo>
                    <a:pt x="1197512" y="0"/>
                    <a:pt x="1209060" y="11547"/>
                    <a:pt x="1209060" y="25792"/>
                  </a:cubicBezTo>
                  <a:lnTo>
                    <a:pt x="1209060" y="481090"/>
                  </a:lnTo>
                  <a:cubicBezTo>
                    <a:pt x="1209060" y="495334"/>
                    <a:pt x="1197512" y="506882"/>
                    <a:pt x="1183268" y="506882"/>
                  </a:cubicBezTo>
                  <a:lnTo>
                    <a:pt x="25792" y="506882"/>
                  </a:lnTo>
                  <a:cubicBezTo>
                    <a:pt x="11547" y="506882"/>
                    <a:pt x="0" y="495334"/>
                    <a:pt x="0" y="481090"/>
                  </a:cubicBezTo>
                  <a:lnTo>
                    <a:pt x="0" y="25792"/>
                  </a:lnTo>
                  <a:cubicBezTo>
                    <a:pt x="0" y="11547"/>
                    <a:pt x="11547" y="0"/>
                    <a:pt x="25792" y="0"/>
                  </a:cubicBezTo>
                  <a:close/>
                </a:path>
              </a:pathLst>
            </a:custGeom>
            <a:solidFill>
              <a:srgbClr val="FFEFD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09060" cy="55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377532" y="5322066"/>
            <a:ext cx="6004989" cy="260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Group # 1 </a:t>
            </a:r>
          </a:p>
          <a:p>
            <a:pPr algn="l" marL="631247" indent="-315623" lvl="1">
              <a:lnSpc>
                <a:spcPts val="4093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Rama Alomair         444200662</a:t>
            </a:r>
          </a:p>
          <a:p>
            <a:pPr algn="l" marL="631247" indent="-315623" lvl="1">
              <a:lnSpc>
                <a:spcPts val="4093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Walaa Saifaleslam  444200088</a:t>
            </a:r>
          </a:p>
          <a:p>
            <a:pPr algn="l" marL="631247" indent="-315623" lvl="1">
              <a:lnSpc>
                <a:spcPts val="4093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Mona Alnajjar         444200091</a:t>
            </a:r>
          </a:p>
          <a:p>
            <a:pPr algn="l" marL="631247" indent="-315623" lvl="1">
              <a:lnSpc>
                <a:spcPts val="4093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Alya Althobiani        444200973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7249220" y="4718711"/>
            <a:ext cx="1175174" cy="1255040"/>
          </a:xfrm>
          <a:custGeom>
            <a:avLst/>
            <a:gdLst/>
            <a:ahLst/>
            <a:cxnLst/>
            <a:rect r="r" b="b" t="t" l="l"/>
            <a:pathLst>
              <a:path h="1255040" w="1175174">
                <a:moveTo>
                  <a:pt x="1175174" y="0"/>
                </a:moveTo>
                <a:lnTo>
                  <a:pt x="0" y="0"/>
                </a:lnTo>
                <a:lnTo>
                  <a:pt x="0" y="1255040"/>
                </a:lnTo>
                <a:lnTo>
                  <a:pt x="1175174" y="1255040"/>
                </a:lnTo>
                <a:lnTo>
                  <a:pt x="11751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000084" y="8240080"/>
            <a:ext cx="7259216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IT462 - Big Data Systems 1447 2'nd Semester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6852" y="8786396"/>
            <a:ext cx="495944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Dr. Afshan Jafari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672509" y="9482041"/>
            <a:ext cx="32175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95902" y="9332496"/>
            <a:ext cx="495944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Mon 11 May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99535"/>
            <a:ext cx="7573504" cy="2490297"/>
            <a:chOff x="0" y="0"/>
            <a:chExt cx="129254464" cy="42501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254461" cy="42501071"/>
            </a:xfrm>
            <a:custGeom>
              <a:avLst/>
              <a:gdLst/>
              <a:ahLst/>
              <a:cxnLst/>
              <a:rect r="r" b="b" t="t" l="l"/>
              <a:pathLst>
                <a:path h="42501071" w="129254461">
                  <a:moveTo>
                    <a:pt x="36801" y="0"/>
                  </a:moveTo>
                  <a:lnTo>
                    <a:pt x="129217663" y="0"/>
                  </a:lnTo>
                  <a:cubicBezTo>
                    <a:pt x="129237991" y="0"/>
                    <a:pt x="129254461" y="16476"/>
                    <a:pt x="129254461" y="36801"/>
                  </a:cubicBezTo>
                  <a:lnTo>
                    <a:pt x="129254461" y="42464270"/>
                  </a:lnTo>
                  <a:cubicBezTo>
                    <a:pt x="129254461" y="42484594"/>
                    <a:pt x="129237991" y="42501071"/>
                    <a:pt x="129217663" y="42501071"/>
                  </a:cubicBezTo>
                  <a:lnTo>
                    <a:pt x="36801" y="42501071"/>
                  </a:lnTo>
                  <a:cubicBezTo>
                    <a:pt x="16476" y="42501071"/>
                    <a:pt x="0" y="42484594"/>
                    <a:pt x="0" y="42464270"/>
                  </a:cubicBezTo>
                  <a:lnTo>
                    <a:pt x="0" y="36801"/>
                  </a:lnTo>
                  <a:cubicBezTo>
                    <a:pt x="0" y="16476"/>
                    <a:pt x="16476" y="0"/>
                    <a:pt x="36801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9254464" cy="42548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021143">
            <a:off x="954527" y="7475307"/>
            <a:ext cx="2388091" cy="1029050"/>
          </a:xfrm>
          <a:custGeom>
            <a:avLst/>
            <a:gdLst/>
            <a:ahLst/>
            <a:cxnLst/>
            <a:rect r="r" b="b" t="t" l="l"/>
            <a:pathLst>
              <a:path h="1029050" w="2388091">
                <a:moveTo>
                  <a:pt x="0" y="0"/>
                </a:moveTo>
                <a:lnTo>
                  <a:pt x="2388091" y="0"/>
                </a:lnTo>
                <a:lnTo>
                  <a:pt x="2388091" y="1029050"/>
                </a:lnTo>
                <a:lnTo>
                  <a:pt x="0" y="10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1236" y="231653"/>
            <a:ext cx="7903367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Problem &amp; 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72509" y="9482041"/>
            <a:ext cx="32175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419794"/>
            <a:ext cx="15849380" cy="2168519"/>
            <a:chOff x="0" y="0"/>
            <a:chExt cx="270496084" cy="370093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496085" cy="37009394"/>
            </a:xfrm>
            <a:custGeom>
              <a:avLst/>
              <a:gdLst/>
              <a:ahLst/>
              <a:cxnLst/>
              <a:rect r="r" b="b" t="t" l="l"/>
              <a:pathLst>
                <a:path h="37009394" w="270496085">
                  <a:moveTo>
                    <a:pt x="17585" y="0"/>
                  </a:moveTo>
                  <a:lnTo>
                    <a:pt x="270478498" y="0"/>
                  </a:lnTo>
                  <a:cubicBezTo>
                    <a:pt x="270483161" y="0"/>
                    <a:pt x="270487626" y="1853"/>
                    <a:pt x="270490925" y="5150"/>
                  </a:cubicBezTo>
                  <a:cubicBezTo>
                    <a:pt x="270494224" y="8448"/>
                    <a:pt x="270496085" y="12921"/>
                    <a:pt x="270496085" y="17585"/>
                  </a:cubicBezTo>
                  <a:lnTo>
                    <a:pt x="270496085" y="36991810"/>
                  </a:lnTo>
                  <a:cubicBezTo>
                    <a:pt x="270496085" y="36996474"/>
                    <a:pt x="270494224" y="37000945"/>
                    <a:pt x="270490925" y="37004244"/>
                  </a:cubicBezTo>
                  <a:cubicBezTo>
                    <a:pt x="270487626" y="37007540"/>
                    <a:pt x="270483161" y="37009394"/>
                    <a:pt x="270478498" y="37009394"/>
                  </a:cubicBezTo>
                  <a:lnTo>
                    <a:pt x="17585" y="37009394"/>
                  </a:lnTo>
                  <a:cubicBezTo>
                    <a:pt x="12921" y="37009394"/>
                    <a:pt x="8448" y="37007540"/>
                    <a:pt x="5150" y="37004244"/>
                  </a:cubicBezTo>
                  <a:cubicBezTo>
                    <a:pt x="1853" y="37000945"/>
                    <a:pt x="0" y="36996474"/>
                    <a:pt x="0" y="36991810"/>
                  </a:cubicBezTo>
                  <a:lnTo>
                    <a:pt x="0" y="17585"/>
                  </a:lnTo>
                  <a:cubicBezTo>
                    <a:pt x="0" y="12921"/>
                    <a:pt x="1853" y="8448"/>
                    <a:pt x="5150" y="5150"/>
                  </a:cubicBezTo>
                  <a:cubicBezTo>
                    <a:pt x="8448" y="1853"/>
                    <a:pt x="12921" y="0"/>
                    <a:pt x="17585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70496084" cy="37057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46849" y="8247845"/>
            <a:ext cx="2502621" cy="2147704"/>
          </a:xfrm>
          <a:custGeom>
            <a:avLst/>
            <a:gdLst/>
            <a:ahLst/>
            <a:cxnLst/>
            <a:rect r="r" b="b" t="t" l="l"/>
            <a:pathLst>
              <a:path h="2147704" w="2502621">
                <a:moveTo>
                  <a:pt x="0" y="0"/>
                </a:moveTo>
                <a:lnTo>
                  <a:pt x="2502621" y="0"/>
                </a:lnTo>
                <a:lnTo>
                  <a:pt x="2502621" y="2147703"/>
                </a:lnTo>
                <a:lnTo>
                  <a:pt x="0" y="214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97193" y="1719022"/>
            <a:ext cx="4726731" cy="75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</a:t>
            </a:r>
            <a:r>
              <a:rPr lang="en-US" b="true" sz="39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roblem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255" y="2594677"/>
            <a:ext cx="15642270" cy="184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How can distributed big data p</a:t>
            </a:r>
            <a:r>
              <a:rPr lang="en-US" sz="33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rocessing be leveraged to extract meaningful insights — including job demand patterns, required skills, and salary predictions — from large-scale LinkedIn job postings?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7193" y="4761240"/>
            <a:ext cx="2030311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C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6110" y="6089998"/>
            <a:ext cx="6633621" cy="12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Millions of job postings generated daily — hard to analyze at scale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04576" y="5499535"/>
            <a:ext cx="7573504" cy="2490297"/>
            <a:chOff x="0" y="0"/>
            <a:chExt cx="129254464" cy="42501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254461" cy="42501071"/>
            </a:xfrm>
            <a:custGeom>
              <a:avLst/>
              <a:gdLst/>
              <a:ahLst/>
              <a:cxnLst/>
              <a:rect r="r" b="b" t="t" l="l"/>
              <a:pathLst>
                <a:path h="42501071" w="129254461">
                  <a:moveTo>
                    <a:pt x="36801" y="0"/>
                  </a:moveTo>
                  <a:lnTo>
                    <a:pt x="129217663" y="0"/>
                  </a:lnTo>
                  <a:cubicBezTo>
                    <a:pt x="129237991" y="0"/>
                    <a:pt x="129254461" y="16476"/>
                    <a:pt x="129254461" y="36801"/>
                  </a:cubicBezTo>
                  <a:lnTo>
                    <a:pt x="129254461" y="42464270"/>
                  </a:lnTo>
                  <a:cubicBezTo>
                    <a:pt x="129254461" y="42484594"/>
                    <a:pt x="129237991" y="42501071"/>
                    <a:pt x="129217663" y="42501071"/>
                  </a:cubicBezTo>
                  <a:lnTo>
                    <a:pt x="36801" y="42501071"/>
                  </a:lnTo>
                  <a:cubicBezTo>
                    <a:pt x="16476" y="42501071"/>
                    <a:pt x="0" y="42484594"/>
                    <a:pt x="0" y="42464270"/>
                  </a:cubicBezTo>
                  <a:lnTo>
                    <a:pt x="0" y="36801"/>
                  </a:lnTo>
                  <a:cubicBezTo>
                    <a:pt x="0" y="16476"/>
                    <a:pt x="16476" y="0"/>
                    <a:pt x="36801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9254464" cy="42548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774518" y="4761240"/>
            <a:ext cx="3601562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Stakeh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olders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4518" y="5789960"/>
            <a:ext cx="6633621" cy="184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Job Seekers · 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Recruiter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HR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T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eam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· Rese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a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rch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rs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C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a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reer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C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ounse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l</a:t>
            </a:r>
            <a:r>
              <a:rPr lang="en-US" sz="3399" strike="noStrike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97578" y="4102261"/>
            <a:ext cx="2993270" cy="1616312"/>
            <a:chOff x="0" y="0"/>
            <a:chExt cx="51085141" cy="275850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85142" cy="27585054"/>
            </a:xfrm>
            <a:custGeom>
              <a:avLst/>
              <a:gdLst/>
              <a:ahLst/>
              <a:cxnLst/>
              <a:rect r="r" b="b" t="t" l="l"/>
              <a:pathLst>
                <a:path h="27585054" w="51085142">
                  <a:moveTo>
                    <a:pt x="93112" y="0"/>
                  </a:moveTo>
                  <a:lnTo>
                    <a:pt x="50992032" y="0"/>
                  </a:lnTo>
                  <a:cubicBezTo>
                    <a:pt x="51043455" y="0"/>
                    <a:pt x="51085142" y="41688"/>
                    <a:pt x="51085142" y="93112"/>
                  </a:cubicBezTo>
                  <a:lnTo>
                    <a:pt x="51085142" y="27491944"/>
                  </a:lnTo>
                  <a:cubicBezTo>
                    <a:pt x="51085142" y="27543367"/>
                    <a:pt x="51043455" y="27585054"/>
                    <a:pt x="50992032" y="27585054"/>
                  </a:cubicBezTo>
                  <a:lnTo>
                    <a:pt x="93112" y="27585054"/>
                  </a:lnTo>
                  <a:cubicBezTo>
                    <a:pt x="41688" y="27585054"/>
                    <a:pt x="0" y="27543367"/>
                    <a:pt x="0" y="27491944"/>
                  </a:cubicBezTo>
                  <a:lnTo>
                    <a:pt x="0" y="93112"/>
                  </a:lnTo>
                  <a:cubicBezTo>
                    <a:pt x="0" y="41688"/>
                    <a:pt x="41688" y="0"/>
                    <a:pt x="93112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085141" cy="27632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1868" y="4102261"/>
            <a:ext cx="2993270" cy="1616312"/>
            <a:chOff x="0" y="0"/>
            <a:chExt cx="51085141" cy="275850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85142" cy="27585054"/>
            </a:xfrm>
            <a:custGeom>
              <a:avLst/>
              <a:gdLst/>
              <a:ahLst/>
              <a:cxnLst/>
              <a:rect r="r" b="b" t="t" l="l"/>
              <a:pathLst>
                <a:path h="27585054" w="51085142">
                  <a:moveTo>
                    <a:pt x="93112" y="0"/>
                  </a:moveTo>
                  <a:lnTo>
                    <a:pt x="50992032" y="0"/>
                  </a:lnTo>
                  <a:cubicBezTo>
                    <a:pt x="51043455" y="0"/>
                    <a:pt x="51085142" y="41688"/>
                    <a:pt x="51085142" y="93112"/>
                  </a:cubicBezTo>
                  <a:lnTo>
                    <a:pt x="51085142" y="27491944"/>
                  </a:lnTo>
                  <a:cubicBezTo>
                    <a:pt x="51085142" y="27543367"/>
                    <a:pt x="51043455" y="27585054"/>
                    <a:pt x="50992032" y="27585054"/>
                  </a:cubicBezTo>
                  <a:lnTo>
                    <a:pt x="93112" y="27585054"/>
                  </a:lnTo>
                  <a:cubicBezTo>
                    <a:pt x="41688" y="27585054"/>
                    <a:pt x="0" y="27543367"/>
                    <a:pt x="0" y="27491944"/>
                  </a:cubicBezTo>
                  <a:lnTo>
                    <a:pt x="0" y="93112"/>
                  </a:lnTo>
                  <a:cubicBezTo>
                    <a:pt x="0" y="41688"/>
                    <a:pt x="41688" y="0"/>
                    <a:pt x="93112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1085141" cy="27632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72313" y="4102261"/>
            <a:ext cx="2993270" cy="1616312"/>
            <a:chOff x="0" y="0"/>
            <a:chExt cx="51085141" cy="275850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85142" cy="27585054"/>
            </a:xfrm>
            <a:custGeom>
              <a:avLst/>
              <a:gdLst/>
              <a:ahLst/>
              <a:cxnLst/>
              <a:rect r="r" b="b" t="t" l="l"/>
              <a:pathLst>
                <a:path h="27585054" w="51085142">
                  <a:moveTo>
                    <a:pt x="93112" y="0"/>
                  </a:moveTo>
                  <a:lnTo>
                    <a:pt x="50992032" y="0"/>
                  </a:lnTo>
                  <a:cubicBezTo>
                    <a:pt x="51043455" y="0"/>
                    <a:pt x="51085142" y="41688"/>
                    <a:pt x="51085142" y="93112"/>
                  </a:cubicBezTo>
                  <a:lnTo>
                    <a:pt x="51085142" y="27491944"/>
                  </a:lnTo>
                  <a:cubicBezTo>
                    <a:pt x="51085142" y="27543367"/>
                    <a:pt x="51043455" y="27585054"/>
                    <a:pt x="50992032" y="27585054"/>
                  </a:cubicBezTo>
                  <a:lnTo>
                    <a:pt x="93112" y="27585054"/>
                  </a:lnTo>
                  <a:cubicBezTo>
                    <a:pt x="41688" y="27585054"/>
                    <a:pt x="0" y="27543367"/>
                    <a:pt x="0" y="27491944"/>
                  </a:cubicBezTo>
                  <a:lnTo>
                    <a:pt x="0" y="93112"/>
                  </a:lnTo>
                  <a:cubicBezTo>
                    <a:pt x="0" y="41688"/>
                    <a:pt x="41688" y="0"/>
                    <a:pt x="93112" y="0"/>
                  </a:cubicBezTo>
                  <a:close/>
                </a:path>
              </a:pathLst>
            </a:custGeom>
            <a:solidFill>
              <a:srgbClr val="99ACFF">
                <a:alpha val="7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085141" cy="27632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596964" y="6069797"/>
          <a:ext cx="8501062" cy="3771900"/>
        </p:xfrm>
        <a:graphic>
          <a:graphicData uri="http://schemas.openxmlformats.org/presentationml/2006/ole">
            <p:oleObj imgW="10198100" imgH="5473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851236" y="231653"/>
            <a:ext cx="7092683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1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Dataset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918495"/>
            <a:ext cx="12301161" cy="158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Source:</a:t>
            </a:r>
            <a:r>
              <a:rPr lang="en-US" b="true" sz="28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 LinkedIn Job Listings — Hugging Face  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URL: huggingface.co/datasets/Moheez2611/linkedin_job_listings</a:t>
            </a:r>
          </a:p>
          <a:p>
            <a:pPr algn="just">
              <a:lnSpc>
                <a:spcPts val="4059"/>
              </a:lnSpc>
            </a:pPr>
            <a:r>
              <a:rPr lang="en-US" b="true" sz="28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Domain: Human Resources &amp; Labor Market Analytics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46358" y="4220171"/>
            <a:ext cx="2495710" cy="12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~123K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Row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48822" y="4220171"/>
            <a:ext cx="2966316" cy="12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34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Column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99267" y="4220171"/>
            <a:ext cx="2966316" cy="12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3 – 4 / 2024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 Time span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3350" y="5635177"/>
            <a:ext cx="2621108" cy="26211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003" y="6007477"/>
            <a:ext cx="1760673" cy="1760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66026" y="4677019"/>
            <a:ext cx="1565519" cy="156551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92282" y="6716432"/>
            <a:ext cx="1565519" cy="15655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1479" y="4718437"/>
            <a:ext cx="4099499" cy="3644828"/>
          </a:xfrm>
          <a:custGeom>
            <a:avLst/>
            <a:gdLst/>
            <a:ahLst/>
            <a:cxnLst/>
            <a:rect r="r" b="b" t="t" l="l"/>
            <a:pathLst>
              <a:path h="3644828" w="4099499">
                <a:moveTo>
                  <a:pt x="0" y="0"/>
                </a:moveTo>
                <a:lnTo>
                  <a:pt x="4099499" y="0"/>
                </a:lnTo>
                <a:lnTo>
                  <a:pt x="4099499" y="3644827"/>
                </a:lnTo>
                <a:lnTo>
                  <a:pt x="0" y="3644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240393" y="899065"/>
            <a:ext cx="5843603" cy="4736112"/>
            <a:chOff x="0" y="0"/>
            <a:chExt cx="1357648" cy="1100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7648" cy="1100344"/>
            </a:xfrm>
            <a:custGeom>
              <a:avLst/>
              <a:gdLst/>
              <a:ahLst/>
              <a:cxnLst/>
              <a:rect r="r" b="b" t="t" l="l"/>
              <a:pathLst>
                <a:path h="1100344" w="1357648">
                  <a:moveTo>
                    <a:pt x="26497" y="0"/>
                  </a:moveTo>
                  <a:lnTo>
                    <a:pt x="1331151" y="0"/>
                  </a:lnTo>
                  <a:cubicBezTo>
                    <a:pt x="1338178" y="0"/>
                    <a:pt x="1344918" y="2792"/>
                    <a:pt x="1349887" y="7761"/>
                  </a:cubicBezTo>
                  <a:cubicBezTo>
                    <a:pt x="1354856" y="12730"/>
                    <a:pt x="1357648" y="19470"/>
                    <a:pt x="1357648" y="26497"/>
                  </a:cubicBezTo>
                  <a:lnTo>
                    <a:pt x="1357648" y="1073846"/>
                  </a:lnTo>
                  <a:cubicBezTo>
                    <a:pt x="1357648" y="1088480"/>
                    <a:pt x="1345785" y="1100344"/>
                    <a:pt x="1331151" y="1100344"/>
                  </a:cubicBezTo>
                  <a:lnTo>
                    <a:pt x="26497" y="1100344"/>
                  </a:lnTo>
                  <a:cubicBezTo>
                    <a:pt x="11863" y="1100344"/>
                    <a:pt x="0" y="1088480"/>
                    <a:pt x="0" y="1073846"/>
                  </a:cubicBezTo>
                  <a:lnTo>
                    <a:pt x="0" y="26497"/>
                  </a:lnTo>
                  <a:cubicBezTo>
                    <a:pt x="0" y="11863"/>
                    <a:pt x="11863" y="0"/>
                    <a:pt x="26497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57648" cy="1147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82929" y="607178"/>
            <a:ext cx="5558532" cy="583775"/>
            <a:chOff x="0" y="0"/>
            <a:chExt cx="1291417" cy="135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1417" cy="135629"/>
            </a:xfrm>
            <a:custGeom>
              <a:avLst/>
              <a:gdLst/>
              <a:ahLst/>
              <a:cxnLst/>
              <a:rect r="r" b="b" t="t" l="l"/>
              <a:pathLst>
                <a:path h="135629" w="1291417">
                  <a:moveTo>
                    <a:pt x="27856" y="0"/>
                  </a:moveTo>
                  <a:lnTo>
                    <a:pt x="1263561" y="0"/>
                  </a:lnTo>
                  <a:cubicBezTo>
                    <a:pt x="1270949" y="0"/>
                    <a:pt x="1278034" y="2935"/>
                    <a:pt x="1283258" y="8159"/>
                  </a:cubicBezTo>
                  <a:cubicBezTo>
                    <a:pt x="1288482" y="13383"/>
                    <a:pt x="1291417" y="20468"/>
                    <a:pt x="1291417" y="27856"/>
                  </a:cubicBezTo>
                  <a:lnTo>
                    <a:pt x="1291417" y="107773"/>
                  </a:lnTo>
                  <a:cubicBezTo>
                    <a:pt x="1291417" y="115161"/>
                    <a:pt x="1288482" y="122246"/>
                    <a:pt x="1283258" y="127470"/>
                  </a:cubicBezTo>
                  <a:cubicBezTo>
                    <a:pt x="1278034" y="132694"/>
                    <a:pt x="1270949" y="135629"/>
                    <a:pt x="1263561" y="135629"/>
                  </a:cubicBezTo>
                  <a:lnTo>
                    <a:pt x="27856" y="135629"/>
                  </a:lnTo>
                  <a:cubicBezTo>
                    <a:pt x="20468" y="135629"/>
                    <a:pt x="13383" y="132694"/>
                    <a:pt x="8159" y="127470"/>
                  </a:cubicBezTo>
                  <a:cubicBezTo>
                    <a:pt x="2935" y="122246"/>
                    <a:pt x="0" y="115161"/>
                    <a:pt x="0" y="107773"/>
                  </a:cubicBezTo>
                  <a:lnTo>
                    <a:pt x="0" y="27856"/>
                  </a:lnTo>
                  <a:cubicBezTo>
                    <a:pt x="0" y="20468"/>
                    <a:pt x="2935" y="13383"/>
                    <a:pt x="8159" y="8159"/>
                  </a:cubicBezTo>
                  <a:cubicBezTo>
                    <a:pt x="13383" y="2935"/>
                    <a:pt x="20468" y="0"/>
                    <a:pt x="27856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91417" cy="18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53938" y="899957"/>
            <a:ext cx="5781649" cy="4735220"/>
            <a:chOff x="0" y="0"/>
            <a:chExt cx="1113831" cy="9122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3831" cy="912237"/>
            </a:xfrm>
            <a:custGeom>
              <a:avLst/>
              <a:gdLst/>
              <a:ahLst/>
              <a:cxnLst/>
              <a:rect r="r" b="b" t="t" l="l"/>
              <a:pathLst>
                <a:path h="912237" w="1113831">
                  <a:moveTo>
                    <a:pt x="26781" y="0"/>
                  </a:moveTo>
                  <a:lnTo>
                    <a:pt x="1087050" y="0"/>
                  </a:lnTo>
                  <a:cubicBezTo>
                    <a:pt x="1094152" y="0"/>
                    <a:pt x="1100964" y="2822"/>
                    <a:pt x="1105987" y="7844"/>
                  </a:cubicBezTo>
                  <a:cubicBezTo>
                    <a:pt x="1111009" y="12866"/>
                    <a:pt x="1113831" y="19678"/>
                    <a:pt x="1113831" y="26781"/>
                  </a:cubicBezTo>
                  <a:lnTo>
                    <a:pt x="1113831" y="885456"/>
                  </a:lnTo>
                  <a:cubicBezTo>
                    <a:pt x="1113831" y="892559"/>
                    <a:pt x="1111009" y="899370"/>
                    <a:pt x="1105987" y="904393"/>
                  </a:cubicBezTo>
                  <a:cubicBezTo>
                    <a:pt x="1100964" y="909415"/>
                    <a:pt x="1094152" y="912237"/>
                    <a:pt x="1087050" y="912237"/>
                  </a:cubicBezTo>
                  <a:lnTo>
                    <a:pt x="26781" y="912237"/>
                  </a:lnTo>
                  <a:cubicBezTo>
                    <a:pt x="19678" y="912237"/>
                    <a:pt x="12866" y="909415"/>
                    <a:pt x="7844" y="904393"/>
                  </a:cubicBezTo>
                  <a:cubicBezTo>
                    <a:pt x="2822" y="899370"/>
                    <a:pt x="0" y="892559"/>
                    <a:pt x="0" y="885456"/>
                  </a:cubicBezTo>
                  <a:lnTo>
                    <a:pt x="0" y="26781"/>
                  </a:lnTo>
                  <a:cubicBezTo>
                    <a:pt x="0" y="19678"/>
                    <a:pt x="2822" y="12866"/>
                    <a:pt x="7844" y="7844"/>
                  </a:cubicBezTo>
                  <a:cubicBezTo>
                    <a:pt x="12866" y="2822"/>
                    <a:pt x="19678" y="0"/>
                    <a:pt x="26781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13831" cy="959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65496" y="607178"/>
            <a:ext cx="5558532" cy="560356"/>
            <a:chOff x="0" y="0"/>
            <a:chExt cx="1070847" cy="1079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0847" cy="107952"/>
            </a:xfrm>
            <a:custGeom>
              <a:avLst/>
              <a:gdLst/>
              <a:ahLst/>
              <a:cxnLst/>
              <a:rect r="r" b="b" t="t" l="l"/>
              <a:pathLst>
                <a:path h="107952" w="1070847">
                  <a:moveTo>
                    <a:pt x="27856" y="0"/>
                  </a:moveTo>
                  <a:lnTo>
                    <a:pt x="1042991" y="0"/>
                  </a:lnTo>
                  <a:cubicBezTo>
                    <a:pt x="1050379" y="0"/>
                    <a:pt x="1057465" y="2935"/>
                    <a:pt x="1062689" y="8159"/>
                  </a:cubicBezTo>
                  <a:cubicBezTo>
                    <a:pt x="1067913" y="13383"/>
                    <a:pt x="1070847" y="20468"/>
                    <a:pt x="1070847" y="27856"/>
                  </a:cubicBezTo>
                  <a:lnTo>
                    <a:pt x="1070847" y="80096"/>
                  </a:lnTo>
                  <a:cubicBezTo>
                    <a:pt x="1070847" y="95481"/>
                    <a:pt x="1058376" y="107952"/>
                    <a:pt x="1042991" y="107952"/>
                  </a:cubicBezTo>
                  <a:lnTo>
                    <a:pt x="27856" y="107952"/>
                  </a:lnTo>
                  <a:cubicBezTo>
                    <a:pt x="20468" y="107952"/>
                    <a:pt x="13383" y="105017"/>
                    <a:pt x="8159" y="99793"/>
                  </a:cubicBezTo>
                  <a:cubicBezTo>
                    <a:pt x="2935" y="94569"/>
                    <a:pt x="0" y="87484"/>
                    <a:pt x="0" y="80096"/>
                  </a:cubicBezTo>
                  <a:lnTo>
                    <a:pt x="0" y="27856"/>
                  </a:lnTo>
                  <a:cubicBezTo>
                    <a:pt x="0" y="20468"/>
                    <a:pt x="2935" y="13383"/>
                    <a:pt x="8159" y="8159"/>
                  </a:cubicBezTo>
                  <a:cubicBezTo>
                    <a:pt x="13383" y="2935"/>
                    <a:pt x="20468" y="0"/>
                    <a:pt x="27856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70847" cy="15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1957934">
            <a:off x="4499247" y="4940391"/>
            <a:ext cx="1581610" cy="681530"/>
          </a:xfrm>
          <a:custGeom>
            <a:avLst/>
            <a:gdLst/>
            <a:ahLst/>
            <a:cxnLst/>
            <a:rect r="r" b="b" t="t" l="l"/>
            <a:pathLst>
              <a:path h="681530" w="1581610">
                <a:moveTo>
                  <a:pt x="0" y="0"/>
                </a:moveTo>
                <a:lnTo>
                  <a:pt x="1581611" y="0"/>
                </a:lnTo>
                <a:lnTo>
                  <a:pt x="1581611" y="681530"/>
                </a:lnTo>
                <a:lnTo>
                  <a:pt x="0" y="681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70610" y="5098887"/>
            <a:ext cx="688790" cy="735601"/>
          </a:xfrm>
          <a:custGeom>
            <a:avLst/>
            <a:gdLst/>
            <a:ahLst/>
            <a:cxnLst/>
            <a:rect r="r" b="b" t="t" l="l"/>
            <a:pathLst>
              <a:path h="735601" w="688790">
                <a:moveTo>
                  <a:pt x="688790" y="0"/>
                </a:moveTo>
                <a:lnTo>
                  <a:pt x="0" y="0"/>
                </a:lnTo>
                <a:lnTo>
                  <a:pt x="0" y="735601"/>
                </a:lnTo>
                <a:lnTo>
                  <a:pt x="688790" y="735601"/>
                </a:lnTo>
                <a:lnTo>
                  <a:pt x="68879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565381" y="6589690"/>
            <a:ext cx="891193" cy="951760"/>
          </a:xfrm>
          <a:custGeom>
            <a:avLst/>
            <a:gdLst/>
            <a:ahLst/>
            <a:cxnLst/>
            <a:rect r="r" b="b" t="t" l="l"/>
            <a:pathLst>
              <a:path h="951760" w="891193">
                <a:moveTo>
                  <a:pt x="0" y="0"/>
                </a:moveTo>
                <a:lnTo>
                  <a:pt x="891194" y="0"/>
                </a:lnTo>
                <a:lnTo>
                  <a:pt x="891194" y="951760"/>
                </a:lnTo>
                <a:lnTo>
                  <a:pt x="0" y="951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0" id="30"/>
          <p:cNvGraphicFramePr/>
          <p:nvPr/>
        </p:nvGraphicFramePr>
        <p:xfrm>
          <a:off x="6240393" y="6063183"/>
          <a:ext cx="5657850" cy="3143250"/>
        </p:xfrm>
        <a:graphic>
          <a:graphicData uri="http://schemas.openxmlformats.org/presentationml/2006/ole">
            <p:oleObj imgW="6781800" imgH="4267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1" id="31"/>
          <p:cNvSpPr txBox="true"/>
          <p:nvPr/>
        </p:nvSpPr>
        <p:spPr>
          <a:xfrm rot="0">
            <a:off x="249801" y="327649"/>
            <a:ext cx="7092683" cy="30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19"/>
              </a:lnSpc>
              <a:spcBef>
                <a:spcPct val="0"/>
              </a:spcBef>
            </a:pP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Data Quality &amp; Prepsocessing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35226" y="612861"/>
            <a:ext cx="4653937" cy="5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MAIN DATA QUALITY ISSUES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39175" y="1484678"/>
            <a:ext cx="6044821" cy="397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High </a:t>
            </a:r>
            <a:r>
              <a:rPr lang="en-US" b="true" sz="24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missingness in:</a:t>
            </a:r>
          </a:p>
          <a:p>
            <a:pPr algn="l" marL="1079496" indent="-359832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closed_time (99.13%)</a:t>
            </a:r>
          </a:p>
          <a:p>
            <a:pPr algn="l" marL="1079496" indent="-359832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skills_desc (98.03%)</a:t>
            </a:r>
          </a:p>
          <a:p>
            <a:pPr algn="l" marL="1079496" indent="-359832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med_salary (94.93%)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Salary inconsistencies and extreme outliers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High-cardinality categorical fields</a:t>
            </a:r>
          </a:p>
          <a:p>
            <a:pPr algn="l" marL="1079496" indent="-359832" lvl="2">
              <a:lnSpc>
                <a:spcPts val="3499"/>
              </a:lnSpc>
              <a:spcBef>
                <a:spcPct val="0"/>
              </a:spcBef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(title, location)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2772007" y="615998"/>
            <a:ext cx="4807464" cy="52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0"/>
              </a:lnSpc>
              <a:spcBef>
                <a:spcPct val="0"/>
              </a:spcBef>
            </a:pPr>
            <a:r>
              <a:rPr lang="en-US" b="true" sz="2735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KEY PREPROCESSING STEPS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65496" y="1202235"/>
            <a:ext cx="5124698" cy="486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8594" indent="-229297" lvl="1">
              <a:lnSpc>
                <a:spcPts val="29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4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Dr</a:t>
            </a:r>
            <a:r>
              <a:rPr lang="en-US" b="true" sz="2124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opped highly sparse columns</a:t>
            </a:r>
          </a:p>
          <a:p>
            <a:pPr algn="just" marL="458594" indent="-229297" lvl="1">
              <a:lnSpc>
                <a:spcPts val="29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4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Imputed missing values: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categorical → "Unknown"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numeric → 0.0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salary → median values</a:t>
            </a:r>
          </a:p>
          <a:p>
            <a:pPr algn="just" marL="458594" indent="-229297" lvl="1">
              <a:lnSpc>
                <a:spcPts val="29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4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Reduced dimensionality by: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extracting state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removing redundant features</a:t>
            </a:r>
          </a:p>
          <a:p>
            <a:pPr algn="just" marL="458594" indent="-229297" lvl="1">
              <a:lnSpc>
                <a:spcPts val="29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4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Applied: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StringIndexer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OneHotEncoder</a:t>
            </a:r>
          </a:p>
          <a:p>
            <a:pPr algn="just" marL="917189" indent="-305730" lvl="2">
              <a:lnSpc>
                <a:spcPts val="2973"/>
              </a:lnSpc>
              <a:spcBef>
                <a:spcPct val="0"/>
              </a:spcBef>
              <a:buFont typeface="Arial"/>
              <a:buChar char="⚬"/>
            </a:pPr>
            <a:r>
              <a:rPr lang="en-US" sz="2124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StandardScaler</a:t>
            </a:r>
          </a:p>
          <a:p>
            <a:pPr algn="just">
              <a:lnSpc>
                <a:spcPts val="2973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3412" y="6951908"/>
            <a:ext cx="10635345" cy="2934007"/>
            <a:chOff x="0" y="0"/>
            <a:chExt cx="2801079" cy="772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1079" cy="772743"/>
            </a:xfrm>
            <a:custGeom>
              <a:avLst/>
              <a:gdLst/>
              <a:ahLst/>
              <a:cxnLst/>
              <a:rect r="r" b="b" t="t" l="l"/>
              <a:pathLst>
                <a:path h="772743" w="2801079">
                  <a:moveTo>
                    <a:pt x="14559" y="0"/>
                  </a:moveTo>
                  <a:lnTo>
                    <a:pt x="2786520" y="0"/>
                  </a:lnTo>
                  <a:cubicBezTo>
                    <a:pt x="2790381" y="0"/>
                    <a:pt x="2794084" y="1534"/>
                    <a:pt x="2796814" y="4264"/>
                  </a:cubicBezTo>
                  <a:cubicBezTo>
                    <a:pt x="2799545" y="6995"/>
                    <a:pt x="2801079" y="10698"/>
                    <a:pt x="2801079" y="14559"/>
                  </a:cubicBezTo>
                  <a:lnTo>
                    <a:pt x="2801079" y="758184"/>
                  </a:lnTo>
                  <a:cubicBezTo>
                    <a:pt x="2801079" y="762045"/>
                    <a:pt x="2799545" y="765748"/>
                    <a:pt x="2796814" y="768478"/>
                  </a:cubicBezTo>
                  <a:cubicBezTo>
                    <a:pt x="2794084" y="771209"/>
                    <a:pt x="2790381" y="772743"/>
                    <a:pt x="2786520" y="772743"/>
                  </a:cubicBezTo>
                  <a:lnTo>
                    <a:pt x="14559" y="772743"/>
                  </a:lnTo>
                  <a:cubicBezTo>
                    <a:pt x="6518" y="772743"/>
                    <a:pt x="0" y="766224"/>
                    <a:pt x="0" y="758184"/>
                  </a:cubicBezTo>
                  <a:lnTo>
                    <a:pt x="0" y="14559"/>
                  </a:lnTo>
                  <a:cubicBezTo>
                    <a:pt x="0" y="10698"/>
                    <a:pt x="1534" y="6995"/>
                    <a:pt x="4264" y="4264"/>
                  </a:cubicBezTo>
                  <a:cubicBezTo>
                    <a:pt x="6995" y="1534"/>
                    <a:pt x="10698" y="0"/>
                    <a:pt x="14559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01079" cy="82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7714" y="6503650"/>
            <a:ext cx="8368899" cy="525247"/>
            <a:chOff x="0" y="0"/>
            <a:chExt cx="1760003" cy="110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0003" cy="110461"/>
            </a:xfrm>
            <a:custGeom>
              <a:avLst/>
              <a:gdLst/>
              <a:ahLst/>
              <a:cxnLst/>
              <a:rect r="r" b="b" t="t" l="l"/>
              <a:pathLst>
                <a:path h="110461" w="1760003">
                  <a:moveTo>
                    <a:pt x="18502" y="0"/>
                  </a:moveTo>
                  <a:lnTo>
                    <a:pt x="1741501" y="0"/>
                  </a:lnTo>
                  <a:cubicBezTo>
                    <a:pt x="1751719" y="0"/>
                    <a:pt x="1760003" y="8283"/>
                    <a:pt x="1760003" y="18502"/>
                  </a:cubicBezTo>
                  <a:lnTo>
                    <a:pt x="1760003" y="91959"/>
                  </a:lnTo>
                  <a:cubicBezTo>
                    <a:pt x="1760003" y="96866"/>
                    <a:pt x="1758053" y="101572"/>
                    <a:pt x="1754584" y="105042"/>
                  </a:cubicBezTo>
                  <a:cubicBezTo>
                    <a:pt x="1751114" y="108512"/>
                    <a:pt x="1746408" y="110461"/>
                    <a:pt x="1741501" y="110461"/>
                  </a:cubicBezTo>
                  <a:lnTo>
                    <a:pt x="18502" y="110461"/>
                  </a:lnTo>
                  <a:cubicBezTo>
                    <a:pt x="8283" y="110461"/>
                    <a:pt x="0" y="102177"/>
                    <a:pt x="0" y="91959"/>
                  </a:cubicBezTo>
                  <a:lnTo>
                    <a:pt x="0" y="18502"/>
                  </a:lnTo>
                  <a:cubicBezTo>
                    <a:pt x="0" y="8283"/>
                    <a:pt x="8283" y="0"/>
                    <a:pt x="18502" y="0"/>
                  </a:cubicBezTo>
                  <a:close/>
                </a:path>
              </a:pathLst>
            </a:custGeom>
            <a:solidFill>
              <a:srgbClr val="1E30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60003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0326" y="1463587"/>
            <a:ext cx="11217931" cy="1225756"/>
            <a:chOff x="0" y="0"/>
            <a:chExt cx="2988517" cy="326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5231" y="1073943"/>
            <a:ext cx="3921759" cy="525247"/>
            <a:chOff x="0" y="0"/>
            <a:chExt cx="824757" cy="110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0326" y="3250437"/>
            <a:ext cx="11217931" cy="1225756"/>
            <a:chOff x="0" y="0"/>
            <a:chExt cx="2988517" cy="326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5231" y="2860793"/>
            <a:ext cx="3921759" cy="525247"/>
            <a:chOff x="0" y="0"/>
            <a:chExt cx="824757" cy="110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0326" y="5030244"/>
            <a:ext cx="11217931" cy="1225756"/>
            <a:chOff x="0" y="0"/>
            <a:chExt cx="2988517" cy="326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5231" y="4640600"/>
            <a:ext cx="3921759" cy="525247"/>
            <a:chOff x="0" y="0"/>
            <a:chExt cx="824757" cy="1104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62833" y="1253013"/>
            <a:ext cx="5096183" cy="3677782"/>
            <a:chOff x="0" y="0"/>
            <a:chExt cx="1357650" cy="9797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57650" cy="979781"/>
            </a:xfrm>
            <a:custGeom>
              <a:avLst/>
              <a:gdLst/>
              <a:ahLst/>
              <a:cxnLst/>
              <a:rect r="r" b="b" t="t" l="l"/>
              <a:pathLst>
                <a:path h="979781" w="1357650">
                  <a:moveTo>
                    <a:pt x="30383" y="0"/>
                  </a:moveTo>
                  <a:lnTo>
                    <a:pt x="1327267" y="0"/>
                  </a:lnTo>
                  <a:cubicBezTo>
                    <a:pt x="1335325" y="0"/>
                    <a:pt x="1343053" y="3201"/>
                    <a:pt x="1348751" y="8899"/>
                  </a:cubicBezTo>
                  <a:cubicBezTo>
                    <a:pt x="1354449" y="14597"/>
                    <a:pt x="1357650" y="22325"/>
                    <a:pt x="1357650" y="30383"/>
                  </a:cubicBezTo>
                  <a:lnTo>
                    <a:pt x="1357650" y="949398"/>
                  </a:lnTo>
                  <a:cubicBezTo>
                    <a:pt x="1357650" y="966178"/>
                    <a:pt x="1344047" y="979781"/>
                    <a:pt x="1327267" y="979781"/>
                  </a:cubicBezTo>
                  <a:lnTo>
                    <a:pt x="30383" y="979781"/>
                  </a:lnTo>
                  <a:cubicBezTo>
                    <a:pt x="13603" y="979781"/>
                    <a:pt x="0" y="966178"/>
                    <a:pt x="0" y="949398"/>
                  </a:cubicBezTo>
                  <a:lnTo>
                    <a:pt x="0" y="30383"/>
                  </a:lnTo>
                  <a:cubicBezTo>
                    <a:pt x="0" y="13603"/>
                    <a:pt x="13603" y="0"/>
                    <a:pt x="3038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357650" cy="102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89353" y="5812562"/>
            <a:ext cx="5369663" cy="4020682"/>
            <a:chOff x="0" y="0"/>
            <a:chExt cx="1430507" cy="10711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30507" cy="1071131"/>
            </a:xfrm>
            <a:custGeom>
              <a:avLst/>
              <a:gdLst/>
              <a:ahLst/>
              <a:cxnLst/>
              <a:rect r="r" b="b" t="t" l="l"/>
              <a:pathLst>
                <a:path h="1071131" w="1430507">
                  <a:moveTo>
                    <a:pt x="28836" y="0"/>
                  </a:moveTo>
                  <a:lnTo>
                    <a:pt x="1401671" y="0"/>
                  </a:lnTo>
                  <a:cubicBezTo>
                    <a:pt x="1417597" y="0"/>
                    <a:pt x="1430507" y="12910"/>
                    <a:pt x="1430507" y="28836"/>
                  </a:cubicBezTo>
                  <a:lnTo>
                    <a:pt x="1430507" y="1042295"/>
                  </a:lnTo>
                  <a:cubicBezTo>
                    <a:pt x="1430507" y="1058221"/>
                    <a:pt x="1417597" y="1071131"/>
                    <a:pt x="1401671" y="1071131"/>
                  </a:cubicBezTo>
                  <a:lnTo>
                    <a:pt x="28836" y="1071131"/>
                  </a:lnTo>
                  <a:cubicBezTo>
                    <a:pt x="12910" y="1071131"/>
                    <a:pt x="0" y="1058221"/>
                    <a:pt x="0" y="1042295"/>
                  </a:cubicBezTo>
                  <a:lnTo>
                    <a:pt x="0" y="28836"/>
                  </a:lnTo>
                  <a:cubicBezTo>
                    <a:pt x="0" y="12910"/>
                    <a:pt x="12910" y="0"/>
                    <a:pt x="28836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30507" cy="1118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50045" y="939764"/>
            <a:ext cx="3921759" cy="525247"/>
            <a:chOff x="0" y="0"/>
            <a:chExt cx="824757" cy="1104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50045" y="5425953"/>
            <a:ext cx="3921759" cy="525247"/>
            <a:chOff x="0" y="0"/>
            <a:chExt cx="824757" cy="1104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510248" y="6141457"/>
          <a:ext cx="4927873" cy="3362891"/>
        </p:xfrm>
        <a:graphic>
          <a:graphicData uri="http://schemas.openxmlformats.org/drawingml/2006/table">
            <a:tbl>
              <a:tblPr/>
              <a:tblGrid>
                <a:gridCol w="3248375"/>
                <a:gridCol w="1679498"/>
              </a:tblGrid>
              <a:tr h="755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Avg Salary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San Francisco Bay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$119,270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6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New York City Metro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$106,076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80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Greater Seattle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$105,693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9" id="39"/>
          <p:cNvSpPr txBox="true"/>
          <p:nvPr/>
        </p:nvSpPr>
        <p:spPr>
          <a:xfrm rot="0">
            <a:off x="3347687" y="-101678"/>
            <a:ext cx="8110973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RDD EXPLORATION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5250535" y="6284283"/>
            <a:ext cx="6049746" cy="46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STRONG ONLINE PRESENCE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3412" y="7049404"/>
            <a:ext cx="10189374" cy="308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</a:t>
            </a: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emote jobs represented only 12.3% of total postings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Geographic location strongly influenced salary levels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Metropolitan regions consistently showed the highest compensation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Results helped identify important salary prediction features such as location and work type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81268" y="1588836"/>
            <a:ext cx="9446139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Isolate remote jobs from the dataset to analyze flexible work opportunities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3034" y="1016793"/>
            <a:ext cx="193252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Filter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81268" y="3375686"/>
            <a:ext cx="9446139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Compute average salary per state for geographic salary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3034" y="2844190"/>
            <a:ext cx="334199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reduceByKey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1268" y="5155493"/>
            <a:ext cx="9446139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Rank states by average salary to identify highest-paying regions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25231" y="4625729"/>
            <a:ext cx="315638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sortByKey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7203" y="6484600"/>
            <a:ext cx="315638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Interpretation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72476" y="905770"/>
            <a:ext cx="40993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Scala Snippet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72476" y="5374568"/>
            <a:ext cx="40993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Result Summary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30915" y="1544787"/>
            <a:ext cx="4560019" cy="320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val stateTotalsRDD =</a:t>
            </a:r>
          </a:p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 stateSalaryRDD.reduceByKey((a, b) =&gt;</a:t>
            </a:r>
          </a:p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   (a._1 + b._1, a._2 + b._2)</a:t>
            </a:r>
          </a:p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)</a:t>
            </a:r>
          </a:p>
          <a:p>
            <a:pPr algn="just">
              <a:lnSpc>
                <a:spcPts val="2839"/>
              </a:lnSpc>
            </a:pPr>
          </a:p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val sortedRDD = stateAvgRDD</a:t>
            </a:r>
          </a:p>
          <a:p>
            <a:pPr algn="just">
              <a:lnSpc>
                <a:spcPts val="2839"/>
              </a:lnSpc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 .map { case (state, avg) =&gt; (avg, state) }</a:t>
            </a:r>
          </a:p>
          <a:p>
            <a:pPr algn="just">
              <a:lnSpc>
                <a:spcPts val="2839"/>
              </a:lnSpc>
              <a:spcBef>
                <a:spcPct val="0"/>
              </a:spcBef>
            </a:pPr>
            <a:r>
              <a:rPr lang="en-US" sz="2028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 .sortByKey(false)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9211" y="7411937"/>
            <a:ext cx="13371015" cy="2386036"/>
            <a:chOff x="0" y="0"/>
            <a:chExt cx="3521584" cy="6284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21584" cy="628421"/>
            </a:xfrm>
            <a:custGeom>
              <a:avLst/>
              <a:gdLst/>
              <a:ahLst/>
              <a:cxnLst/>
              <a:rect r="r" b="b" t="t" l="l"/>
              <a:pathLst>
                <a:path h="628421" w="3521584">
                  <a:moveTo>
                    <a:pt x="11580" y="0"/>
                  </a:moveTo>
                  <a:lnTo>
                    <a:pt x="3510004" y="0"/>
                  </a:lnTo>
                  <a:cubicBezTo>
                    <a:pt x="3513075" y="0"/>
                    <a:pt x="3516021" y="1220"/>
                    <a:pt x="3518193" y="3392"/>
                  </a:cubicBezTo>
                  <a:cubicBezTo>
                    <a:pt x="3520364" y="5563"/>
                    <a:pt x="3521584" y="8509"/>
                    <a:pt x="3521584" y="11580"/>
                  </a:cubicBezTo>
                  <a:lnTo>
                    <a:pt x="3521584" y="616841"/>
                  </a:lnTo>
                  <a:cubicBezTo>
                    <a:pt x="3521584" y="623237"/>
                    <a:pt x="3516400" y="628421"/>
                    <a:pt x="3510004" y="628421"/>
                  </a:cubicBezTo>
                  <a:lnTo>
                    <a:pt x="11580" y="628421"/>
                  </a:lnTo>
                  <a:cubicBezTo>
                    <a:pt x="5185" y="628421"/>
                    <a:pt x="0" y="623237"/>
                    <a:pt x="0" y="616841"/>
                  </a:cubicBezTo>
                  <a:lnTo>
                    <a:pt x="0" y="11580"/>
                  </a:lnTo>
                  <a:cubicBezTo>
                    <a:pt x="0" y="5185"/>
                    <a:pt x="5185" y="0"/>
                    <a:pt x="11580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21584" cy="676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513" y="6963679"/>
            <a:ext cx="8368899" cy="525247"/>
            <a:chOff x="0" y="0"/>
            <a:chExt cx="1760003" cy="110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0003" cy="110461"/>
            </a:xfrm>
            <a:custGeom>
              <a:avLst/>
              <a:gdLst/>
              <a:ahLst/>
              <a:cxnLst/>
              <a:rect r="r" b="b" t="t" l="l"/>
              <a:pathLst>
                <a:path h="110461" w="1760003">
                  <a:moveTo>
                    <a:pt x="18502" y="0"/>
                  </a:moveTo>
                  <a:lnTo>
                    <a:pt x="1741501" y="0"/>
                  </a:lnTo>
                  <a:cubicBezTo>
                    <a:pt x="1751719" y="0"/>
                    <a:pt x="1760003" y="8283"/>
                    <a:pt x="1760003" y="18502"/>
                  </a:cubicBezTo>
                  <a:lnTo>
                    <a:pt x="1760003" y="91959"/>
                  </a:lnTo>
                  <a:cubicBezTo>
                    <a:pt x="1760003" y="96866"/>
                    <a:pt x="1758053" y="101572"/>
                    <a:pt x="1754584" y="105042"/>
                  </a:cubicBezTo>
                  <a:cubicBezTo>
                    <a:pt x="1751114" y="108512"/>
                    <a:pt x="1746408" y="110461"/>
                    <a:pt x="1741501" y="110461"/>
                  </a:cubicBezTo>
                  <a:lnTo>
                    <a:pt x="18502" y="110461"/>
                  </a:lnTo>
                  <a:cubicBezTo>
                    <a:pt x="8283" y="110461"/>
                    <a:pt x="0" y="102177"/>
                    <a:pt x="0" y="91959"/>
                  </a:cubicBezTo>
                  <a:lnTo>
                    <a:pt x="0" y="18502"/>
                  </a:lnTo>
                  <a:cubicBezTo>
                    <a:pt x="0" y="8283"/>
                    <a:pt x="8283" y="0"/>
                    <a:pt x="18502" y="0"/>
                  </a:cubicBezTo>
                  <a:close/>
                </a:path>
              </a:pathLst>
            </a:custGeom>
            <a:solidFill>
              <a:srgbClr val="1E30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60003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9211" y="1939837"/>
            <a:ext cx="11217931" cy="1225756"/>
            <a:chOff x="0" y="0"/>
            <a:chExt cx="2988517" cy="326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4117" y="1550193"/>
            <a:ext cx="9657555" cy="525247"/>
            <a:chOff x="0" y="0"/>
            <a:chExt cx="2031010" cy="110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1011" cy="110461"/>
            </a:xfrm>
            <a:custGeom>
              <a:avLst/>
              <a:gdLst/>
              <a:ahLst/>
              <a:cxnLst/>
              <a:rect r="r" b="b" t="t" l="l"/>
              <a:pathLst>
                <a:path h="110461" w="2031011">
                  <a:moveTo>
                    <a:pt x="16033" y="0"/>
                  </a:moveTo>
                  <a:lnTo>
                    <a:pt x="2014978" y="0"/>
                  </a:lnTo>
                  <a:cubicBezTo>
                    <a:pt x="2023832" y="0"/>
                    <a:pt x="2031011" y="7178"/>
                    <a:pt x="2031011" y="16033"/>
                  </a:cubicBezTo>
                  <a:lnTo>
                    <a:pt x="2031011" y="94428"/>
                  </a:lnTo>
                  <a:cubicBezTo>
                    <a:pt x="2031011" y="98680"/>
                    <a:pt x="2029321" y="102758"/>
                    <a:pt x="2026315" y="105765"/>
                  </a:cubicBezTo>
                  <a:cubicBezTo>
                    <a:pt x="2023308" y="108772"/>
                    <a:pt x="2019230" y="110461"/>
                    <a:pt x="2014978" y="110461"/>
                  </a:cubicBezTo>
                  <a:lnTo>
                    <a:pt x="16033" y="110461"/>
                  </a:lnTo>
                  <a:cubicBezTo>
                    <a:pt x="7178" y="110461"/>
                    <a:pt x="0" y="103283"/>
                    <a:pt x="0" y="94428"/>
                  </a:cubicBezTo>
                  <a:lnTo>
                    <a:pt x="0" y="16033"/>
                  </a:lnTo>
                  <a:cubicBezTo>
                    <a:pt x="0" y="7178"/>
                    <a:pt x="7178" y="0"/>
                    <a:pt x="16033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31010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9211" y="3650487"/>
            <a:ext cx="11217931" cy="1225756"/>
            <a:chOff x="0" y="0"/>
            <a:chExt cx="2988517" cy="326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4117" y="3260843"/>
            <a:ext cx="9657555" cy="525247"/>
            <a:chOff x="0" y="0"/>
            <a:chExt cx="2031010" cy="110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1011" cy="110461"/>
            </a:xfrm>
            <a:custGeom>
              <a:avLst/>
              <a:gdLst/>
              <a:ahLst/>
              <a:cxnLst/>
              <a:rect r="r" b="b" t="t" l="l"/>
              <a:pathLst>
                <a:path h="110461" w="2031011">
                  <a:moveTo>
                    <a:pt x="16033" y="0"/>
                  </a:moveTo>
                  <a:lnTo>
                    <a:pt x="2014978" y="0"/>
                  </a:lnTo>
                  <a:cubicBezTo>
                    <a:pt x="2023832" y="0"/>
                    <a:pt x="2031011" y="7178"/>
                    <a:pt x="2031011" y="16033"/>
                  </a:cubicBezTo>
                  <a:lnTo>
                    <a:pt x="2031011" y="94428"/>
                  </a:lnTo>
                  <a:cubicBezTo>
                    <a:pt x="2031011" y="98680"/>
                    <a:pt x="2029321" y="102758"/>
                    <a:pt x="2026315" y="105765"/>
                  </a:cubicBezTo>
                  <a:cubicBezTo>
                    <a:pt x="2023308" y="108772"/>
                    <a:pt x="2019230" y="110461"/>
                    <a:pt x="2014978" y="110461"/>
                  </a:cubicBezTo>
                  <a:lnTo>
                    <a:pt x="16033" y="110461"/>
                  </a:lnTo>
                  <a:cubicBezTo>
                    <a:pt x="7178" y="110461"/>
                    <a:pt x="0" y="103283"/>
                    <a:pt x="0" y="94428"/>
                  </a:cubicBezTo>
                  <a:lnTo>
                    <a:pt x="0" y="16033"/>
                  </a:lnTo>
                  <a:cubicBezTo>
                    <a:pt x="0" y="7178"/>
                    <a:pt x="7178" y="0"/>
                    <a:pt x="16033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31010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9211" y="5430294"/>
            <a:ext cx="11217931" cy="1225756"/>
            <a:chOff x="0" y="0"/>
            <a:chExt cx="2988517" cy="326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88517" cy="326548"/>
            </a:xfrm>
            <a:custGeom>
              <a:avLst/>
              <a:gdLst/>
              <a:ahLst/>
              <a:cxnLst/>
              <a:rect r="r" b="b" t="t" l="l"/>
              <a:pathLst>
                <a:path h="326548" w="2988517">
                  <a:moveTo>
                    <a:pt x="13803" y="0"/>
                  </a:moveTo>
                  <a:lnTo>
                    <a:pt x="2974714" y="0"/>
                  </a:lnTo>
                  <a:cubicBezTo>
                    <a:pt x="2978375" y="0"/>
                    <a:pt x="2981886" y="1454"/>
                    <a:pt x="2984474" y="4043"/>
                  </a:cubicBezTo>
                  <a:cubicBezTo>
                    <a:pt x="2987063" y="6631"/>
                    <a:pt x="2988517" y="10142"/>
                    <a:pt x="2988517" y="13803"/>
                  </a:cubicBezTo>
                  <a:lnTo>
                    <a:pt x="2988517" y="312745"/>
                  </a:lnTo>
                  <a:cubicBezTo>
                    <a:pt x="2988517" y="320368"/>
                    <a:pt x="2982337" y="326548"/>
                    <a:pt x="2974714" y="326548"/>
                  </a:cubicBezTo>
                  <a:lnTo>
                    <a:pt x="13803" y="326548"/>
                  </a:lnTo>
                  <a:cubicBezTo>
                    <a:pt x="10142" y="326548"/>
                    <a:pt x="6631" y="325094"/>
                    <a:pt x="4043" y="322505"/>
                  </a:cubicBezTo>
                  <a:cubicBezTo>
                    <a:pt x="1454" y="319917"/>
                    <a:pt x="0" y="316406"/>
                    <a:pt x="0" y="312745"/>
                  </a:cubicBezTo>
                  <a:lnTo>
                    <a:pt x="0" y="13803"/>
                  </a:lnTo>
                  <a:cubicBezTo>
                    <a:pt x="0" y="10142"/>
                    <a:pt x="1454" y="6631"/>
                    <a:pt x="4043" y="4043"/>
                  </a:cubicBezTo>
                  <a:cubicBezTo>
                    <a:pt x="6631" y="1454"/>
                    <a:pt x="10142" y="0"/>
                    <a:pt x="1380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88517" cy="374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4117" y="5040650"/>
            <a:ext cx="9657555" cy="525247"/>
            <a:chOff x="0" y="0"/>
            <a:chExt cx="2031010" cy="1104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1011" cy="110461"/>
            </a:xfrm>
            <a:custGeom>
              <a:avLst/>
              <a:gdLst/>
              <a:ahLst/>
              <a:cxnLst/>
              <a:rect r="r" b="b" t="t" l="l"/>
              <a:pathLst>
                <a:path h="110461" w="2031011">
                  <a:moveTo>
                    <a:pt x="16033" y="0"/>
                  </a:moveTo>
                  <a:lnTo>
                    <a:pt x="2014978" y="0"/>
                  </a:lnTo>
                  <a:cubicBezTo>
                    <a:pt x="2023832" y="0"/>
                    <a:pt x="2031011" y="7178"/>
                    <a:pt x="2031011" y="16033"/>
                  </a:cubicBezTo>
                  <a:lnTo>
                    <a:pt x="2031011" y="94428"/>
                  </a:lnTo>
                  <a:cubicBezTo>
                    <a:pt x="2031011" y="98680"/>
                    <a:pt x="2029321" y="102758"/>
                    <a:pt x="2026315" y="105765"/>
                  </a:cubicBezTo>
                  <a:cubicBezTo>
                    <a:pt x="2023308" y="108772"/>
                    <a:pt x="2019230" y="110461"/>
                    <a:pt x="2014978" y="110461"/>
                  </a:cubicBezTo>
                  <a:lnTo>
                    <a:pt x="16033" y="110461"/>
                  </a:lnTo>
                  <a:cubicBezTo>
                    <a:pt x="7178" y="110461"/>
                    <a:pt x="0" y="103283"/>
                    <a:pt x="0" y="94428"/>
                  </a:cubicBezTo>
                  <a:lnTo>
                    <a:pt x="0" y="16033"/>
                  </a:lnTo>
                  <a:cubicBezTo>
                    <a:pt x="0" y="7178"/>
                    <a:pt x="7178" y="0"/>
                    <a:pt x="16033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031010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65041" y="2242493"/>
            <a:ext cx="5369663" cy="4020682"/>
            <a:chOff x="0" y="0"/>
            <a:chExt cx="1430507" cy="10711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30507" cy="1071131"/>
            </a:xfrm>
            <a:custGeom>
              <a:avLst/>
              <a:gdLst/>
              <a:ahLst/>
              <a:cxnLst/>
              <a:rect r="r" b="b" t="t" l="l"/>
              <a:pathLst>
                <a:path h="1071131" w="1430507">
                  <a:moveTo>
                    <a:pt x="28836" y="0"/>
                  </a:moveTo>
                  <a:lnTo>
                    <a:pt x="1401671" y="0"/>
                  </a:lnTo>
                  <a:cubicBezTo>
                    <a:pt x="1417597" y="0"/>
                    <a:pt x="1430507" y="12910"/>
                    <a:pt x="1430507" y="28836"/>
                  </a:cubicBezTo>
                  <a:lnTo>
                    <a:pt x="1430507" y="1042295"/>
                  </a:lnTo>
                  <a:cubicBezTo>
                    <a:pt x="1430507" y="1058221"/>
                    <a:pt x="1417597" y="1071131"/>
                    <a:pt x="1401671" y="1071131"/>
                  </a:cubicBezTo>
                  <a:lnTo>
                    <a:pt x="28836" y="1071131"/>
                  </a:lnTo>
                  <a:cubicBezTo>
                    <a:pt x="12910" y="1071131"/>
                    <a:pt x="0" y="1058221"/>
                    <a:pt x="0" y="1042295"/>
                  </a:cubicBezTo>
                  <a:lnTo>
                    <a:pt x="0" y="28836"/>
                  </a:lnTo>
                  <a:cubicBezTo>
                    <a:pt x="0" y="12910"/>
                    <a:pt x="12910" y="0"/>
                    <a:pt x="28836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430507" cy="1118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25733" y="1855884"/>
            <a:ext cx="3921759" cy="525247"/>
            <a:chOff x="0" y="0"/>
            <a:chExt cx="824757" cy="1104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4757" cy="110461"/>
            </a:xfrm>
            <a:custGeom>
              <a:avLst/>
              <a:gdLst/>
              <a:ahLst/>
              <a:cxnLst/>
              <a:rect r="r" b="b" t="t" l="l"/>
              <a:pathLst>
                <a:path h="110461" w="824757">
                  <a:moveTo>
                    <a:pt x="39482" y="0"/>
                  </a:moveTo>
                  <a:lnTo>
                    <a:pt x="785275" y="0"/>
                  </a:lnTo>
                  <a:cubicBezTo>
                    <a:pt x="807080" y="0"/>
                    <a:pt x="824757" y="17677"/>
                    <a:pt x="824757" y="39482"/>
                  </a:cubicBezTo>
                  <a:lnTo>
                    <a:pt x="824757" y="70979"/>
                  </a:lnTo>
                  <a:cubicBezTo>
                    <a:pt x="824757" y="92784"/>
                    <a:pt x="807080" y="110461"/>
                    <a:pt x="785275" y="110461"/>
                  </a:cubicBezTo>
                  <a:lnTo>
                    <a:pt x="39482" y="110461"/>
                  </a:lnTo>
                  <a:cubicBezTo>
                    <a:pt x="17677" y="110461"/>
                    <a:pt x="0" y="92784"/>
                    <a:pt x="0" y="70979"/>
                  </a:cubicBezTo>
                  <a:lnTo>
                    <a:pt x="0" y="39482"/>
                  </a:lnTo>
                  <a:cubicBezTo>
                    <a:pt x="0" y="17677"/>
                    <a:pt x="17677" y="0"/>
                    <a:pt x="39482" y="0"/>
                  </a:cubicBez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24757" cy="15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32" id="32"/>
          <p:cNvGraphicFramePr>
            <a:graphicFrameLocks noGrp="true"/>
          </p:cNvGraphicFramePr>
          <p:nvPr/>
        </p:nvGraphicFramePr>
        <p:xfrm>
          <a:off x="12785936" y="2571388"/>
          <a:ext cx="4927873" cy="3358537"/>
        </p:xfrm>
        <a:graphic>
          <a:graphicData uri="http://schemas.openxmlformats.org/drawingml/2006/table">
            <a:tbl>
              <a:tblPr/>
              <a:tblGrid>
                <a:gridCol w="3248375"/>
                <a:gridCol w="1679498"/>
              </a:tblGrid>
              <a:tr h="7558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Experience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Avg Salary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Executive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$119,888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Director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$113,012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8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Mid-Senior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Bernoru"/>
                          <a:ea typeface="Bernoru"/>
                          <a:cs typeface="Bernoru"/>
                          <a:sym typeface="Bernoru"/>
                        </a:rPr>
                        <a:t>$92,309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3" id="33"/>
          <p:cNvSpPr txBox="true"/>
          <p:nvPr/>
        </p:nvSpPr>
        <p:spPr>
          <a:xfrm rot="0">
            <a:off x="3739967" y="-34122"/>
            <a:ext cx="9429057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SQL ANALYTICS HIGHLIGHTS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-5250535" y="6284283"/>
            <a:ext cx="6049746" cy="46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STRONG ONLINE PRESENCE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9211" y="7623733"/>
            <a:ext cx="13073491" cy="217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Ex</a:t>
            </a: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perience level and geographic location were major salary predictors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SQL analytics revealed salary outliers exceeding regional averages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Findings directly supported the ML task of salary prediction by identifying the most influential features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600153" y="2065086"/>
            <a:ext cx="9446139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Executive and Director roles had the highest average salaries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1919" y="1493043"/>
            <a:ext cx="916629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Average salary by experience level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00153" y="3954754"/>
            <a:ext cx="9446139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San Francisco Bay Area and New York City ranked highest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1919" y="3244240"/>
            <a:ext cx="916629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Top states by average salary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0153" y="5555543"/>
            <a:ext cx="9446139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Revealed extreme salary outliers and large salary variation within the same seniority group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4117" y="5025779"/>
            <a:ext cx="89246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Salary ranking within experience levels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3001" y="6944629"/>
            <a:ext cx="315638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Interpretation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248163" y="1804499"/>
            <a:ext cx="40993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7EF"/>
                </a:solidFill>
                <a:latin typeface="Bernoru"/>
                <a:ea typeface="Bernoru"/>
                <a:cs typeface="Bernoru"/>
                <a:sym typeface="Bernoru"/>
              </a:rPr>
              <a:t>Result Summary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4170227" y="6754129"/>
            <a:ext cx="3847310" cy="3301691"/>
          </a:xfrm>
          <a:custGeom>
            <a:avLst/>
            <a:gdLst/>
            <a:ahLst/>
            <a:cxnLst/>
            <a:rect r="r" b="b" t="t" l="l"/>
            <a:pathLst>
              <a:path h="3301691" w="3847310">
                <a:moveTo>
                  <a:pt x="0" y="0"/>
                </a:moveTo>
                <a:lnTo>
                  <a:pt x="3847309" y="0"/>
                </a:lnTo>
                <a:lnTo>
                  <a:pt x="3847309" y="3301691"/>
                </a:lnTo>
                <a:lnTo>
                  <a:pt x="0" y="3301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2795" y="3450843"/>
            <a:ext cx="6125372" cy="4933709"/>
          </a:xfrm>
          <a:custGeom>
            <a:avLst/>
            <a:gdLst/>
            <a:ahLst/>
            <a:cxnLst/>
            <a:rect r="r" b="b" t="t" l="l"/>
            <a:pathLst>
              <a:path h="4933709" w="6125372">
                <a:moveTo>
                  <a:pt x="0" y="0"/>
                </a:moveTo>
                <a:lnTo>
                  <a:pt x="6125372" y="0"/>
                </a:lnTo>
                <a:lnTo>
                  <a:pt x="6125372" y="4933709"/>
                </a:lnTo>
                <a:lnTo>
                  <a:pt x="0" y="4933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1236" y="231653"/>
            <a:ext cx="11071714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ML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2795" y="3263698"/>
            <a:ext cx="5194714" cy="51947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33662" y="6500188"/>
            <a:ext cx="3010647" cy="30106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2795" y="2292583"/>
            <a:ext cx="2316520" cy="231652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6773629">
            <a:off x="-175212" y="8409241"/>
            <a:ext cx="1637417" cy="705578"/>
          </a:xfrm>
          <a:custGeom>
            <a:avLst/>
            <a:gdLst/>
            <a:ahLst/>
            <a:cxnLst/>
            <a:rect r="r" b="b" t="t" l="l"/>
            <a:pathLst>
              <a:path h="705578" w="1637417">
                <a:moveTo>
                  <a:pt x="0" y="0"/>
                </a:moveTo>
                <a:lnTo>
                  <a:pt x="1637417" y="0"/>
                </a:lnTo>
                <a:lnTo>
                  <a:pt x="1637417" y="705578"/>
                </a:lnTo>
                <a:lnTo>
                  <a:pt x="0" y="705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131751" y="1785357"/>
            <a:ext cx="5116136" cy="3434343"/>
            <a:chOff x="0" y="0"/>
            <a:chExt cx="1188635" cy="797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635" cy="797903"/>
            </a:xfrm>
            <a:custGeom>
              <a:avLst/>
              <a:gdLst/>
              <a:ahLst/>
              <a:cxnLst/>
              <a:rect r="r" b="b" t="t" l="l"/>
              <a:pathLst>
                <a:path h="797903" w="1188635">
                  <a:moveTo>
                    <a:pt x="30265" y="0"/>
                  </a:moveTo>
                  <a:lnTo>
                    <a:pt x="1158370" y="0"/>
                  </a:lnTo>
                  <a:cubicBezTo>
                    <a:pt x="1166397" y="0"/>
                    <a:pt x="1174095" y="3189"/>
                    <a:pt x="1179771" y="8864"/>
                  </a:cubicBezTo>
                  <a:cubicBezTo>
                    <a:pt x="1185446" y="14540"/>
                    <a:pt x="1188635" y="22238"/>
                    <a:pt x="1188635" y="30265"/>
                  </a:cubicBezTo>
                  <a:lnTo>
                    <a:pt x="1188635" y="767638"/>
                  </a:lnTo>
                  <a:cubicBezTo>
                    <a:pt x="1188635" y="775665"/>
                    <a:pt x="1185446" y="783363"/>
                    <a:pt x="1179771" y="789039"/>
                  </a:cubicBezTo>
                  <a:cubicBezTo>
                    <a:pt x="1174095" y="794714"/>
                    <a:pt x="1166397" y="797903"/>
                    <a:pt x="1158370" y="797903"/>
                  </a:cubicBezTo>
                  <a:lnTo>
                    <a:pt x="30265" y="797903"/>
                  </a:lnTo>
                  <a:cubicBezTo>
                    <a:pt x="22238" y="797903"/>
                    <a:pt x="14540" y="794714"/>
                    <a:pt x="8864" y="789039"/>
                  </a:cubicBezTo>
                  <a:cubicBezTo>
                    <a:pt x="3189" y="783363"/>
                    <a:pt x="0" y="775665"/>
                    <a:pt x="0" y="767638"/>
                  </a:cubicBezTo>
                  <a:lnTo>
                    <a:pt x="0" y="30265"/>
                  </a:lnTo>
                  <a:cubicBezTo>
                    <a:pt x="0" y="22238"/>
                    <a:pt x="3189" y="14540"/>
                    <a:pt x="8864" y="8864"/>
                  </a:cubicBezTo>
                  <a:cubicBezTo>
                    <a:pt x="14540" y="3189"/>
                    <a:pt x="22238" y="0"/>
                    <a:pt x="30265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88635" cy="84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19570" y="1476890"/>
            <a:ext cx="4596933" cy="616934"/>
            <a:chOff x="0" y="0"/>
            <a:chExt cx="1068008" cy="1433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8008" cy="143333"/>
            </a:xfrm>
            <a:custGeom>
              <a:avLst/>
              <a:gdLst/>
              <a:ahLst/>
              <a:cxnLst/>
              <a:rect r="r" b="b" t="t" l="l"/>
              <a:pathLst>
                <a:path h="143333" w="1068008">
                  <a:moveTo>
                    <a:pt x="33683" y="0"/>
                  </a:moveTo>
                  <a:lnTo>
                    <a:pt x="1034325" y="0"/>
                  </a:lnTo>
                  <a:cubicBezTo>
                    <a:pt x="1043258" y="0"/>
                    <a:pt x="1051826" y="3549"/>
                    <a:pt x="1058143" y="9866"/>
                  </a:cubicBezTo>
                  <a:cubicBezTo>
                    <a:pt x="1064459" y="16182"/>
                    <a:pt x="1068008" y="24750"/>
                    <a:pt x="1068008" y="33683"/>
                  </a:cubicBezTo>
                  <a:lnTo>
                    <a:pt x="1068008" y="109650"/>
                  </a:lnTo>
                  <a:cubicBezTo>
                    <a:pt x="1068008" y="118583"/>
                    <a:pt x="1064459" y="127150"/>
                    <a:pt x="1058143" y="133467"/>
                  </a:cubicBezTo>
                  <a:cubicBezTo>
                    <a:pt x="1051826" y="139784"/>
                    <a:pt x="1043258" y="143333"/>
                    <a:pt x="1034325" y="143333"/>
                  </a:cubicBezTo>
                  <a:lnTo>
                    <a:pt x="33683" y="143333"/>
                  </a:lnTo>
                  <a:cubicBezTo>
                    <a:pt x="24750" y="143333"/>
                    <a:pt x="16182" y="139784"/>
                    <a:pt x="9866" y="133467"/>
                  </a:cubicBezTo>
                  <a:cubicBezTo>
                    <a:pt x="3549" y="127150"/>
                    <a:pt x="0" y="118583"/>
                    <a:pt x="0" y="109650"/>
                  </a:cubicBezTo>
                  <a:lnTo>
                    <a:pt x="0" y="33683"/>
                  </a:lnTo>
                  <a:cubicBezTo>
                    <a:pt x="0" y="24750"/>
                    <a:pt x="3549" y="16182"/>
                    <a:pt x="9866" y="9866"/>
                  </a:cubicBezTo>
                  <a:cubicBezTo>
                    <a:pt x="16182" y="3549"/>
                    <a:pt x="24750" y="0"/>
                    <a:pt x="3368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68008" cy="19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42099" y="1785357"/>
            <a:ext cx="5116136" cy="3434343"/>
            <a:chOff x="0" y="0"/>
            <a:chExt cx="1188635" cy="797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635" cy="797903"/>
            </a:xfrm>
            <a:custGeom>
              <a:avLst/>
              <a:gdLst/>
              <a:ahLst/>
              <a:cxnLst/>
              <a:rect r="r" b="b" t="t" l="l"/>
              <a:pathLst>
                <a:path h="797903" w="1188635">
                  <a:moveTo>
                    <a:pt x="30265" y="0"/>
                  </a:moveTo>
                  <a:lnTo>
                    <a:pt x="1158370" y="0"/>
                  </a:lnTo>
                  <a:cubicBezTo>
                    <a:pt x="1166397" y="0"/>
                    <a:pt x="1174095" y="3189"/>
                    <a:pt x="1179771" y="8864"/>
                  </a:cubicBezTo>
                  <a:cubicBezTo>
                    <a:pt x="1185446" y="14540"/>
                    <a:pt x="1188635" y="22238"/>
                    <a:pt x="1188635" y="30265"/>
                  </a:cubicBezTo>
                  <a:lnTo>
                    <a:pt x="1188635" y="767638"/>
                  </a:lnTo>
                  <a:cubicBezTo>
                    <a:pt x="1188635" y="775665"/>
                    <a:pt x="1185446" y="783363"/>
                    <a:pt x="1179771" y="789039"/>
                  </a:cubicBezTo>
                  <a:cubicBezTo>
                    <a:pt x="1174095" y="794714"/>
                    <a:pt x="1166397" y="797903"/>
                    <a:pt x="1158370" y="797903"/>
                  </a:cubicBezTo>
                  <a:lnTo>
                    <a:pt x="30265" y="797903"/>
                  </a:lnTo>
                  <a:cubicBezTo>
                    <a:pt x="22238" y="797903"/>
                    <a:pt x="14540" y="794714"/>
                    <a:pt x="8864" y="789039"/>
                  </a:cubicBezTo>
                  <a:cubicBezTo>
                    <a:pt x="3189" y="783363"/>
                    <a:pt x="0" y="775665"/>
                    <a:pt x="0" y="767638"/>
                  </a:cubicBezTo>
                  <a:lnTo>
                    <a:pt x="0" y="30265"/>
                  </a:lnTo>
                  <a:cubicBezTo>
                    <a:pt x="0" y="22238"/>
                    <a:pt x="3189" y="14540"/>
                    <a:pt x="8864" y="8864"/>
                  </a:cubicBezTo>
                  <a:cubicBezTo>
                    <a:pt x="14540" y="3189"/>
                    <a:pt x="22238" y="0"/>
                    <a:pt x="30265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88635" cy="84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929917" y="1476890"/>
            <a:ext cx="4596933" cy="616934"/>
            <a:chOff x="0" y="0"/>
            <a:chExt cx="1068008" cy="1433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8008" cy="143333"/>
            </a:xfrm>
            <a:custGeom>
              <a:avLst/>
              <a:gdLst/>
              <a:ahLst/>
              <a:cxnLst/>
              <a:rect r="r" b="b" t="t" l="l"/>
              <a:pathLst>
                <a:path h="143333" w="1068008">
                  <a:moveTo>
                    <a:pt x="33683" y="0"/>
                  </a:moveTo>
                  <a:lnTo>
                    <a:pt x="1034325" y="0"/>
                  </a:lnTo>
                  <a:cubicBezTo>
                    <a:pt x="1043258" y="0"/>
                    <a:pt x="1051826" y="3549"/>
                    <a:pt x="1058143" y="9866"/>
                  </a:cubicBezTo>
                  <a:cubicBezTo>
                    <a:pt x="1064459" y="16182"/>
                    <a:pt x="1068008" y="24750"/>
                    <a:pt x="1068008" y="33683"/>
                  </a:cubicBezTo>
                  <a:lnTo>
                    <a:pt x="1068008" y="109650"/>
                  </a:lnTo>
                  <a:cubicBezTo>
                    <a:pt x="1068008" y="118583"/>
                    <a:pt x="1064459" y="127150"/>
                    <a:pt x="1058143" y="133467"/>
                  </a:cubicBezTo>
                  <a:cubicBezTo>
                    <a:pt x="1051826" y="139784"/>
                    <a:pt x="1043258" y="143333"/>
                    <a:pt x="1034325" y="143333"/>
                  </a:cubicBezTo>
                  <a:lnTo>
                    <a:pt x="33683" y="143333"/>
                  </a:lnTo>
                  <a:cubicBezTo>
                    <a:pt x="24750" y="143333"/>
                    <a:pt x="16182" y="139784"/>
                    <a:pt x="9866" y="133467"/>
                  </a:cubicBezTo>
                  <a:cubicBezTo>
                    <a:pt x="3549" y="127150"/>
                    <a:pt x="0" y="118583"/>
                    <a:pt x="0" y="109650"/>
                  </a:cubicBezTo>
                  <a:lnTo>
                    <a:pt x="0" y="33683"/>
                  </a:lnTo>
                  <a:cubicBezTo>
                    <a:pt x="0" y="24750"/>
                    <a:pt x="3549" y="16182"/>
                    <a:pt x="9866" y="9866"/>
                  </a:cubicBezTo>
                  <a:cubicBezTo>
                    <a:pt x="16182" y="3549"/>
                    <a:pt x="24750" y="0"/>
                    <a:pt x="3368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68008" cy="19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70679" y="5723687"/>
            <a:ext cx="5116136" cy="3434343"/>
            <a:chOff x="0" y="0"/>
            <a:chExt cx="1188635" cy="797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8635" cy="797903"/>
            </a:xfrm>
            <a:custGeom>
              <a:avLst/>
              <a:gdLst/>
              <a:ahLst/>
              <a:cxnLst/>
              <a:rect r="r" b="b" t="t" l="l"/>
              <a:pathLst>
                <a:path h="797903" w="1188635">
                  <a:moveTo>
                    <a:pt x="30265" y="0"/>
                  </a:moveTo>
                  <a:lnTo>
                    <a:pt x="1158370" y="0"/>
                  </a:lnTo>
                  <a:cubicBezTo>
                    <a:pt x="1166397" y="0"/>
                    <a:pt x="1174095" y="3189"/>
                    <a:pt x="1179771" y="8864"/>
                  </a:cubicBezTo>
                  <a:cubicBezTo>
                    <a:pt x="1185446" y="14540"/>
                    <a:pt x="1188635" y="22238"/>
                    <a:pt x="1188635" y="30265"/>
                  </a:cubicBezTo>
                  <a:lnTo>
                    <a:pt x="1188635" y="767638"/>
                  </a:lnTo>
                  <a:cubicBezTo>
                    <a:pt x="1188635" y="775665"/>
                    <a:pt x="1185446" y="783363"/>
                    <a:pt x="1179771" y="789039"/>
                  </a:cubicBezTo>
                  <a:cubicBezTo>
                    <a:pt x="1174095" y="794714"/>
                    <a:pt x="1166397" y="797903"/>
                    <a:pt x="1158370" y="797903"/>
                  </a:cubicBezTo>
                  <a:lnTo>
                    <a:pt x="30265" y="797903"/>
                  </a:lnTo>
                  <a:cubicBezTo>
                    <a:pt x="22238" y="797903"/>
                    <a:pt x="14540" y="794714"/>
                    <a:pt x="8864" y="789039"/>
                  </a:cubicBezTo>
                  <a:cubicBezTo>
                    <a:pt x="3189" y="783363"/>
                    <a:pt x="0" y="775665"/>
                    <a:pt x="0" y="767638"/>
                  </a:cubicBezTo>
                  <a:lnTo>
                    <a:pt x="0" y="30265"/>
                  </a:lnTo>
                  <a:cubicBezTo>
                    <a:pt x="0" y="22238"/>
                    <a:pt x="3189" y="14540"/>
                    <a:pt x="8864" y="8864"/>
                  </a:cubicBezTo>
                  <a:cubicBezTo>
                    <a:pt x="14540" y="3189"/>
                    <a:pt x="22238" y="0"/>
                    <a:pt x="30265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88635" cy="84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58498" y="5415220"/>
            <a:ext cx="4596933" cy="616934"/>
            <a:chOff x="0" y="0"/>
            <a:chExt cx="1068008" cy="1433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8008" cy="143333"/>
            </a:xfrm>
            <a:custGeom>
              <a:avLst/>
              <a:gdLst/>
              <a:ahLst/>
              <a:cxnLst/>
              <a:rect r="r" b="b" t="t" l="l"/>
              <a:pathLst>
                <a:path h="143333" w="1068008">
                  <a:moveTo>
                    <a:pt x="33683" y="0"/>
                  </a:moveTo>
                  <a:lnTo>
                    <a:pt x="1034325" y="0"/>
                  </a:lnTo>
                  <a:cubicBezTo>
                    <a:pt x="1043258" y="0"/>
                    <a:pt x="1051826" y="3549"/>
                    <a:pt x="1058143" y="9866"/>
                  </a:cubicBezTo>
                  <a:cubicBezTo>
                    <a:pt x="1064459" y="16182"/>
                    <a:pt x="1068008" y="24750"/>
                    <a:pt x="1068008" y="33683"/>
                  </a:cubicBezTo>
                  <a:lnTo>
                    <a:pt x="1068008" y="109650"/>
                  </a:lnTo>
                  <a:cubicBezTo>
                    <a:pt x="1068008" y="118583"/>
                    <a:pt x="1064459" y="127150"/>
                    <a:pt x="1058143" y="133467"/>
                  </a:cubicBezTo>
                  <a:cubicBezTo>
                    <a:pt x="1051826" y="139784"/>
                    <a:pt x="1043258" y="143333"/>
                    <a:pt x="1034325" y="143333"/>
                  </a:cubicBezTo>
                  <a:lnTo>
                    <a:pt x="33683" y="143333"/>
                  </a:lnTo>
                  <a:cubicBezTo>
                    <a:pt x="24750" y="143333"/>
                    <a:pt x="16182" y="139784"/>
                    <a:pt x="9866" y="133467"/>
                  </a:cubicBezTo>
                  <a:cubicBezTo>
                    <a:pt x="3549" y="127150"/>
                    <a:pt x="0" y="118583"/>
                    <a:pt x="0" y="109650"/>
                  </a:cubicBezTo>
                  <a:lnTo>
                    <a:pt x="0" y="33683"/>
                  </a:lnTo>
                  <a:cubicBezTo>
                    <a:pt x="0" y="24750"/>
                    <a:pt x="3549" y="16182"/>
                    <a:pt x="9866" y="9866"/>
                  </a:cubicBezTo>
                  <a:cubicBezTo>
                    <a:pt x="16182" y="3549"/>
                    <a:pt x="24750" y="0"/>
                    <a:pt x="3368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68008" cy="19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81027" y="5723687"/>
            <a:ext cx="5116136" cy="3434343"/>
            <a:chOff x="0" y="0"/>
            <a:chExt cx="1188635" cy="797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8635" cy="797903"/>
            </a:xfrm>
            <a:custGeom>
              <a:avLst/>
              <a:gdLst/>
              <a:ahLst/>
              <a:cxnLst/>
              <a:rect r="r" b="b" t="t" l="l"/>
              <a:pathLst>
                <a:path h="797903" w="1188635">
                  <a:moveTo>
                    <a:pt x="30265" y="0"/>
                  </a:moveTo>
                  <a:lnTo>
                    <a:pt x="1158370" y="0"/>
                  </a:lnTo>
                  <a:cubicBezTo>
                    <a:pt x="1166397" y="0"/>
                    <a:pt x="1174095" y="3189"/>
                    <a:pt x="1179771" y="8864"/>
                  </a:cubicBezTo>
                  <a:cubicBezTo>
                    <a:pt x="1185446" y="14540"/>
                    <a:pt x="1188635" y="22238"/>
                    <a:pt x="1188635" y="30265"/>
                  </a:cubicBezTo>
                  <a:lnTo>
                    <a:pt x="1188635" y="767638"/>
                  </a:lnTo>
                  <a:cubicBezTo>
                    <a:pt x="1188635" y="775665"/>
                    <a:pt x="1185446" y="783363"/>
                    <a:pt x="1179771" y="789039"/>
                  </a:cubicBezTo>
                  <a:cubicBezTo>
                    <a:pt x="1174095" y="794714"/>
                    <a:pt x="1166397" y="797903"/>
                    <a:pt x="1158370" y="797903"/>
                  </a:cubicBezTo>
                  <a:lnTo>
                    <a:pt x="30265" y="797903"/>
                  </a:lnTo>
                  <a:cubicBezTo>
                    <a:pt x="22238" y="797903"/>
                    <a:pt x="14540" y="794714"/>
                    <a:pt x="8864" y="789039"/>
                  </a:cubicBezTo>
                  <a:cubicBezTo>
                    <a:pt x="3189" y="783363"/>
                    <a:pt x="0" y="775665"/>
                    <a:pt x="0" y="767638"/>
                  </a:cubicBezTo>
                  <a:lnTo>
                    <a:pt x="0" y="30265"/>
                  </a:lnTo>
                  <a:cubicBezTo>
                    <a:pt x="0" y="22238"/>
                    <a:pt x="3189" y="14540"/>
                    <a:pt x="8864" y="8864"/>
                  </a:cubicBezTo>
                  <a:cubicBezTo>
                    <a:pt x="14540" y="3189"/>
                    <a:pt x="22238" y="0"/>
                    <a:pt x="30265" y="0"/>
                  </a:cubicBezTo>
                  <a:close/>
                </a:path>
              </a:pathLst>
            </a:custGeom>
            <a:solidFill>
              <a:srgbClr val="FFEFD4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188635" cy="84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68845" y="5415220"/>
            <a:ext cx="4596933" cy="616934"/>
            <a:chOff x="0" y="0"/>
            <a:chExt cx="1068008" cy="1433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8008" cy="143333"/>
            </a:xfrm>
            <a:custGeom>
              <a:avLst/>
              <a:gdLst/>
              <a:ahLst/>
              <a:cxnLst/>
              <a:rect r="r" b="b" t="t" l="l"/>
              <a:pathLst>
                <a:path h="143333" w="1068008">
                  <a:moveTo>
                    <a:pt x="33683" y="0"/>
                  </a:moveTo>
                  <a:lnTo>
                    <a:pt x="1034325" y="0"/>
                  </a:lnTo>
                  <a:cubicBezTo>
                    <a:pt x="1043258" y="0"/>
                    <a:pt x="1051826" y="3549"/>
                    <a:pt x="1058143" y="9866"/>
                  </a:cubicBezTo>
                  <a:cubicBezTo>
                    <a:pt x="1064459" y="16182"/>
                    <a:pt x="1068008" y="24750"/>
                    <a:pt x="1068008" y="33683"/>
                  </a:cubicBezTo>
                  <a:lnTo>
                    <a:pt x="1068008" y="109650"/>
                  </a:lnTo>
                  <a:cubicBezTo>
                    <a:pt x="1068008" y="118583"/>
                    <a:pt x="1064459" y="127150"/>
                    <a:pt x="1058143" y="133467"/>
                  </a:cubicBezTo>
                  <a:cubicBezTo>
                    <a:pt x="1051826" y="139784"/>
                    <a:pt x="1043258" y="143333"/>
                    <a:pt x="1034325" y="143333"/>
                  </a:cubicBezTo>
                  <a:lnTo>
                    <a:pt x="33683" y="143333"/>
                  </a:lnTo>
                  <a:cubicBezTo>
                    <a:pt x="24750" y="143333"/>
                    <a:pt x="16182" y="139784"/>
                    <a:pt x="9866" y="133467"/>
                  </a:cubicBezTo>
                  <a:cubicBezTo>
                    <a:pt x="3549" y="127150"/>
                    <a:pt x="0" y="118583"/>
                    <a:pt x="0" y="109650"/>
                  </a:cubicBezTo>
                  <a:lnTo>
                    <a:pt x="0" y="33683"/>
                  </a:lnTo>
                  <a:cubicBezTo>
                    <a:pt x="0" y="24750"/>
                    <a:pt x="3549" y="16182"/>
                    <a:pt x="9866" y="9866"/>
                  </a:cubicBezTo>
                  <a:cubicBezTo>
                    <a:pt x="16182" y="3549"/>
                    <a:pt x="24750" y="0"/>
                    <a:pt x="3368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68008" cy="19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131751" y="1463330"/>
            <a:ext cx="4653937" cy="5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PROBLEM TYPE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72913" y="1463330"/>
            <a:ext cx="4653937" cy="5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MODEL CHOSEN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62565" y="5401660"/>
            <a:ext cx="4653937" cy="5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KEY FEATURE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12126" y="5401660"/>
            <a:ext cx="4653937" cy="5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b="true" sz="2768">
                <a:solidFill>
                  <a:srgbClr val="FFF7EF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TRAIN/TEST SPLIT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14589" y="3000879"/>
            <a:ext cx="4884751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Sup</a:t>
            </a: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ervised Regression (Predicting Continuous Salary)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24936" y="2949193"/>
            <a:ext cx="4884751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Ran</a:t>
            </a: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dom Forest (Ensemble) &amp; Gradient Boosted Trees (GBT)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70679" y="6937029"/>
            <a:ext cx="4884751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J</a:t>
            </a: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ob Title, State, Work Type, Experience Level, Remote Allowed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86008" y="7097462"/>
            <a:ext cx="4884751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80%</a:t>
            </a: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 Training / 20% Testing | Seed: 42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421" y="5582941"/>
            <a:ext cx="5194714" cy="51947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76446" y="8819432"/>
            <a:ext cx="3010647" cy="30106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4421" y="4611826"/>
            <a:ext cx="2316520" cy="231652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6773629">
            <a:off x="-532428" y="10728485"/>
            <a:ext cx="1637417" cy="705578"/>
          </a:xfrm>
          <a:custGeom>
            <a:avLst/>
            <a:gdLst/>
            <a:ahLst/>
            <a:cxnLst/>
            <a:rect r="r" b="b" t="t" l="l"/>
            <a:pathLst>
              <a:path h="705578" w="1637417">
                <a:moveTo>
                  <a:pt x="0" y="0"/>
                </a:moveTo>
                <a:lnTo>
                  <a:pt x="1637417" y="0"/>
                </a:lnTo>
                <a:lnTo>
                  <a:pt x="1637417" y="705578"/>
                </a:lnTo>
                <a:lnTo>
                  <a:pt x="0" y="705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5" id="15"/>
          <p:cNvGraphicFramePr/>
          <p:nvPr/>
        </p:nvGraphicFramePr>
        <p:xfrm>
          <a:off x="326735" y="2350271"/>
          <a:ext cx="8501062" cy="3771900"/>
        </p:xfrm>
        <a:graphic>
          <a:graphicData uri="http://schemas.openxmlformats.org/presentationml/2006/ole">
            <p:oleObj imgW="10198100" imgH="5473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10086951" y="2199960"/>
            <a:ext cx="8105799" cy="5736769"/>
          </a:xfrm>
          <a:custGeom>
            <a:avLst/>
            <a:gdLst/>
            <a:ahLst/>
            <a:cxnLst/>
            <a:rect r="r" b="b" t="t" l="l"/>
            <a:pathLst>
              <a:path h="5736769" w="8105799">
                <a:moveTo>
                  <a:pt x="0" y="0"/>
                </a:moveTo>
                <a:lnTo>
                  <a:pt x="8105799" y="0"/>
                </a:lnTo>
                <a:lnTo>
                  <a:pt x="8105799" y="5736769"/>
                </a:lnTo>
                <a:lnTo>
                  <a:pt x="0" y="5736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1236" y="231653"/>
            <a:ext cx="11071714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Resul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ts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 &amp; Mod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e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l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 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P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er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formanc</a:t>
            </a:r>
            <a:r>
              <a:rPr lang="en-US" sz="8799" strike="noStrike" u="none">
                <a:solidFill>
                  <a:srgbClr val="0E34DD"/>
                </a:solidFill>
                <a:latin typeface="League Gothic"/>
                <a:ea typeface="League Gothic"/>
                <a:cs typeface="League Gothic"/>
                <a:sym typeface="League Gothic"/>
              </a:rPr>
              <a:t>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7427" y="6777853"/>
            <a:ext cx="9243049" cy="222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In</a:t>
            </a:r>
            <a:r>
              <a:rPr lang="en-US" b="true" sz="2499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terpretation: </a:t>
            </a:r>
            <a:r>
              <a:rPr lang="en-US" sz="2499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GBT outperformed the baseline by 14.6%. R² of 0.27 is a solid indicator for real-world salary data.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795" y="2088450"/>
            <a:ext cx="5194714" cy="5194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33662" y="5324941"/>
            <a:ext cx="3010647" cy="30106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2795" y="1117335"/>
            <a:ext cx="2316520" cy="23165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470" y="1733689"/>
            <a:ext cx="7709224" cy="6601899"/>
          </a:xfrm>
          <a:custGeom>
            <a:avLst/>
            <a:gdLst/>
            <a:ahLst/>
            <a:cxnLst/>
            <a:rect r="r" b="b" t="t" l="l"/>
            <a:pathLst>
              <a:path h="6601899" w="7709224">
                <a:moveTo>
                  <a:pt x="0" y="0"/>
                </a:moveTo>
                <a:lnTo>
                  <a:pt x="7709224" y="0"/>
                </a:lnTo>
                <a:lnTo>
                  <a:pt x="7709224" y="6601899"/>
                </a:lnTo>
                <a:lnTo>
                  <a:pt x="0" y="660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41965" y="1983675"/>
            <a:ext cx="8604648" cy="617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</a:pPr>
          </a:p>
          <a:p>
            <a:pPr algn="l">
              <a:lnSpc>
                <a:spcPts val="3469"/>
              </a:lnSpc>
            </a:pPr>
            <a:r>
              <a:rPr lang="en-US" b="true" sz="2478">
                <a:solidFill>
                  <a:srgbClr val="0E34DD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T</a:t>
            </a:r>
            <a:r>
              <a:rPr lang="en-US" b="true" sz="2478">
                <a:solidFill>
                  <a:srgbClr val="0E34DD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op 3 important features:</a:t>
            </a:r>
            <a:r>
              <a:rPr lang="en-US" sz="2478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Job Title, followed by State and Work Type.</a:t>
            </a:r>
          </a:p>
          <a:p>
            <a:pPr algn="l">
              <a:lnSpc>
                <a:spcPts val="3469"/>
              </a:lnSpc>
            </a:pPr>
          </a:p>
          <a:p>
            <a:pPr algn="l">
              <a:lnSpc>
                <a:spcPts val="3469"/>
              </a:lnSpc>
            </a:pPr>
            <a:r>
              <a:rPr lang="en-US" b="true" sz="2478">
                <a:solidFill>
                  <a:srgbClr val="0E34DD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Where the model performs well:</a:t>
            </a:r>
            <a:r>
              <a:rPr lang="en-US" sz="2478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Estimating salaries for common job titles.</a:t>
            </a:r>
          </a:p>
          <a:p>
            <a:pPr algn="l">
              <a:lnSpc>
                <a:spcPts val="3469"/>
              </a:lnSpc>
            </a:pPr>
          </a:p>
          <a:p>
            <a:pPr algn="l">
              <a:lnSpc>
                <a:spcPts val="3469"/>
              </a:lnSpc>
            </a:pPr>
            <a:r>
              <a:rPr lang="en-US" b="true" sz="2478">
                <a:solidFill>
                  <a:srgbClr val="0E34DD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Where it struggles</a:t>
            </a:r>
            <a:r>
              <a:rPr lang="en-US" sz="2478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: Predicting salary for rare roles with low data frequency.</a:t>
            </a:r>
          </a:p>
          <a:p>
            <a:pPr algn="l">
              <a:lnSpc>
                <a:spcPts val="3469"/>
              </a:lnSpc>
            </a:pPr>
          </a:p>
          <a:p>
            <a:pPr algn="l">
              <a:lnSpc>
                <a:spcPts val="3469"/>
              </a:lnSpc>
            </a:pPr>
            <a:r>
              <a:rPr lang="en-US" b="true" sz="2478">
                <a:solidFill>
                  <a:srgbClr val="0E34DD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Practical implications:</a:t>
            </a:r>
            <a:r>
              <a:rPr lang="en-US" sz="2478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Recruiters can benchmark competitive salary ranges; job seekers can identify location-based pay disparities.</a:t>
            </a:r>
          </a:p>
          <a:p>
            <a:pPr algn="l">
              <a:lnSpc>
                <a:spcPts val="346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6773629">
            <a:off x="-175212" y="7233994"/>
            <a:ext cx="1637417" cy="705578"/>
          </a:xfrm>
          <a:custGeom>
            <a:avLst/>
            <a:gdLst/>
            <a:ahLst/>
            <a:cxnLst/>
            <a:rect r="r" b="b" t="t" l="l"/>
            <a:pathLst>
              <a:path h="705578" w="1637417">
                <a:moveTo>
                  <a:pt x="0" y="0"/>
                </a:moveTo>
                <a:lnTo>
                  <a:pt x="1637417" y="0"/>
                </a:lnTo>
                <a:lnTo>
                  <a:pt x="1637417" y="705578"/>
                </a:lnTo>
                <a:lnTo>
                  <a:pt x="0" y="705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7094223" y="1028700"/>
            <a:ext cx="1167547" cy="1246895"/>
          </a:xfrm>
          <a:custGeom>
            <a:avLst/>
            <a:gdLst/>
            <a:ahLst/>
            <a:cxnLst/>
            <a:rect r="r" b="b" t="t" l="l"/>
            <a:pathLst>
              <a:path h="1246895" w="1167547">
                <a:moveTo>
                  <a:pt x="1167547" y="0"/>
                </a:moveTo>
                <a:lnTo>
                  <a:pt x="0" y="0"/>
                </a:lnTo>
                <a:lnTo>
                  <a:pt x="0" y="1246895"/>
                </a:lnTo>
                <a:lnTo>
                  <a:pt x="1167547" y="1246895"/>
                </a:lnTo>
                <a:lnTo>
                  <a:pt x="11675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63168" y="276595"/>
            <a:ext cx="16230600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INTERPRETAT</a:t>
            </a: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ION &amp; INSIGHTS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672564" y="9482041"/>
            <a:ext cx="321649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9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756774" y="2498759"/>
            <a:ext cx="507753" cy="507753"/>
          </a:xfrm>
          <a:custGeom>
            <a:avLst/>
            <a:gdLst/>
            <a:ahLst/>
            <a:cxnLst/>
            <a:rect r="r" b="b" t="t" l="l"/>
            <a:pathLst>
              <a:path h="507753" w="507753">
                <a:moveTo>
                  <a:pt x="0" y="0"/>
                </a:moveTo>
                <a:lnTo>
                  <a:pt x="507752" y="0"/>
                </a:lnTo>
                <a:lnTo>
                  <a:pt x="507752" y="507752"/>
                </a:lnTo>
                <a:lnTo>
                  <a:pt x="0" y="507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56774" y="3720886"/>
            <a:ext cx="507753" cy="507753"/>
          </a:xfrm>
          <a:custGeom>
            <a:avLst/>
            <a:gdLst/>
            <a:ahLst/>
            <a:cxnLst/>
            <a:rect r="r" b="b" t="t" l="l"/>
            <a:pathLst>
              <a:path h="507753" w="507753">
                <a:moveTo>
                  <a:pt x="0" y="0"/>
                </a:moveTo>
                <a:lnTo>
                  <a:pt x="507752" y="0"/>
                </a:lnTo>
                <a:lnTo>
                  <a:pt x="507752" y="507753"/>
                </a:lnTo>
                <a:lnTo>
                  <a:pt x="0" y="507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56774" y="5034638"/>
            <a:ext cx="507753" cy="507753"/>
          </a:xfrm>
          <a:custGeom>
            <a:avLst/>
            <a:gdLst/>
            <a:ahLst/>
            <a:cxnLst/>
            <a:rect r="r" b="b" t="t" l="l"/>
            <a:pathLst>
              <a:path h="507753" w="507753">
                <a:moveTo>
                  <a:pt x="0" y="0"/>
                </a:moveTo>
                <a:lnTo>
                  <a:pt x="507752" y="0"/>
                </a:lnTo>
                <a:lnTo>
                  <a:pt x="507752" y="507753"/>
                </a:lnTo>
                <a:lnTo>
                  <a:pt x="0" y="507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56774" y="6348391"/>
            <a:ext cx="507753" cy="507753"/>
          </a:xfrm>
          <a:custGeom>
            <a:avLst/>
            <a:gdLst/>
            <a:ahLst/>
            <a:cxnLst/>
            <a:rect r="r" b="b" t="t" l="l"/>
            <a:pathLst>
              <a:path h="507753" w="507753">
                <a:moveTo>
                  <a:pt x="0" y="0"/>
                </a:moveTo>
                <a:lnTo>
                  <a:pt x="507752" y="0"/>
                </a:lnTo>
                <a:lnTo>
                  <a:pt x="507752" y="507752"/>
                </a:lnTo>
                <a:lnTo>
                  <a:pt x="0" y="507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15679" y="6321113"/>
            <a:ext cx="3269166" cy="2728268"/>
          </a:xfrm>
          <a:custGeom>
            <a:avLst/>
            <a:gdLst/>
            <a:ahLst/>
            <a:cxnLst/>
            <a:rect r="r" b="b" t="t" l="l"/>
            <a:pathLst>
              <a:path h="2728268" w="3269166">
                <a:moveTo>
                  <a:pt x="0" y="0"/>
                </a:moveTo>
                <a:lnTo>
                  <a:pt x="3269166" y="0"/>
                </a:lnTo>
                <a:lnTo>
                  <a:pt x="3269166" y="2728268"/>
                </a:lnTo>
                <a:lnTo>
                  <a:pt x="0" y="272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343" y="-106769"/>
            <a:ext cx="16230600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LIMITAT</a:t>
            </a: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IONS &amp; FUTURE 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775296" y="2989942"/>
            <a:ext cx="6949932" cy="697868"/>
            <a:chOff x="0" y="0"/>
            <a:chExt cx="40472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51868" y="3050831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Spark NLP for skill extraction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775296" y="3887835"/>
            <a:ext cx="6949932" cy="697868"/>
            <a:chOff x="0" y="0"/>
            <a:chExt cx="404725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151868" y="3949434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Real-time streaming integration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775296" y="4785728"/>
            <a:ext cx="6949932" cy="697868"/>
            <a:chOff x="0" y="0"/>
            <a:chExt cx="4047257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151868" y="4847327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Hyperparameter Grid Search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621000" y="2861224"/>
            <a:ext cx="6949932" cy="697868"/>
            <a:chOff x="0" y="0"/>
            <a:chExt cx="40472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97573" y="2922822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Missing skills data (98% nulls)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621000" y="3759117"/>
            <a:ext cx="6949932" cy="697868"/>
            <a:chOff x="0" y="0"/>
            <a:chExt cx="4047257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97573" y="3820716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Limited temporal window (2 months)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21000" y="4657010"/>
            <a:ext cx="6949932" cy="697868"/>
            <a:chOff x="0" y="0"/>
            <a:chExt cx="4047257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97573" y="4718609"/>
            <a:ext cx="6573360" cy="14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No company revenue data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45993" y="1765212"/>
            <a:ext cx="3422972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Limitati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ons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511740" y="9482041"/>
            <a:ext cx="643298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37707" y="1894380"/>
            <a:ext cx="3422972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Future W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ork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2957479" y="5927582"/>
            <a:ext cx="3847310" cy="3301691"/>
          </a:xfrm>
          <a:custGeom>
            <a:avLst/>
            <a:gdLst/>
            <a:ahLst/>
            <a:cxnLst/>
            <a:rect r="r" b="b" t="t" l="l"/>
            <a:pathLst>
              <a:path h="3301691" w="3847310">
                <a:moveTo>
                  <a:pt x="0" y="0"/>
                </a:moveTo>
                <a:lnTo>
                  <a:pt x="3847310" y="0"/>
                </a:lnTo>
                <a:lnTo>
                  <a:pt x="3847310" y="3301691"/>
                </a:lnTo>
                <a:lnTo>
                  <a:pt x="0" y="3301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4125" y="853325"/>
            <a:ext cx="3985175" cy="39851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89469" y="4652609"/>
            <a:ext cx="3653311" cy="36533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48148" y="3896330"/>
            <a:ext cx="3224827" cy="32248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11416" y="2607700"/>
            <a:ext cx="1636731" cy="16367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03636" y="2334794"/>
            <a:ext cx="5955664" cy="5414240"/>
          </a:xfrm>
          <a:custGeom>
            <a:avLst/>
            <a:gdLst/>
            <a:ahLst/>
            <a:cxnLst/>
            <a:rect r="r" b="b" t="t" l="l"/>
            <a:pathLst>
              <a:path h="5414240" w="5955664">
                <a:moveTo>
                  <a:pt x="0" y="0"/>
                </a:moveTo>
                <a:lnTo>
                  <a:pt x="5955664" y="0"/>
                </a:lnTo>
                <a:lnTo>
                  <a:pt x="5955664" y="5414240"/>
                </a:lnTo>
                <a:lnTo>
                  <a:pt x="0" y="541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15025" y="528855"/>
            <a:ext cx="6903992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CO</a:t>
            </a:r>
            <a:r>
              <a:rPr lang="en-US" sz="87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NCLUSION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998955">
            <a:off x="11526656" y="2141726"/>
            <a:ext cx="1827544" cy="787505"/>
          </a:xfrm>
          <a:custGeom>
            <a:avLst/>
            <a:gdLst/>
            <a:ahLst/>
            <a:cxnLst/>
            <a:rect r="r" b="b" t="t" l="l"/>
            <a:pathLst>
              <a:path h="787505" w="1827544">
                <a:moveTo>
                  <a:pt x="0" y="0"/>
                </a:moveTo>
                <a:lnTo>
                  <a:pt x="1827543" y="0"/>
                </a:lnTo>
                <a:lnTo>
                  <a:pt x="1827543" y="787506"/>
                </a:lnTo>
                <a:lnTo>
                  <a:pt x="0" y="787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9740285">
            <a:off x="15177841" y="7104714"/>
            <a:ext cx="1827544" cy="787505"/>
          </a:xfrm>
          <a:custGeom>
            <a:avLst/>
            <a:gdLst/>
            <a:ahLst/>
            <a:cxnLst/>
            <a:rect r="r" b="b" t="t" l="l"/>
            <a:pathLst>
              <a:path h="787505" w="1827544">
                <a:moveTo>
                  <a:pt x="0" y="0"/>
                </a:moveTo>
                <a:lnTo>
                  <a:pt x="1827544" y="0"/>
                </a:lnTo>
                <a:lnTo>
                  <a:pt x="1827544" y="787505"/>
                </a:lnTo>
                <a:lnTo>
                  <a:pt x="0" y="787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5939048" y="700305"/>
            <a:ext cx="1320252" cy="1409978"/>
          </a:xfrm>
          <a:custGeom>
            <a:avLst/>
            <a:gdLst/>
            <a:ahLst/>
            <a:cxnLst/>
            <a:rect r="r" b="b" t="t" l="l"/>
            <a:pathLst>
              <a:path h="1409978" w="1320252">
                <a:moveTo>
                  <a:pt x="1320252" y="0"/>
                </a:moveTo>
                <a:lnTo>
                  <a:pt x="0" y="0"/>
                </a:lnTo>
                <a:lnTo>
                  <a:pt x="0" y="1409978"/>
                </a:lnTo>
                <a:lnTo>
                  <a:pt x="1320252" y="1409978"/>
                </a:lnTo>
                <a:lnTo>
                  <a:pt x="13202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527657" y="7099867"/>
            <a:ext cx="746468" cy="797199"/>
          </a:xfrm>
          <a:custGeom>
            <a:avLst/>
            <a:gdLst/>
            <a:ahLst/>
            <a:cxnLst/>
            <a:rect r="r" b="b" t="t" l="l"/>
            <a:pathLst>
              <a:path h="797199" w="746468">
                <a:moveTo>
                  <a:pt x="746468" y="0"/>
                </a:moveTo>
                <a:lnTo>
                  <a:pt x="0" y="0"/>
                </a:lnTo>
                <a:lnTo>
                  <a:pt x="0" y="797199"/>
                </a:lnTo>
                <a:lnTo>
                  <a:pt x="746468" y="797199"/>
                </a:lnTo>
                <a:lnTo>
                  <a:pt x="74646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511740" y="9482041"/>
            <a:ext cx="643298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11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8393" y="2373554"/>
            <a:ext cx="4890326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Main Achieveme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nts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142613" y="3376329"/>
            <a:ext cx="9317946" cy="935649"/>
            <a:chOff x="0" y="0"/>
            <a:chExt cx="4047257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534851" y="3536240"/>
            <a:ext cx="7860788" cy="242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Built end-to-end Spark pipeline for 123k+ records.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19800" y="3476370"/>
            <a:ext cx="725170" cy="725170"/>
          </a:xfrm>
          <a:custGeom>
            <a:avLst/>
            <a:gdLst/>
            <a:ahLst/>
            <a:cxnLst/>
            <a:rect r="r" b="b" t="t" l="l"/>
            <a:pathLst>
              <a:path h="725170" w="725170">
                <a:moveTo>
                  <a:pt x="0" y="0"/>
                </a:moveTo>
                <a:lnTo>
                  <a:pt x="725170" y="0"/>
                </a:lnTo>
                <a:lnTo>
                  <a:pt x="725170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19800" y="4534973"/>
            <a:ext cx="725170" cy="725170"/>
          </a:xfrm>
          <a:custGeom>
            <a:avLst/>
            <a:gdLst/>
            <a:ahLst/>
            <a:cxnLst/>
            <a:rect r="r" b="b" t="t" l="l"/>
            <a:pathLst>
              <a:path h="725170" w="725170">
                <a:moveTo>
                  <a:pt x="0" y="0"/>
                </a:moveTo>
                <a:lnTo>
                  <a:pt x="725170" y="0"/>
                </a:lnTo>
                <a:lnTo>
                  <a:pt x="725170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2142613" y="4463506"/>
            <a:ext cx="9317946" cy="935649"/>
            <a:chOff x="0" y="0"/>
            <a:chExt cx="4047257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7257" cy="406400"/>
            </a:xfrm>
            <a:custGeom>
              <a:avLst/>
              <a:gdLst/>
              <a:ahLst/>
              <a:cxnLst/>
              <a:rect r="r" b="b" t="t" l="l"/>
              <a:pathLst>
                <a:path h="406400" w="4047257">
                  <a:moveTo>
                    <a:pt x="3844057" y="0"/>
                  </a:moveTo>
                  <a:cubicBezTo>
                    <a:pt x="3956282" y="0"/>
                    <a:pt x="4047257" y="90976"/>
                    <a:pt x="4047257" y="203200"/>
                  </a:cubicBezTo>
                  <a:cubicBezTo>
                    <a:pt x="4047257" y="315424"/>
                    <a:pt x="3956282" y="406400"/>
                    <a:pt x="38440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0472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534851" y="4692233"/>
            <a:ext cx="9421305" cy="290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GBT model improved salary prediction accuracy by 14.6%.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682385" y="6007459"/>
            <a:ext cx="4890326" cy="78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Key T</a:t>
            </a:r>
            <a:r>
              <a:rPr lang="en-US" b="true" sz="4099">
                <a:solidFill>
                  <a:srgbClr val="3F62FC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akeaway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913739" y="7030642"/>
            <a:ext cx="9317946" cy="1275278"/>
            <a:chOff x="0" y="0"/>
            <a:chExt cx="4047257" cy="5539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47257" cy="553918"/>
            </a:xfrm>
            <a:custGeom>
              <a:avLst/>
              <a:gdLst/>
              <a:ahLst/>
              <a:cxnLst/>
              <a:rect r="r" b="b" t="t" l="l"/>
              <a:pathLst>
                <a:path h="553918" w="4047257">
                  <a:moveTo>
                    <a:pt x="3844057" y="0"/>
                  </a:moveTo>
                  <a:cubicBezTo>
                    <a:pt x="3956282" y="0"/>
                    <a:pt x="4047257" y="123999"/>
                    <a:pt x="4047257" y="276959"/>
                  </a:cubicBezTo>
                  <a:cubicBezTo>
                    <a:pt x="4047257" y="429919"/>
                    <a:pt x="3956282" y="553918"/>
                    <a:pt x="3844057" y="553918"/>
                  </a:cubicBezTo>
                  <a:lnTo>
                    <a:pt x="203200" y="553918"/>
                  </a:lnTo>
                  <a:cubicBezTo>
                    <a:pt x="90976" y="553918"/>
                    <a:pt x="0" y="429919"/>
                    <a:pt x="0" y="276959"/>
                  </a:cubicBezTo>
                  <a:cubicBezTo>
                    <a:pt x="0" y="12399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BF6"/>
            </a:solidFill>
            <a:ln w="1905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047257" cy="60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42613" y="7170145"/>
            <a:ext cx="8681241" cy="242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7"/>
              </a:lnSpc>
            </a:pPr>
            <a:r>
              <a:rPr lang="en-US" sz="2726">
                <a:solidFill>
                  <a:srgbClr val="1E302C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Data transparency enables informed pay decisions for job seekers and recruiters alike.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7510" y="-889891"/>
            <a:ext cx="19403020" cy="1779782"/>
            <a:chOff x="0" y="0"/>
            <a:chExt cx="5110260" cy="4687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0261" cy="468749"/>
            </a:xfrm>
            <a:custGeom>
              <a:avLst/>
              <a:gdLst/>
              <a:ahLst/>
              <a:cxnLst/>
              <a:rect r="r" b="b" t="t" l="l"/>
              <a:pathLst>
                <a:path h="468749" w="5110261">
                  <a:moveTo>
                    <a:pt x="0" y="0"/>
                  </a:moveTo>
                  <a:lnTo>
                    <a:pt x="5110261" y="0"/>
                  </a:lnTo>
                  <a:lnTo>
                    <a:pt x="5110261" y="468749"/>
                  </a:lnTo>
                  <a:lnTo>
                    <a:pt x="0" y="468749"/>
                  </a:ln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10260" cy="51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57510" y="9397109"/>
            <a:ext cx="19403020" cy="1779782"/>
            <a:chOff x="0" y="0"/>
            <a:chExt cx="5110260" cy="4687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0261" cy="468749"/>
            </a:xfrm>
            <a:custGeom>
              <a:avLst/>
              <a:gdLst/>
              <a:ahLst/>
              <a:cxnLst/>
              <a:rect r="r" b="b" t="t" l="l"/>
              <a:pathLst>
                <a:path h="468749" w="5110261">
                  <a:moveTo>
                    <a:pt x="0" y="0"/>
                  </a:moveTo>
                  <a:lnTo>
                    <a:pt x="5110261" y="0"/>
                  </a:lnTo>
                  <a:lnTo>
                    <a:pt x="5110261" y="468749"/>
                  </a:lnTo>
                  <a:lnTo>
                    <a:pt x="0" y="468749"/>
                  </a:lnTo>
                  <a:close/>
                </a:path>
              </a:pathLst>
            </a:custGeom>
            <a:solidFill>
              <a:srgbClr val="3F62F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10260" cy="51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7553" y="1741608"/>
            <a:ext cx="6684726" cy="6684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63173" y="2234242"/>
            <a:ext cx="3729774" cy="372977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98835" y="4790890"/>
            <a:ext cx="3373245" cy="337324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A160">
                <a:alpha val="4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314807" y="1741608"/>
            <a:ext cx="8030218" cy="6803785"/>
          </a:xfrm>
          <a:custGeom>
            <a:avLst/>
            <a:gdLst/>
            <a:ahLst/>
            <a:cxnLst/>
            <a:rect r="r" b="b" t="t" l="l"/>
            <a:pathLst>
              <a:path h="6803785" w="8030218">
                <a:moveTo>
                  <a:pt x="0" y="0"/>
                </a:moveTo>
                <a:lnTo>
                  <a:pt x="8030218" y="0"/>
                </a:lnTo>
                <a:lnTo>
                  <a:pt x="8030218" y="6803784"/>
                </a:lnTo>
                <a:lnTo>
                  <a:pt x="0" y="6803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9895" y="966133"/>
            <a:ext cx="9524165" cy="359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8"/>
              </a:lnSpc>
              <a:spcBef>
                <a:spcPct val="0"/>
              </a:spcBef>
            </a:pPr>
            <a:r>
              <a:rPr lang="en-US" sz="20999">
                <a:solidFill>
                  <a:srgbClr val="3F62FC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9895" y="3404538"/>
            <a:ext cx="754866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1E302C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You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8491720">
            <a:off x="6963099" y="5409702"/>
            <a:ext cx="2254244" cy="971374"/>
          </a:xfrm>
          <a:custGeom>
            <a:avLst/>
            <a:gdLst/>
            <a:ahLst/>
            <a:cxnLst/>
            <a:rect r="r" b="b" t="t" l="l"/>
            <a:pathLst>
              <a:path h="971374" w="2254244">
                <a:moveTo>
                  <a:pt x="0" y="0"/>
                </a:moveTo>
                <a:lnTo>
                  <a:pt x="2254245" y="0"/>
                </a:lnTo>
                <a:lnTo>
                  <a:pt x="2254245" y="971375"/>
                </a:lnTo>
                <a:lnTo>
                  <a:pt x="0" y="97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134415">
            <a:off x="16132471" y="1910334"/>
            <a:ext cx="1503369" cy="647815"/>
          </a:xfrm>
          <a:custGeom>
            <a:avLst/>
            <a:gdLst/>
            <a:ahLst/>
            <a:cxnLst/>
            <a:rect r="r" b="b" t="t" l="l"/>
            <a:pathLst>
              <a:path h="647815" w="1503369">
                <a:moveTo>
                  <a:pt x="0" y="0"/>
                </a:moveTo>
                <a:lnTo>
                  <a:pt x="1503369" y="0"/>
                </a:lnTo>
                <a:lnTo>
                  <a:pt x="1503369" y="647815"/>
                </a:lnTo>
                <a:lnTo>
                  <a:pt x="0" y="647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86876" y="1854993"/>
            <a:ext cx="1941184" cy="2073109"/>
          </a:xfrm>
          <a:custGeom>
            <a:avLst/>
            <a:gdLst/>
            <a:ahLst/>
            <a:cxnLst/>
            <a:rect r="r" b="b" t="t" l="l"/>
            <a:pathLst>
              <a:path h="2073109" w="1941184">
                <a:moveTo>
                  <a:pt x="0" y="0"/>
                </a:moveTo>
                <a:lnTo>
                  <a:pt x="1941184" y="0"/>
                </a:lnTo>
                <a:lnTo>
                  <a:pt x="1941184" y="2073109"/>
                </a:lnTo>
                <a:lnTo>
                  <a:pt x="0" y="2073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1388732" y="5620686"/>
            <a:ext cx="1941184" cy="2073109"/>
          </a:xfrm>
          <a:custGeom>
            <a:avLst/>
            <a:gdLst/>
            <a:ahLst/>
            <a:cxnLst/>
            <a:rect r="r" b="b" t="t" l="l"/>
            <a:pathLst>
              <a:path h="2073109" w="1941184">
                <a:moveTo>
                  <a:pt x="1941184" y="0"/>
                </a:moveTo>
                <a:lnTo>
                  <a:pt x="0" y="0"/>
                </a:lnTo>
                <a:lnTo>
                  <a:pt x="0" y="2073110"/>
                </a:lnTo>
                <a:lnTo>
                  <a:pt x="1941184" y="2073110"/>
                </a:lnTo>
                <a:lnTo>
                  <a:pt x="194118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9895" y="6786352"/>
            <a:ext cx="11270051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99AC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Any Questions?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150752" y="9258300"/>
            <a:ext cx="2274497" cy="227449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62FC">
                <a:alpha val="4000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511740" y="9482041"/>
            <a:ext cx="643298" cy="8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0"/>
              </a:lnSpc>
              <a:spcBef>
                <a:spcPct val="0"/>
              </a:spcBef>
            </a:pPr>
            <a:r>
              <a:rPr lang="en-US" sz="4221">
                <a:solidFill>
                  <a:srgbClr val="FFFDFB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DAHJReudevg</dc:identifier>
  <dcterms:modified xsi:type="dcterms:W3CDTF">2011-08-01T06:04:30Z</dcterms:modified>
  <cp:revision>1</cp:revision>
  <dc:title>Presentation_slides</dc:title>
</cp:coreProperties>
</file>